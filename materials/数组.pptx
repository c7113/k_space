
<file path=[Content_Types].xml><?xml version="1.0" encoding="utf-8"?>
<Types xmlns="http://schemas.openxmlformats.org/package/2006/content-types"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</p:sldMasterIdLst>
  <p:notesMasterIdLst>
    <p:notesMasterId r:id="rId7"/>
  </p:notesMasterIdLst>
  <p:sldIdLst>
    <p:sldId id="256" r:id="rId5"/>
    <p:sldId id="257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429" r:id="rId24"/>
    <p:sldId id="427" r:id="rId25"/>
    <p:sldId id="428" r:id="rId26"/>
    <p:sldId id="431" r:id="rId27"/>
    <p:sldId id="274" r:id="rId28"/>
    <p:sldId id="276" r:id="rId29"/>
    <p:sldId id="277" r:id="rId30"/>
    <p:sldId id="275" r:id="rId31"/>
    <p:sldId id="279" r:id="rId32"/>
    <p:sldId id="280" r:id="rId33"/>
    <p:sldId id="281" r:id="rId34"/>
    <p:sldId id="282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 panose="020B0604020202020204"/>
              </a:rPr>
              <a:t>Click to move the slide</a:t>
            </a: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 panose="020B0604020202020204"/>
              </a:rPr>
              <a:t>Click to edit the notes format</a:t>
            </a:r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 panose="02020603050405020304"/>
              </a:rPr>
              <a:t>&lt;header&gt;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/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0592F3F9-5202-42F4-AA80-699C85208562}" type="slidenum">
              <a:rPr lang="en-US" sz="1400" b="0" strike="noStrike" spc="-1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D8D08B4E-9F98-4CD9-AD9D-AF9D5AFD96A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735ED73B-CC63-479F-B87B-177F120DA25C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FF6A2C25-167A-42A8-A2F8-0EB6AD3EA5E6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FF7D2DE4-7F9B-4EAC-BD12-5EF1ECBFADF7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59DAB2EF-0D05-424C-B363-4DED17878DF8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1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鲁班创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" y="1"/>
            <a:ext cx="12191999" cy="85142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910830" y="179455"/>
            <a:ext cx="4880665" cy="480131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>
            <a:lvl1pPr marL="0" indent="0">
              <a:buFontTx/>
              <a:buNone/>
              <a:defRPr lang="zh-CN" altLang="en-US" sz="28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/>
            <a:r>
              <a:rPr lang="zh-CN" altLang="en-US"/>
              <a:t>单击此处添加您的标题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19"/>
          <a:stretch>
            <a:fillRect/>
          </a:stretch>
        </p:blipFill>
        <p:spPr>
          <a:xfrm>
            <a:off x="177431" y="102032"/>
            <a:ext cx="641874" cy="634979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" y="6539757"/>
            <a:ext cx="12191999" cy="31824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" descr="Picture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-1" y="6507497"/>
            <a:ext cx="12191999" cy="4571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6" Type="http://schemas.openxmlformats.org/officeDocument/2006/relationships/theme" Target="../theme/theme3.xml"/><Relationship Id="rId15" Type="http://schemas.openxmlformats.org/officeDocument/2006/relationships/image" Target="../media/image2.png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latin typeface="Arial" panose="020B0604020202020204"/>
              </a:rPr>
              <a:t>Click to edit the title text format</a:t>
            </a:r>
            <a:endParaRPr lang="en-US" sz="18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latin typeface="Arial" panose="020B0604020202020204"/>
              </a:rPr>
              <a:t>Click to edit the outline text format</a:t>
            </a:r>
            <a:endParaRPr lang="en-US" sz="1800" b="0" strike="noStrike" spc="-1"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latin typeface="Arial" panose="020B0604020202020204"/>
              </a:rPr>
              <a:t>Second Outline Level</a:t>
            </a:r>
            <a:endParaRPr lang="en-US" sz="1800" b="0" strike="noStrike" spc="-1"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latin typeface="Arial" panose="020B0604020202020204"/>
              </a:rPr>
              <a:t>Third Outline Level</a:t>
            </a:r>
            <a:endParaRPr lang="en-US" sz="1800" b="0" strike="noStrike" spc="-1"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latin typeface="Arial" panose="020B0604020202020204"/>
              </a:rPr>
              <a:t>Fourth Outline Level</a:t>
            </a:r>
            <a:endParaRPr lang="en-US" sz="1800" b="0" strike="noStrike" spc="-1"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latin typeface="Arial" panose="020B0604020202020204"/>
              </a:rPr>
              <a:t>Fifth Outline Level</a:t>
            </a:r>
            <a:endParaRPr lang="en-US" sz="1800" b="0" strike="noStrike" spc="-1"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latin typeface="Arial" panose="020B0604020202020204"/>
              </a:rPr>
              <a:t>Sixth Outline Level</a:t>
            </a:r>
            <a:endParaRPr lang="en-US" sz="1800" b="0" strike="noStrike" spc="-1"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latin typeface="Arial" panose="020B0604020202020204"/>
              </a:rPr>
              <a:t>Seventh Outline Level</a:t>
            </a:r>
            <a:endParaRPr lang="en-US" sz="1800" b="0" strike="noStrike" spc="-1"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 panose="020B0604020202020204"/>
              </a:rPr>
              <a:t>Click to edit the title text format</a:t>
            </a: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latin typeface="Arial" panose="020B0604020202020204"/>
              </a:rPr>
              <a:t>Click to edit the outline text format</a:t>
            </a:r>
            <a:endParaRPr lang="en-US" sz="3200" b="0" strike="noStrike" spc="-1"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strike="noStrike" spc="-1">
                <a:latin typeface="Arial" panose="020B0604020202020204"/>
              </a:rPr>
              <a:t>Second Outline Level</a:t>
            </a:r>
            <a:endParaRPr lang="en-US" sz="2800" b="0" strike="noStrike" spc="-1"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strike="noStrike" spc="-1">
                <a:latin typeface="Arial" panose="020B0604020202020204"/>
              </a:rPr>
              <a:t>Third Outline Level</a:t>
            </a:r>
            <a:endParaRPr lang="en-US" sz="2400" b="0" strike="noStrike" spc="-1"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strike="noStrike" spc="-1">
                <a:latin typeface="Arial" panose="020B0604020202020204"/>
              </a:rPr>
              <a:t>Fourth Outline Level</a:t>
            </a:r>
            <a:endParaRPr lang="en-US" sz="2000" b="0" strike="noStrike" spc="-1"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 panose="020B0604020202020204"/>
              </a:rPr>
              <a:t>Fifth Outline Level</a:t>
            </a:r>
            <a:endParaRPr lang="en-US" sz="2000" b="0" strike="noStrike" spc="-1"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 panose="020B0604020202020204"/>
              </a:rPr>
              <a:t>Sixth Outline Level</a:t>
            </a:r>
            <a:endParaRPr lang="en-US" sz="2000" b="0" strike="noStrike" spc="-1"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 panose="020B0604020202020204"/>
              </a:rPr>
              <a:t>Seventh Outline Level</a:t>
            </a:r>
            <a:endParaRPr lang="en-US" sz="2000" b="0" strike="noStrike" spc="-1"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矩形 1"/>
          <p:cNvSpPr/>
          <p:nvPr/>
        </p:nvSpPr>
        <p:spPr>
          <a:xfrm>
            <a:off x="0" y="0"/>
            <a:ext cx="12190320" cy="849600"/>
          </a:xfrm>
          <a:prstGeom prst="rect">
            <a:avLst/>
          </a:prstGeom>
          <a:gradFill rotWithShape="0">
            <a:gsLst>
              <a:gs pos="0">
                <a:srgbClr val="F7FAFD"/>
              </a:gs>
              <a:gs pos="100000">
                <a:srgbClr val="B5D2EC"/>
              </a:gs>
            </a:gsLst>
            <a:lin ang="0"/>
          </a:gra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77" name="图片 6"/>
          <p:cNvPicPr/>
          <p:nvPr/>
        </p:nvPicPr>
        <p:blipFill>
          <a:blip r:embed="rId14"/>
          <a:srcRect r="77617"/>
          <a:stretch>
            <a:fillRect/>
          </a:stretch>
        </p:blipFill>
        <p:spPr>
          <a:xfrm>
            <a:off x="177480" y="101880"/>
            <a:ext cx="640080" cy="633240"/>
          </a:xfrm>
          <a:prstGeom prst="rect">
            <a:avLst/>
          </a:prstGeom>
          <a:ln w="0">
            <a:noFill/>
          </a:ln>
        </p:spPr>
      </p:pic>
      <p:sp>
        <p:nvSpPr>
          <p:cNvPr id="78" name="矩形 2"/>
          <p:cNvSpPr/>
          <p:nvPr/>
        </p:nvSpPr>
        <p:spPr>
          <a:xfrm>
            <a:off x="0" y="6539760"/>
            <a:ext cx="12190320" cy="316440"/>
          </a:xfrm>
          <a:prstGeom prst="rect">
            <a:avLst/>
          </a:prstGeom>
          <a:gradFill rotWithShape="0">
            <a:gsLst>
              <a:gs pos="0">
                <a:srgbClr val="F7FAFD"/>
              </a:gs>
              <a:gs pos="100000">
                <a:srgbClr val="B5D2EC"/>
              </a:gs>
            </a:gsLst>
            <a:lin ang="0"/>
          </a:gra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79" name="Picture" descr="Picture"/>
          <p:cNvPicPr/>
          <p:nvPr/>
        </p:nvPicPr>
        <p:blipFill>
          <a:blip r:embed="rId15"/>
          <a:stretch>
            <a:fillRect/>
          </a:stretch>
        </p:blipFill>
        <p:spPr>
          <a:xfrm>
            <a:off x="0" y="6507360"/>
            <a:ext cx="12190320" cy="43920"/>
          </a:xfrm>
          <a:prstGeom prst="rect">
            <a:avLst/>
          </a:prstGeom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 panose="020B0604020202020204"/>
              </a:rPr>
              <a:t>Click to edit the title text format</a:t>
            </a: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latin typeface="Arial" panose="020B0604020202020204"/>
              </a:rPr>
              <a:t>Click to edit the outline text format</a:t>
            </a:r>
            <a:endParaRPr lang="en-US" sz="3200" b="0" strike="noStrike" spc="-1"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strike="noStrike" spc="-1">
                <a:latin typeface="Arial" panose="020B0604020202020204"/>
              </a:rPr>
              <a:t>Second Outline Level</a:t>
            </a:r>
            <a:endParaRPr lang="en-US" sz="2800" b="0" strike="noStrike" spc="-1"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strike="noStrike" spc="-1">
                <a:latin typeface="Arial" panose="020B0604020202020204"/>
              </a:rPr>
              <a:t>Third Outline Level</a:t>
            </a:r>
            <a:endParaRPr lang="en-US" sz="2400" b="0" strike="noStrike" spc="-1"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strike="noStrike" spc="-1">
                <a:latin typeface="Arial" panose="020B0604020202020204"/>
              </a:rPr>
              <a:t>Fourth Outline Level</a:t>
            </a:r>
            <a:endParaRPr lang="en-US" sz="2000" b="0" strike="noStrike" spc="-1"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 panose="020B0604020202020204"/>
              </a:rPr>
              <a:t>Fifth Outline Level</a:t>
            </a:r>
            <a:endParaRPr lang="en-US" sz="2000" b="0" strike="noStrike" spc="-1"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 panose="020B0604020202020204"/>
              </a:rPr>
              <a:t>Sixth Outline Level</a:t>
            </a:r>
            <a:endParaRPr lang="en-US" sz="2000" b="0" strike="noStrike" spc="-1"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 panose="020B0604020202020204"/>
              </a:rPr>
              <a:t>Seventh Outline Level</a:t>
            </a:r>
            <a:endParaRPr lang="en-US" sz="2000" b="0" strike="noStrike" spc="-1"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19.png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26.png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30.GI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4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4254840" y="7560"/>
            <a:ext cx="7935120" cy="6856200"/>
          </a:xfrm>
          <a:prstGeom prst="rect">
            <a:avLst/>
          </a:prstGeom>
          <a:ln w="0">
            <a:noFill/>
          </a:ln>
        </p:spPr>
      </p:pic>
      <p:sp>
        <p:nvSpPr>
          <p:cNvPr id="125" name="任意多边形 16"/>
          <p:cNvSpPr/>
          <p:nvPr/>
        </p:nvSpPr>
        <p:spPr>
          <a:xfrm flipH="1">
            <a:off x="3906360" y="0"/>
            <a:ext cx="8282160" cy="6876000"/>
          </a:xfrm>
          <a:custGeom>
            <a:avLst/>
            <a:gdLst/>
            <a:ahLst/>
            <a:cxnLst/>
            <a:rect l="l" t="t" r="r" b="b"/>
            <a:pathLst>
              <a:path w="8135527" h="6877853">
                <a:moveTo>
                  <a:pt x="1125974" y="0"/>
                </a:moveTo>
                <a:lnTo>
                  <a:pt x="0" y="0"/>
                </a:lnTo>
                <a:lnTo>
                  <a:pt x="0" y="1128318"/>
                </a:lnTo>
                <a:lnTo>
                  <a:pt x="7402440" y="6877853"/>
                </a:lnTo>
                <a:lnTo>
                  <a:pt x="8135527" y="6877853"/>
                </a:lnTo>
                <a:lnTo>
                  <a:pt x="8135526" y="6877852"/>
                </a:lnTo>
                <a:lnTo>
                  <a:pt x="7966908" y="6877852"/>
                </a:lnTo>
                <a:lnTo>
                  <a:pt x="7954628" y="6865494"/>
                </a:lnTo>
                <a:lnTo>
                  <a:pt x="7922558" y="6865494"/>
                </a:lnTo>
                <a:close/>
              </a:path>
            </a:pathLst>
          </a:custGeom>
          <a:solidFill>
            <a:srgbClr val="F1C51E">
              <a:alpha val="40000"/>
            </a:srgbClr>
          </a:solidFill>
          <a:ln w="12600">
            <a:noFill/>
          </a:ln>
          <a:effectLst>
            <a:outerShdw blurRad="254160" dist="37674" dir="27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6" name="任意多边形 17"/>
          <p:cNvSpPr/>
          <p:nvPr/>
        </p:nvSpPr>
        <p:spPr>
          <a:xfrm flipH="1">
            <a:off x="4046040" y="0"/>
            <a:ext cx="7002000" cy="6863760"/>
          </a:xfrm>
          <a:custGeom>
            <a:avLst/>
            <a:gdLst/>
            <a:ahLst/>
            <a:cxnLst/>
            <a:rect l="l" t="t" r="r" b="b"/>
            <a:pathLst>
              <a:path w="7003692" h="6865495">
                <a:moveTo>
                  <a:pt x="1065557" y="0"/>
                </a:moveTo>
                <a:lnTo>
                  <a:pt x="0" y="0"/>
                </a:lnTo>
                <a:lnTo>
                  <a:pt x="6796585" y="6865495"/>
                </a:lnTo>
                <a:lnTo>
                  <a:pt x="7003692" y="6865495"/>
                </a:lnTo>
                <a:close/>
              </a:path>
            </a:pathLst>
          </a:custGeom>
          <a:solidFill>
            <a:srgbClr val="1163AF"/>
          </a:solidFill>
          <a:ln w="12600">
            <a:noFill/>
          </a:ln>
          <a:effectLst>
            <a:outerShdw blurRad="254160" dist="37674" dir="27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7" name="直角三角形 18"/>
          <p:cNvSpPr/>
          <p:nvPr/>
        </p:nvSpPr>
        <p:spPr>
          <a:xfrm>
            <a:off x="-4320" y="5050440"/>
            <a:ext cx="1858680" cy="1805760"/>
          </a:xfrm>
          <a:prstGeom prst="rtTriangle">
            <a:avLst/>
          </a:prstGeom>
          <a:solidFill>
            <a:srgbClr val="B9202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8" name="任意多边形 19"/>
          <p:cNvSpPr/>
          <p:nvPr/>
        </p:nvSpPr>
        <p:spPr>
          <a:xfrm>
            <a:off x="0" y="4279680"/>
            <a:ext cx="2192040" cy="2584080"/>
          </a:xfrm>
          <a:custGeom>
            <a:avLst/>
            <a:gdLst/>
            <a:ahLst/>
            <a:cxnLst/>
            <a:rect l="l" t="t" r="r" b="b"/>
            <a:pathLst>
              <a:path w="2193948" h="2585803">
                <a:moveTo>
                  <a:pt x="0" y="0"/>
                </a:moveTo>
                <a:lnTo>
                  <a:pt x="2193948" y="2585803"/>
                </a:lnTo>
                <a:lnTo>
                  <a:pt x="1859213" y="2585803"/>
                </a:lnTo>
                <a:lnTo>
                  <a:pt x="0" y="779495"/>
                </a:lnTo>
                <a:close/>
              </a:path>
            </a:pathLst>
          </a:custGeom>
          <a:solidFill>
            <a:srgbClr val="268D3A"/>
          </a:solidFill>
          <a:ln w="12600">
            <a:noFill/>
          </a:ln>
          <a:effectLst>
            <a:outerShdw blurRad="127080" dist="88077" dir="8100000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文本框 20"/>
          <p:cNvSpPr/>
          <p:nvPr/>
        </p:nvSpPr>
        <p:spPr>
          <a:xfrm>
            <a:off x="537820" y="2056573"/>
            <a:ext cx="1310015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4400" b="1" strike="noStrike" spc="-1" dirty="0">
                <a:solidFill>
                  <a:srgbClr val="404040"/>
                </a:solidFill>
                <a:latin typeface="Century Gothic" panose="020B0502020202020204"/>
                <a:ea typeface="微软雅黑" panose="020B0503020204020204" pitchFamily="34" charset="-122"/>
              </a:rPr>
              <a:t>数组</a:t>
            </a:r>
            <a:endParaRPr lang="en-US" sz="4400" b="0" strike="noStrike" spc="-1" dirty="0">
              <a:latin typeface="Arial" panose="020B0604020202020204"/>
            </a:endParaRPr>
          </a:p>
        </p:txBody>
      </p:sp>
      <p:sp>
        <p:nvSpPr>
          <p:cNvPr id="130" name="矩形 21"/>
          <p:cNvSpPr/>
          <p:nvPr/>
        </p:nvSpPr>
        <p:spPr>
          <a:xfrm>
            <a:off x="422640" y="3029040"/>
            <a:ext cx="25891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trike="noStrike" spc="287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</a:rPr>
              <a:t>-</a:t>
            </a:r>
            <a:r>
              <a:rPr lang="zh-CN" sz="2000" b="1" strike="noStrike" spc="287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</a:rPr>
              <a:t>爱心</a:t>
            </a:r>
            <a:r>
              <a:rPr lang="en-US" sz="2000" b="1" strike="noStrike" spc="287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</a:rPr>
              <a:t>-</a:t>
            </a:r>
            <a:r>
              <a:rPr lang="zh-CN" sz="2000" b="1" strike="noStrike" spc="287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</a:rPr>
              <a:t>创新</a:t>
            </a:r>
            <a:r>
              <a:rPr lang="en-US" sz="2000" b="1" strike="noStrike" spc="287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</a:rPr>
              <a:t>-</a:t>
            </a:r>
            <a:r>
              <a:rPr lang="zh-CN" sz="2000" b="1" strike="noStrike" spc="287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</a:rPr>
              <a:t>匠心</a:t>
            </a:r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131" name="矩形 22"/>
          <p:cNvSpPr/>
          <p:nvPr/>
        </p:nvSpPr>
        <p:spPr>
          <a:xfrm>
            <a:off x="522720" y="3567960"/>
            <a:ext cx="236160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sz="1400" b="1" strike="noStrike" spc="-1">
                <a:solidFill>
                  <a:srgbClr val="595959"/>
                </a:solidFill>
                <a:latin typeface="Century Gothic" panose="020B0502020202020204"/>
                <a:ea typeface="微软雅黑" panose="020B0503020204020204" pitchFamily="34" charset="-122"/>
              </a:rPr>
              <a:t>课程：</a:t>
            </a:r>
            <a:r>
              <a:rPr lang="en-US" sz="1400" b="1" strike="noStrike" spc="-1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</a:rPr>
              <a:t>C++</a:t>
            </a:r>
            <a:r>
              <a:rPr lang="en-US" sz="1400" b="1" strike="noStrike" spc="-1">
                <a:solidFill>
                  <a:srgbClr val="595959"/>
                </a:solidFill>
                <a:latin typeface="Century Gothic" panose="020B0502020202020204"/>
                <a:ea typeface="微软雅黑" panose="020B0503020204020204" pitchFamily="34" charset="-122"/>
              </a:rPr>
              <a:t>    </a:t>
            </a:r>
            <a:r>
              <a:rPr lang="zh-CN" sz="1400" b="1" strike="noStrike" spc="-1">
                <a:solidFill>
                  <a:srgbClr val="595959"/>
                </a:solidFill>
                <a:latin typeface="Century Gothic" panose="020B0502020202020204"/>
                <a:ea typeface="微软雅黑" panose="020B0503020204020204" pitchFamily="34" charset="-122"/>
              </a:rPr>
              <a:t>教师：</a:t>
            </a:r>
            <a:r>
              <a:rPr lang="zh-CN" sz="1400" b="1" strike="noStrike" spc="-1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</a:rPr>
              <a:t>程老师</a:t>
            </a:r>
            <a:endParaRPr lang="en-US" sz="1400" b="0" strike="noStrike" spc="-1">
              <a:latin typeface="Arial" panose="020B0604020202020204"/>
            </a:endParaRPr>
          </a:p>
        </p:txBody>
      </p:sp>
      <p:pic>
        <p:nvPicPr>
          <p:cNvPr id="132" name="图片 29"/>
          <p:cNvPicPr/>
          <p:nvPr/>
        </p:nvPicPr>
        <p:blipFill>
          <a:blip r:embed="rId2"/>
          <a:stretch>
            <a:fillRect/>
          </a:stretch>
        </p:blipFill>
        <p:spPr>
          <a:xfrm>
            <a:off x="474120" y="374760"/>
            <a:ext cx="2267280" cy="500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2853000" y="0"/>
            <a:ext cx="9337320" cy="6856200"/>
          </a:xfrm>
          <a:prstGeom prst="rect">
            <a:avLst/>
          </a:prstGeom>
          <a:ln w="0">
            <a:noFill/>
          </a:ln>
        </p:spPr>
      </p:pic>
      <p:sp>
        <p:nvSpPr>
          <p:cNvPr id="134" name="任意多边形 13"/>
          <p:cNvSpPr/>
          <p:nvPr/>
        </p:nvSpPr>
        <p:spPr>
          <a:xfrm>
            <a:off x="2888280" y="0"/>
            <a:ext cx="7657200" cy="6856200"/>
          </a:xfrm>
          <a:custGeom>
            <a:avLst/>
            <a:gdLst/>
            <a:ahLst/>
            <a:cxnLst/>
            <a:rect l="l" t="t" r="r" b="b"/>
            <a:pathLst>
              <a:path w="7658962" h="6858000">
                <a:moveTo>
                  <a:pt x="0" y="0"/>
                </a:moveTo>
                <a:lnTo>
                  <a:pt x="831578" y="0"/>
                </a:lnTo>
                <a:lnTo>
                  <a:pt x="7658962" y="6858000"/>
                </a:lnTo>
                <a:lnTo>
                  <a:pt x="6844042" y="6858000"/>
                </a:lnTo>
                <a:close/>
              </a:path>
            </a:pathLst>
          </a:custGeom>
          <a:solidFill>
            <a:srgbClr val="E86713">
              <a:alpha val="50000"/>
            </a:srgbClr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5" name="任意多边形 11"/>
          <p:cNvSpPr/>
          <p:nvPr/>
        </p:nvSpPr>
        <p:spPr>
          <a:xfrm>
            <a:off x="2818440" y="0"/>
            <a:ext cx="7142040" cy="6856200"/>
          </a:xfrm>
          <a:custGeom>
            <a:avLst/>
            <a:gdLst/>
            <a:ahLst/>
            <a:cxnLst/>
            <a:rect l="l" t="t" r="r" b="b"/>
            <a:pathLst>
              <a:path w="7143810" h="6858000">
                <a:moveTo>
                  <a:pt x="0" y="0"/>
                </a:moveTo>
                <a:lnTo>
                  <a:pt x="299769" y="0"/>
                </a:lnTo>
                <a:lnTo>
                  <a:pt x="7143810" y="6858000"/>
                </a:lnTo>
                <a:lnTo>
                  <a:pt x="6844041" y="6858000"/>
                </a:lnTo>
                <a:close/>
              </a:path>
            </a:pathLst>
          </a:custGeom>
          <a:solidFill>
            <a:srgbClr val="1163AF"/>
          </a:solidFill>
          <a:ln w="25560">
            <a:noFill/>
          </a:ln>
          <a:effectLst>
            <a:outerShdw blurRad="127080" dist="37674" dir="8100000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6" name="矩形 18"/>
          <p:cNvSpPr/>
          <p:nvPr/>
        </p:nvSpPr>
        <p:spPr>
          <a:xfrm>
            <a:off x="1895040" y="1838520"/>
            <a:ext cx="1801080" cy="184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500" b="0" strike="noStrike" spc="-1">
                <a:solidFill>
                  <a:srgbClr val="1163AF"/>
                </a:solidFill>
                <a:latin typeface="Agency FB" panose="020B0503020202020204"/>
                <a:ea typeface="微软雅黑" panose="020B0503020204020204" pitchFamily="34" charset="-122"/>
              </a:rPr>
              <a:t>01</a:t>
            </a:r>
            <a:endParaRPr lang="en-US" sz="11500" b="0" strike="noStrike" spc="-1">
              <a:latin typeface="Arial" panose="020B0604020202020204"/>
            </a:endParaRPr>
          </a:p>
        </p:txBody>
      </p:sp>
      <p:sp>
        <p:nvSpPr>
          <p:cNvPr id="137" name="矩形 27"/>
          <p:cNvSpPr/>
          <p:nvPr/>
        </p:nvSpPr>
        <p:spPr>
          <a:xfrm>
            <a:off x="730800" y="2576520"/>
            <a:ext cx="143712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b="0" strike="noStrike" spc="-1">
                <a:solidFill>
                  <a:srgbClr val="595959"/>
                </a:solidFill>
                <a:latin typeface="Arial" panose="020B0604020202020204"/>
                <a:ea typeface="微软雅黑" panose="020B0503020204020204" pitchFamily="34" charset="-122"/>
              </a:rPr>
              <a:t>Part</a:t>
            </a:r>
            <a:endParaRPr lang="en-US" sz="5400" b="0" strike="noStrike" spc="-1">
              <a:latin typeface="Arial" panose="020B0604020202020204"/>
            </a:endParaRPr>
          </a:p>
        </p:txBody>
      </p:sp>
      <p:sp>
        <p:nvSpPr>
          <p:cNvPr id="138" name="文本框 30"/>
          <p:cNvSpPr/>
          <p:nvPr/>
        </p:nvSpPr>
        <p:spPr>
          <a:xfrm>
            <a:off x="723240" y="3977280"/>
            <a:ext cx="3960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sz="3600" b="1" strike="noStrike" spc="-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课程目录</a:t>
            </a:r>
            <a:endParaRPr lang="en-US" sz="3600" b="0" strike="noStrike" spc="-1">
              <a:latin typeface="Arial" panose="020B0604020202020204"/>
            </a:endParaRPr>
          </a:p>
        </p:txBody>
      </p:sp>
      <p:sp>
        <p:nvSpPr>
          <p:cNvPr id="139" name="直接连接符 32"/>
          <p:cNvSpPr/>
          <p:nvPr/>
        </p:nvSpPr>
        <p:spPr>
          <a:xfrm>
            <a:off x="812880" y="4638600"/>
            <a:ext cx="5940000" cy="360"/>
          </a:xfrm>
          <a:prstGeom prst="line">
            <a:avLst/>
          </a:prstGeom>
          <a:ln w="12600">
            <a:solidFill>
              <a:srgbClr val="BFBFB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0" name="等腰三角形 37"/>
          <p:cNvSpPr/>
          <p:nvPr/>
        </p:nvSpPr>
        <p:spPr>
          <a:xfrm>
            <a:off x="5703840" y="4510440"/>
            <a:ext cx="496440" cy="124920"/>
          </a:xfrm>
          <a:prstGeom prst="triangle">
            <a:avLst>
              <a:gd name="adj" fmla="val 50000"/>
            </a:avLst>
          </a:prstGeom>
          <a:solidFill>
            <a:srgbClr val="1163A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1" name="等腰三角形 38"/>
          <p:cNvSpPr/>
          <p:nvPr/>
        </p:nvSpPr>
        <p:spPr>
          <a:xfrm>
            <a:off x="5904000" y="4421160"/>
            <a:ext cx="496440" cy="214200"/>
          </a:xfrm>
          <a:prstGeom prst="triangle">
            <a:avLst>
              <a:gd name="adj" fmla="val 50000"/>
            </a:avLst>
          </a:prstGeom>
          <a:solidFill>
            <a:srgbClr val="E8671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2" name="等腰三角形 39"/>
          <p:cNvSpPr/>
          <p:nvPr/>
        </p:nvSpPr>
        <p:spPr>
          <a:xfrm>
            <a:off x="6264360" y="4575240"/>
            <a:ext cx="496440" cy="59760"/>
          </a:xfrm>
          <a:prstGeom prst="triangle">
            <a:avLst>
              <a:gd name="adj" fmla="val 50000"/>
            </a:avLst>
          </a:prstGeom>
          <a:solidFill>
            <a:srgbClr val="268D3A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3" name="等腰三角形 40"/>
          <p:cNvSpPr/>
          <p:nvPr/>
        </p:nvSpPr>
        <p:spPr>
          <a:xfrm>
            <a:off x="6053400" y="4531680"/>
            <a:ext cx="496440" cy="103320"/>
          </a:xfrm>
          <a:prstGeom prst="triangle">
            <a:avLst>
              <a:gd name="adj" fmla="val 50000"/>
            </a:avLst>
          </a:prstGeom>
          <a:solidFill>
            <a:srgbClr val="F1C51E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44" name="图片 21"/>
          <p:cNvPicPr/>
          <p:nvPr/>
        </p:nvPicPr>
        <p:blipFill>
          <a:blip r:embed="rId2"/>
          <a:stretch>
            <a:fillRect/>
          </a:stretch>
        </p:blipFill>
        <p:spPr>
          <a:xfrm>
            <a:off x="304920" y="318240"/>
            <a:ext cx="1747800" cy="385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/>
          </p:nvPr>
        </p:nvSpPr>
        <p:spPr>
          <a:xfrm>
            <a:off x="910800" y="179280"/>
            <a:ext cx="4878720" cy="478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sz="2800" b="1" strike="noStrike" spc="-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sz="2800" b="0" strike="noStrike" spc="-1">
              <a:latin typeface="Arial" panose="020B0604020202020204"/>
            </a:endParaRPr>
          </a:p>
        </p:txBody>
      </p:sp>
      <p:sp>
        <p:nvSpPr>
          <p:cNvPr id="146" name="流程图: 接点 2"/>
          <p:cNvSpPr/>
          <p:nvPr/>
        </p:nvSpPr>
        <p:spPr>
          <a:xfrm>
            <a:off x="3546720" y="1930680"/>
            <a:ext cx="367560" cy="376920"/>
          </a:xfrm>
          <a:prstGeom prst="flowChartConnector">
            <a:avLst/>
          </a:prstGeom>
          <a:solidFill>
            <a:srgbClr val="E86713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7" name="矩形: 圆角 6"/>
          <p:cNvSpPr/>
          <p:nvPr/>
        </p:nvSpPr>
        <p:spPr>
          <a:xfrm>
            <a:off x="4142520" y="1838160"/>
            <a:ext cx="3905280" cy="56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>
            <a:solidFill>
              <a:srgbClr val="ED7D3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学习数组存储结构</a:t>
            </a:r>
            <a:endParaRPr lang="en-US" sz="1800" b="0" strike="noStrike" spc="-1" dirty="0">
              <a:latin typeface="Arial" panose="020B0604020202020204"/>
            </a:endParaRPr>
          </a:p>
        </p:txBody>
      </p:sp>
      <p:sp>
        <p:nvSpPr>
          <p:cNvPr id="148" name="流程图: 接点 7"/>
          <p:cNvSpPr/>
          <p:nvPr/>
        </p:nvSpPr>
        <p:spPr>
          <a:xfrm>
            <a:off x="3523680" y="2822040"/>
            <a:ext cx="367560" cy="376920"/>
          </a:xfrm>
          <a:prstGeom prst="flowChartConnector">
            <a:avLst/>
          </a:prstGeom>
          <a:solidFill>
            <a:srgbClr val="E86713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9" name="矩形: 圆角 8"/>
          <p:cNvSpPr/>
          <p:nvPr/>
        </p:nvSpPr>
        <p:spPr>
          <a:xfrm>
            <a:off x="4119480" y="2729520"/>
            <a:ext cx="3905280" cy="56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>
            <a:solidFill>
              <a:srgbClr val="ED7D3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学习</a:t>
            </a:r>
            <a:r>
              <a:rPr lang="zh-CN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数组的</a:t>
            </a:r>
            <a:r>
              <a:rPr lang="zh-CN" altLang="en-US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定义</a:t>
            </a:r>
            <a:endParaRPr lang="en-US" sz="1800" b="0" strike="noStrike" spc="-1" dirty="0">
              <a:latin typeface="Arial" panose="020B0604020202020204"/>
            </a:endParaRPr>
          </a:p>
        </p:txBody>
      </p:sp>
      <p:sp>
        <p:nvSpPr>
          <p:cNvPr id="150" name="流程图: 接点 11"/>
          <p:cNvSpPr/>
          <p:nvPr/>
        </p:nvSpPr>
        <p:spPr>
          <a:xfrm>
            <a:off x="3551400" y="3634560"/>
            <a:ext cx="367560" cy="376920"/>
          </a:xfrm>
          <a:prstGeom prst="flowChartConnector">
            <a:avLst/>
          </a:prstGeom>
          <a:solidFill>
            <a:srgbClr val="E86713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1" name="矩形: 圆角 12"/>
          <p:cNvSpPr/>
          <p:nvPr/>
        </p:nvSpPr>
        <p:spPr>
          <a:xfrm>
            <a:off x="4147200" y="3542400"/>
            <a:ext cx="3905280" cy="56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>
            <a:solidFill>
              <a:srgbClr val="ED7D3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数组的元素访问</a:t>
            </a:r>
            <a:endParaRPr lang="en-US" sz="1800" b="0" strike="noStrike" spc="-1" dirty="0">
              <a:latin typeface="Arial" panose="020B0604020202020204"/>
            </a:endParaRPr>
          </a:p>
        </p:txBody>
      </p:sp>
      <p:sp>
        <p:nvSpPr>
          <p:cNvPr id="152" name="流程图: 接点 13"/>
          <p:cNvSpPr/>
          <p:nvPr/>
        </p:nvSpPr>
        <p:spPr>
          <a:xfrm>
            <a:off x="3528360" y="4525920"/>
            <a:ext cx="367560" cy="376920"/>
          </a:xfrm>
          <a:prstGeom prst="flowChartConnector">
            <a:avLst/>
          </a:prstGeom>
          <a:solidFill>
            <a:srgbClr val="E86713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3" name="矩形: 圆角 14"/>
          <p:cNvSpPr/>
          <p:nvPr/>
        </p:nvSpPr>
        <p:spPr>
          <a:xfrm>
            <a:off x="4119480" y="4408360"/>
            <a:ext cx="3905280" cy="56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>
            <a:solidFill>
              <a:srgbClr val="ED7D3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800" b="0" strike="noStrike" spc="-1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数组的数据修改</a:t>
            </a:r>
            <a:endParaRPr lang="en-US" sz="18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2853000" y="0"/>
            <a:ext cx="9337320" cy="6856200"/>
          </a:xfrm>
          <a:prstGeom prst="rect">
            <a:avLst/>
          </a:prstGeom>
          <a:ln w="0">
            <a:noFill/>
          </a:ln>
        </p:spPr>
      </p:pic>
      <p:sp>
        <p:nvSpPr>
          <p:cNvPr id="155" name="任意多边形 13"/>
          <p:cNvSpPr/>
          <p:nvPr/>
        </p:nvSpPr>
        <p:spPr>
          <a:xfrm>
            <a:off x="2888280" y="0"/>
            <a:ext cx="7657200" cy="6856200"/>
          </a:xfrm>
          <a:custGeom>
            <a:avLst/>
            <a:gdLst/>
            <a:ahLst/>
            <a:cxnLst/>
            <a:rect l="l" t="t" r="r" b="b"/>
            <a:pathLst>
              <a:path w="7658962" h="6858000">
                <a:moveTo>
                  <a:pt x="0" y="0"/>
                </a:moveTo>
                <a:lnTo>
                  <a:pt x="831578" y="0"/>
                </a:lnTo>
                <a:lnTo>
                  <a:pt x="7658962" y="6858000"/>
                </a:lnTo>
                <a:lnTo>
                  <a:pt x="6844042" y="6858000"/>
                </a:lnTo>
                <a:close/>
              </a:path>
            </a:pathLst>
          </a:custGeom>
          <a:solidFill>
            <a:srgbClr val="E86713">
              <a:alpha val="50000"/>
            </a:srgbClr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6" name="任意多边形 11"/>
          <p:cNvSpPr/>
          <p:nvPr/>
        </p:nvSpPr>
        <p:spPr>
          <a:xfrm>
            <a:off x="2818440" y="0"/>
            <a:ext cx="7142040" cy="6856200"/>
          </a:xfrm>
          <a:custGeom>
            <a:avLst/>
            <a:gdLst/>
            <a:ahLst/>
            <a:cxnLst/>
            <a:rect l="l" t="t" r="r" b="b"/>
            <a:pathLst>
              <a:path w="7143810" h="6858000">
                <a:moveTo>
                  <a:pt x="0" y="0"/>
                </a:moveTo>
                <a:lnTo>
                  <a:pt x="299769" y="0"/>
                </a:lnTo>
                <a:lnTo>
                  <a:pt x="7143810" y="6858000"/>
                </a:lnTo>
                <a:lnTo>
                  <a:pt x="6844041" y="6858000"/>
                </a:lnTo>
                <a:close/>
              </a:path>
            </a:pathLst>
          </a:custGeom>
          <a:solidFill>
            <a:srgbClr val="1163AF"/>
          </a:solidFill>
          <a:ln w="25560">
            <a:noFill/>
          </a:ln>
          <a:effectLst>
            <a:outerShdw blurRad="127080" dist="37674" dir="8100000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7" name="矩形 18"/>
          <p:cNvSpPr/>
          <p:nvPr/>
        </p:nvSpPr>
        <p:spPr>
          <a:xfrm>
            <a:off x="2032920" y="1838520"/>
            <a:ext cx="1801080" cy="184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500" b="0" strike="noStrike" spc="-1">
                <a:solidFill>
                  <a:srgbClr val="1163AF"/>
                </a:solidFill>
                <a:latin typeface="Agency FB" panose="020B0503020202020204"/>
                <a:ea typeface="微软雅黑" panose="020B0503020204020204" pitchFamily="34" charset="-122"/>
              </a:rPr>
              <a:t>02</a:t>
            </a:r>
            <a:endParaRPr lang="en-US" sz="11500" b="0" strike="noStrike" spc="-1">
              <a:latin typeface="Arial" panose="020B0604020202020204"/>
            </a:endParaRPr>
          </a:p>
        </p:txBody>
      </p:sp>
      <p:sp>
        <p:nvSpPr>
          <p:cNvPr id="158" name="矩形 27"/>
          <p:cNvSpPr/>
          <p:nvPr/>
        </p:nvSpPr>
        <p:spPr>
          <a:xfrm>
            <a:off x="730800" y="2576520"/>
            <a:ext cx="143712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b="0" strike="noStrike" spc="-1">
                <a:solidFill>
                  <a:srgbClr val="595959"/>
                </a:solidFill>
                <a:latin typeface="Arial" panose="020B0604020202020204"/>
                <a:ea typeface="微软雅黑" panose="020B0503020204020204" pitchFamily="34" charset="-122"/>
              </a:rPr>
              <a:t>Part</a:t>
            </a:r>
            <a:endParaRPr lang="en-US" sz="5400" b="0" strike="noStrike" spc="-1">
              <a:latin typeface="Arial" panose="020B0604020202020204"/>
            </a:endParaRPr>
          </a:p>
        </p:txBody>
      </p:sp>
      <p:sp>
        <p:nvSpPr>
          <p:cNvPr id="159" name="文本框 30"/>
          <p:cNvSpPr/>
          <p:nvPr/>
        </p:nvSpPr>
        <p:spPr>
          <a:xfrm>
            <a:off x="723240" y="3977280"/>
            <a:ext cx="3960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sz="3600" b="1" strike="noStrike" spc="-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知识引入</a:t>
            </a:r>
            <a:endParaRPr lang="en-US" sz="3600" b="0" strike="noStrike" spc="-1">
              <a:latin typeface="Arial" panose="020B0604020202020204"/>
            </a:endParaRPr>
          </a:p>
        </p:txBody>
      </p:sp>
      <p:sp>
        <p:nvSpPr>
          <p:cNvPr id="160" name="直接连接符 32"/>
          <p:cNvSpPr/>
          <p:nvPr/>
        </p:nvSpPr>
        <p:spPr>
          <a:xfrm>
            <a:off x="812880" y="4638600"/>
            <a:ext cx="5940000" cy="360"/>
          </a:xfrm>
          <a:prstGeom prst="line">
            <a:avLst/>
          </a:prstGeom>
          <a:ln w="12600">
            <a:solidFill>
              <a:srgbClr val="BFBFB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1" name="等腰三角形 37"/>
          <p:cNvSpPr/>
          <p:nvPr/>
        </p:nvSpPr>
        <p:spPr>
          <a:xfrm>
            <a:off x="5703840" y="4510440"/>
            <a:ext cx="496440" cy="124920"/>
          </a:xfrm>
          <a:prstGeom prst="triangle">
            <a:avLst>
              <a:gd name="adj" fmla="val 50000"/>
            </a:avLst>
          </a:prstGeom>
          <a:solidFill>
            <a:srgbClr val="1163A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2" name="等腰三角形 38"/>
          <p:cNvSpPr/>
          <p:nvPr/>
        </p:nvSpPr>
        <p:spPr>
          <a:xfrm>
            <a:off x="5904000" y="4421160"/>
            <a:ext cx="496440" cy="214200"/>
          </a:xfrm>
          <a:prstGeom prst="triangle">
            <a:avLst>
              <a:gd name="adj" fmla="val 50000"/>
            </a:avLst>
          </a:prstGeom>
          <a:solidFill>
            <a:srgbClr val="E8671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3" name="等腰三角形 39"/>
          <p:cNvSpPr/>
          <p:nvPr/>
        </p:nvSpPr>
        <p:spPr>
          <a:xfrm>
            <a:off x="6264360" y="4575240"/>
            <a:ext cx="496440" cy="59760"/>
          </a:xfrm>
          <a:prstGeom prst="triangle">
            <a:avLst>
              <a:gd name="adj" fmla="val 50000"/>
            </a:avLst>
          </a:prstGeom>
          <a:solidFill>
            <a:srgbClr val="268D3A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4" name="等腰三角形 40"/>
          <p:cNvSpPr/>
          <p:nvPr/>
        </p:nvSpPr>
        <p:spPr>
          <a:xfrm>
            <a:off x="6053400" y="4531680"/>
            <a:ext cx="496440" cy="103320"/>
          </a:xfrm>
          <a:prstGeom prst="triangle">
            <a:avLst>
              <a:gd name="adj" fmla="val 50000"/>
            </a:avLst>
          </a:prstGeom>
          <a:solidFill>
            <a:srgbClr val="F1C51E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65" name="图片 21"/>
          <p:cNvPicPr/>
          <p:nvPr/>
        </p:nvPicPr>
        <p:blipFill>
          <a:blip r:embed="rId2"/>
          <a:stretch>
            <a:fillRect/>
          </a:stretch>
        </p:blipFill>
        <p:spPr>
          <a:xfrm>
            <a:off x="304920" y="318240"/>
            <a:ext cx="1747800" cy="385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/>
          </p:nvPr>
        </p:nvSpPr>
        <p:spPr>
          <a:xfrm>
            <a:off x="910800" y="179280"/>
            <a:ext cx="4878720" cy="478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sz="2800" b="1" strike="noStrike" spc="-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知识引入</a:t>
            </a:r>
            <a:endParaRPr lang="en-US" sz="2800" b="0" strike="noStrike" spc="-1">
              <a:latin typeface="Arial" panose="020B0604020202020204"/>
            </a:endParaRPr>
          </a:p>
        </p:txBody>
      </p:sp>
      <p:pic>
        <p:nvPicPr>
          <p:cNvPr id="167" name="图片 11"/>
          <p:cNvPicPr/>
          <p:nvPr/>
        </p:nvPicPr>
        <p:blipFill>
          <a:blip r:embed="rId1"/>
          <a:stretch>
            <a:fillRect/>
          </a:stretch>
        </p:blipFill>
        <p:spPr>
          <a:xfrm>
            <a:off x="1222560" y="2432160"/>
            <a:ext cx="1656000" cy="1346400"/>
          </a:xfrm>
          <a:prstGeom prst="rect">
            <a:avLst/>
          </a:prstGeom>
          <a:ln w="0">
            <a:noFill/>
          </a:ln>
        </p:spPr>
      </p:pic>
      <p:sp>
        <p:nvSpPr>
          <p:cNvPr id="168" name="对话气泡: 椭圆形 167"/>
          <p:cNvSpPr/>
          <p:nvPr/>
        </p:nvSpPr>
        <p:spPr>
          <a:xfrm>
            <a:off x="2340000" y="1080000"/>
            <a:ext cx="4679280" cy="1259280"/>
          </a:xfrm>
          <a:prstGeom prst="wedgeEllipseCallout">
            <a:avLst>
              <a:gd name="adj1" fmla="val -39590"/>
              <a:gd name="adj2" fmla="val 91016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2000" b="0" strike="noStrike" spc="-1" dirty="0">
                <a:solidFill>
                  <a:srgbClr val="000000"/>
                </a:solidFill>
                <a:latin typeface="Arial" panose="020B0604020202020204"/>
                <a:ea typeface="DejaVu Sans"/>
              </a:rPr>
              <a:t>学校委托我们制作一个用于统计班级人数的程序。</a:t>
            </a:r>
            <a:endParaRPr lang="en-US" sz="2000" b="0" strike="noStrike" spc="-1" dirty="0">
              <a:latin typeface="Arial" panose="020B0604020202020204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4145120" y="2966672"/>
            <a:ext cx="5938560" cy="7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4000" b="1" strike="noStrike" spc="-1" dirty="0">
                <a:solidFill>
                  <a:srgbClr val="000000"/>
                </a:solidFill>
                <a:latin typeface="文泉驿微米黑"/>
                <a:ea typeface="文泉驿微米黑"/>
              </a:rPr>
              <a:t>同学们，完成这个委托么</a:t>
            </a:r>
            <a:endParaRPr lang="en-US" sz="4000" b="0" strike="noStrike" spc="-1" dirty="0">
              <a:latin typeface="Arial" panose="020B0604020202020204"/>
            </a:endParaRPr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2616200" y="4597399"/>
          <a:ext cx="81280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/>
                <a:gridCol w="1354667"/>
                <a:gridCol w="1354667"/>
                <a:gridCol w="1354667"/>
                <a:gridCol w="1354667"/>
                <a:gridCol w="135466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一班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两班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三班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四班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五班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六班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45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文本占位符 2"/>
          <p:cNvSpPr/>
          <p:nvPr/>
        </p:nvSpPr>
        <p:spPr>
          <a:xfrm>
            <a:off x="910800" y="179640"/>
            <a:ext cx="4878720" cy="4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sz="2800" b="1" strike="noStrike" spc="-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知识引入</a:t>
            </a:r>
            <a:endParaRPr lang="en-US" sz="2800" b="0" strike="noStrike" spc="-1">
              <a:latin typeface="Arial" panose="020B0604020202020204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900000" y="1440000"/>
            <a:ext cx="2518560" cy="89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4000" b="0" strike="noStrike" spc="-1">
                <a:solidFill>
                  <a:srgbClr val="000000"/>
                </a:solidFill>
                <a:latin typeface="Noto Sans CJK SC Black"/>
                <a:ea typeface="Noto Sans CJK SC Black"/>
              </a:rPr>
              <a:t>使用变量</a:t>
            </a:r>
            <a:endParaRPr lang="en-US" sz="4000" b="0" strike="noStrike" spc="-1">
              <a:latin typeface="Arial" panose="020B0604020202020204"/>
            </a:endParaRPr>
          </a:p>
        </p:txBody>
      </p:sp>
      <p:pic>
        <p:nvPicPr>
          <p:cNvPr id="172" name="图片 171"/>
          <p:cNvPicPr/>
          <p:nvPr/>
        </p:nvPicPr>
        <p:blipFill>
          <a:blip r:embed="rId1"/>
          <a:stretch>
            <a:fillRect/>
          </a:stretch>
        </p:blipFill>
        <p:spPr>
          <a:xfrm>
            <a:off x="8449920" y="1980000"/>
            <a:ext cx="3068640" cy="2994840"/>
          </a:xfrm>
          <a:prstGeom prst="rect">
            <a:avLst/>
          </a:prstGeom>
          <a:ln w="0">
            <a:noFill/>
          </a:ln>
        </p:spPr>
      </p:pic>
      <p:pic>
        <p:nvPicPr>
          <p:cNvPr id="173" name="图片 172"/>
          <p:cNvPicPr/>
          <p:nvPr/>
        </p:nvPicPr>
        <p:blipFill>
          <a:blip r:embed="rId2"/>
          <a:stretch>
            <a:fillRect/>
          </a:stretch>
        </p:blipFill>
        <p:spPr>
          <a:xfrm>
            <a:off x="3780000" y="1072800"/>
            <a:ext cx="4074120" cy="5045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文本占位符 4"/>
          <p:cNvSpPr/>
          <p:nvPr/>
        </p:nvSpPr>
        <p:spPr>
          <a:xfrm>
            <a:off x="910800" y="179640"/>
            <a:ext cx="4878720" cy="4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sz="2800" b="1" strike="noStrike" spc="-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知识引入</a:t>
            </a:r>
            <a:endParaRPr lang="en-US" sz="2800" b="0" strike="noStrike" spc="-1">
              <a:latin typeface="Arial" panose="020B0604020202020204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360000" y="1440000"/>
            <a:ext cx="3058560" cy="89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4000" b="0" strike="noStrike" spc="-1">
                <a:solidFill>
                  <a:srgbClr val="000000"/>
                </a:solidFill>
                <a:latin typeface="Noto Sans CJK SC Black"/>
                <a:ea typeface="Noto Sans CJK SC Black"/>
              </a:rPr>
              <a:t>另一种方法</a:t>
            </a:r>
            <a:endParaRPr lang="en-US" sz="4000" b="0" strike="noStrike" spc="-1">
              <a:latin typeface="Arial" panose="020B0604020202020204"/>
            </a:endParaRPr>
          </a:p>
        </p:txBody>
      </p:sp>
      <p:pic>
        <p:nvPicPr>
          <p:cNvPr id="176" name="图片 175"/>
          <p:cNvPicPr/>
          <p:nvPr/>
        </p:nvPicPr>
        <p:blipFill>
          <a:blip r:embed="rId1"/>
          <a:stretch>
            <a:fillRect/>
          </a:stretch>
        </p:blipFill>
        <p:spPr>
          <a:xfrm>
            <a:off x="3600000" y="1440000"/>
            <a:ext cx="3988440" cy="4045680"/>
          </a:xfrm>
          <a:prstGeom prst="rect">
            <a:avLst/>
          </a:prstGeom>
          <a:ln w="0">
            <a:noFill/>
          </a:ln>
        </p:spPr>
      </p:pic>
      <p:sp>
        <p:nvSpPr>
          <p:cNvPr id="177" name="矩形 176"/>
          <p:cNvSpPr/>
          <p:nvPr/>
        </p:nvSpPr>
        <p:spPr>
          <a:xfrm>
            <a:off x="540000" y="3126240"/>
            <a:ext cx="2518560" cy="11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6000" b="1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数组</a:t>
            </a:r>
            <a:endParaRPr lang="en-US" sz="6000" b="0" strike="noStrike" spc="-1">
              <a:latin typeface="Arial" panose="020B0604020202020204"/>
            </a:endParaRPr>
          </a:p>
        </p:txBody>
      </p:sp>
      <p:pic>
        <p:nvPicPr>
          <p:cNvPr id="178" name="图片 177"/>
          <p:cNvPicPr/>
          <p:nvPr/>
        </p:nvPicPr>
        <p:blipFill>
          <a:blip r:embed="rId2"/>
          <a:stretch>
            <a:fillRect/>
          </a:stretch>
        </p:blipFill>
        <p:spPr>
          <a:xfrm>
            <a:off x="8367120" y="1461960"/>
            <a:ext cx="2971440" cy="4116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文本占位符 3"/>
          <p:cNvSpPr/>
          <p:nvPr/>
        </p:nvSpPr>
        <p:spPr>
          <a:xfrm>
            <a:off x="910800" y="180000"/>
            <a:ext cx="4878720" cy="4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sz="2800" b="1" strike="noStrike" spc="-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知识引入</a:t>
            </a:r>
            <a:endParaRPr lang="en-US" sz="2800" b="0" strike="noStrike" spc="-1">
              <a:latin typeface="Arial" panose="020B0604020202020204"/>
            </a:endParaRPr>
          </a:p>
        </p:txBody>
      </p:sp>
      <p:sp>
        <p:nvSpPr>
          <p:cNvPr id="180" name="矩形 179"/>
          <p:cNvSpPr/>
          <p:nvPr/>
        </p:nvSpPr>
        <p:spPr>
          <a:xfrm>
            <a:off x="3600000" y="2340000"/>
            <a:ext cx="5038560" cy="125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6000" b="1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什么是数组</a:t>
            </a:r>
            <a:r>
              <a:rPr lang="en-US" sz="6000" b="1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?</a:t>
            </a:r>
            <a:endParaRPr lang="en-US" sz="6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文本占位符 5"/>
          <p:cNvSpPr/>
          <p:nvPr/>
        </p:nvSpPr>
        <p:spPr>
          <a:xfrm>
            <a:off x="910800" y="180000"/>
            <a:ext cx="4878720" cy="4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sz="2800" b="1" strike="noStrike" spc="-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知识引入</a:t>
            </a:r>
            <a:endParaRPr lang="en-US" sz="2800" b="0" strike="noStrike" spc="-1">
              <a:latin typeface="Arial" panose="020B0604020202020204"/>
            </a:endParaRPr>
          </a:p>
        </p:txBody>
      </p:sp>
      <p:pic>
        <p:nvPicPr>
          <p:cNvPr id="182" name="图片 181"/>
          <p:cNvPicPr/>
          <p:nvPr/>
        </p:nvPicPr>
        <p:blipFill>
          <a:blip r:embed="rId1"/>
          <a:srcRect l="751" r="1234" b="1303"/>
          <a:stretch>
            <a:fillRect/>
          </a:stretch>
        </p:blipFill>
        <p:spPr>
          <a:xfrm>
            <a:off x="180000" y="1800000"/>
            <a:ext cx="4442400" cy="2878200"/>
          </a:xfrm>
          <a:prstGeom prst="rect">
            <a:avLst/>
          </a:prstGeom>
          <a:ln w="0">
            <a:noFill/>
          </a:ln>
        </p:spPr>
      </p:pic>
      <p:pic>
        <p:nvPicPr>
          <p:cNvPr id="183" name="图片 182"/>
          <p:cNvPicPr/>
          <p:nvPr/>
        </p:nvPicPr>
        <p:blipFill>
          <a:blip r:embed="rId2"/>
          <a:stretch>
            <a:fillRect/>
          </a:stretch>
        </p:blipFill>
        <p:spPr>
          <a:xfrm>
            <a:off x="4516200" y="2864160"/>
            <a:ext cx="7074360" cy="950400"/>
          </a:xfrm>
          <a:prstGeom prst="rect">
            <a:avLst/>
          </a:prstGeom>
          <a:ln w="0">
            <a:noFill/>
          </a:ln>
        </p:spPr>
      </p:pic>
      <p:sp>
        <p:nvSpPr>
          <p:cNvPr id="184" name="矩形 183"/>
          <p:cNvSpPr/>
          <p:nvPr/>
        </p:nvSpPr>
        <p:spPr>
          <a:xfrm>
            <a:off x="2700000" y="1119960"/>
            <a:ext cx="3598560" cy="67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3200" b="1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数组</a:t>
            </a:r>
            <a:r>
              <a:rPr lang="en-US" sz="3200" b="1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clasStu</a:t>
            </a: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85" name="矩形 184"/>
          <p:cNvSpPr/>
          <p:nvPr/>
        </p:nvSpPr>
        <p:spPr>
          <a:xfrm>
            <a:off x="4623840" y="4140000"/>
            <a:ext cx="143856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800" b="1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第一个元素</a:t>
            </a:r>
            <a:endParaRPr lang="en-US" sz="1800" b="0" strike="noStrike" spc="-1">
              <a:latin typeface="Arial" panose="020B0604020202020204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10368000" y="4140000"/>
            <a:ext cx="1314720" cy="34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...</a:t>
            </a:r>
            <a:endParaRPr lang="en-US" sz="1800" b="0" strike="noStrike" spc="-1">
              <a:latin typeface="Arial" panose="020B0604020202020204"/>
            </a:endParaRPr>
          </a:p>
        </p:txBody>
      </p:sp>
      <p:sp>
        <p:nvSpPr>
          <p:cNvPr id="187" name="矩形 186"/>
          <p:cNvSpPr/>
          <p:nvPr/>
        </p:nvSpPr>
        <p:spPr>
          <a:xfrm>
            <a:off x="6171840" y="4140000"/>
            <a:ext cx="143856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800" b="1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第二个元素</a:t>
            </a:r>
            <a:endParaRPr lang="en-US" sz="1800" b="0" strike="noStrike" spc="-1">
              <a:latin typeface="Arial" panose="020B0604020202020204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7683840" y="4140000"/>
            <a:ext cx="143856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800" b="1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第三个元素</a:t>
            </a:r>
            <a:endParaRPr lang="en-US" sz="1800" b="0" strike="noStrike" spc="-1">
              <a:latin typeface="Arial" panose="020B0604020202020204"/>
            </a:endParaRPr>
          </a:p>
        </p:txBody>
      </p:sp>
      <p:sp>
        <p:nvSpPr>
          <p:cNvPr id="189" name="矩形 188"/>
          <p:cNvSpPr/>
          <p:nvPr/>
        </p:nvSpPr>
        <p:spPr>
          <a:xfrm>
            <a:off x="9015840" y="4140000"/>
            <a:ext cx="143856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800" b="1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第四个元素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190" name="图片 189"/>
          <p:cNvPicPr/>
          <p:nvPr/>
        </p:nvPicPr>
        <p:blipFill>
          <a:blip r:embed="rId1"/>
          <a:srcRect l="751" r="1234" b="1303"/>
          <a:stretch>
            <a:fillRect/>
          </a:stretch>
        </p:blipFill>
        <p:spPr>
          <a:xfrm>
            <a:off x="180360" y="1800000"/>
            <a:ext cx="4442400" cy="2878200"/>
          </a:xfrm>
          <a:prstGeom prst="rect">
            <a:avLst/>
          </a:prstGeom>
          <a:ln w="0">
            <a:noFill/>
          </a:ln>
        </p:spPr>
      </p:pic>
      <p:pic>
        <p:nvPicPr>
          <p:cNvPr id="191" name="图片 190"/>
          <p:cNvPicPr/>
          <p:nvPr/>
        </p:nvPicPr>
        <p:blipFill>
          <a:blip r:embed="rId2"/>
          <a:stretch>
            <a:fillRect/>
          </a:stretch>
        </p:blipFill>
        <p:spPr>
          <a:xfrm>
            <a:off x="4516560" y="2864160"/>
            <a:ext cx="7074360" cy="950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文本占位符 6"/>
          <p:cNvSpPr/>
          <p:nvPr/>
        </p:nvSpPr>
        <p:spPr>
          <a:xfrm>
            <a:off x="910800" y="180000"/>
            <a:ext cx="4878720" cy="4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sz="2800" b="1" strike="noStrike" spc="-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知识引入</a:t>
            </a:r>
            <a:endParaRPr lang="en-US" sz="2800" b="0" strike="noStrike" spc="-1">
              <a:latin typeface="Arial" panose="020B0604020202020204"/>
            </a:endParaRPr>
          </a:p>
        </p:txBody>
      </p:sp>
      <p:sp>
        <p:nvSpPr>
          <p:cNvPr id="193" name="椭圆 192"/>
          <p:cNvSpPr/>
          <p:nvPr/>
        </p:nvSpPr>
        <p:spPr>
          <a:xfrm>
            <a:off x="396000" y="1224000"/>
            <a:ext cx="358560" cy="358560"/>
          </a:xfrm>
          <a:prstGeom prst="ellipse">
            <a:avLst/>
          </a:prstGeom>
          <a:solidFill>
            <a:srgbClr val="00A0F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4" name="矩形 193"/>
          <p:cNvSpPr/>
          <p:nvPr/>
        </p:nvSpPr>
        <p:spPr>
          <a:xfrm>
            <a:off x="720000" y="1041840"/>
            <a:ext cx="305856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4000" b="1" strike="noStrike" spc="-1">
                <a:solidFill>
                  <a:srgbClr val="000000"/>
                </a:solidFill>
                <a:latin typeface="文泉驿微米黑"/>
                <a:ea typeface="文泉驿微米黑"/>
              </a:rPr>
              <a:t>数组的创建</a:t>
            </a:r>
            <a:endParaRPr lang="en-US" sz="4000" b="0" strike="noStrike" spc="-1">
              <a:latin typeface="Arial" panose="020B0604020202020204"/>
            </a:endParaRPr>
          </a:p>
        </p:txBody>
      </p:sp>
      <p:sp>
        <p:nvSpPr>
          <p:cNvPr id="195" name="矩形 194"/>
          <p:cNvSpPr/>
          <p:nvPr/>
        </p:nvSpPr>
        <p:spPr>
          <a:xfrm>
            <a:off x="6480000" y="3060000"/>
            <a:ext cx="2699280" cy="78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b="0" strike="noStrike" spc="-1">
                <a:solidFill>
                  <a:srgbClr val="000000"/>
                </a:solidFill>
                <a:highlight>
                  <a:srgbClr val="87CEFA"/>
                </a:highlight>
                <a:latin typeface="Noto Sans Display Medium"/>
                <a:ea typeface="DejaVu Sans"/>
              </a:rPr>
              <a:t>[arraySize]</a:t>
            </a:r>
            <a:endParaRPr lang="en-US" sz="4000" b="0" strike="noStrike" spc="-1">
              <a:latin typeface="Arial" panose="020B0604020202020204"/>
            </a:endParaRPr>
          </a:p>
        </p:txBody>
      </p:sp>
      <p:sp>
        <p:nvSpPr>
          <p:cNvPr id="196" name="矩形 195"/>
          <p:cNvSpPr/>
          <p:nvPr/>
        </p:nvSpPr>
        <p:spPr>
          <a:xfrm>
            <a:off x="2700000" y="3060000"/>
            <a:ext cx="1259280" cy="78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Noto Sans Display Medium"/>
                <a:ea typeface="DejaVu Sans"/>
              </a:rPr>
              <a:t>type</a:t>
            </a:r>
            <a:endParaRPr lang="en-US" sz="4000" b="0" strike="noStrike" spc="-1">
              <a:latin typeface="Arial" panose="020B0604020202020204"/>
            </a:endParaRPr>
          </a:p>
        </p:txBody>
      </p:sp>
      <p:sp>
        <p:nvSpPr>
          <p:cNvPr id="197" name="矩形 196"/>
          <p:cNvSpPr/>
          <p:nvPr/>
        </p:nvSpPr>
        <p:spPr>
          <a:xfrm>
            <a:off x="3780000" y="3060000"/>
            <a:ext cx="2879280" cy="78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b="0" strike="noStrike" spc="-1">
                <a:solidFill>
                  <a:srgbClr val="000000"/>
                </a:solidFill>
                <a:highlight>
                  <a:srgbClr val="FF4500"/>
                </a:highlight>
                <a:latin typeface="Noto Sans Display Medium"/>
                <a:ea typeface="DejaVu Sans"/>
              </a:rPr>
              <a:t>arrayName</a:t>
            </a:r>
            <a:endParaRPr lang="en-US" sz="4000" b="0" strike="noStrike" spc="-1">
              <a:latin typeface="Arial" panose="020B0604020202020204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9072000" y="3060000"/>
            <a:ext cx="287280" cy="78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000000"/>
                </a:solidFill>
                <a:highlight>
                  <a:srgbClr val="ADFF2F"/>
                </a:highlight>
                <a:latin typeface="Noto Sans Display Medium"/>
                <a:ea typeface="DejaVu Sans"/>
              </a:rPr>
              <a:t>;</a:t>
            </a:r>
            <a:endParaRPr lang="en-US" sz="4000" b="0" strike="noStrike" spc="-1">
              <a:latin typeface="Arial" panose="020B0604020202020204"/>
            </a:endParaRPr>
          </a:p>
        </p:txBody>
      </p:sp>
      <p:sp>
        <p:nvSpPr>
          <p:cNvPr id="199" name="任意多边形: 形状 198"/>
          <p:cNvSpPr/>
          <p:nvPr/>
        </p:nvSpPr>
        <p:spPr>
          <a:xfrm flipH="1">
            <a:off x="1997280" y="3842280"/>
            <a:ext cx="1331640" cy="657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0" name="矩形 199"/>
          <p:cNvSpPr/>
          <p:nvPr/>
        </p:nvSpPr>
        <p:spPr>
          <a:xfrm>
            <a:off x="1008000" y="4500000"/>
            <a:ext cx="197928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35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Noto Serif CJK SC Black"/>
                <a:ea typeface="Noto Serif CJK SC Black"/>
              </a:rPr>
              <a:t>数据类型</a:t>
            </a:r>
            <a:endParaRPr lang="en-US" sz="3500" b="0" strike="noStrike" spc="-1">
              <a:latin typeface="Arial" panose="020B0604020202020204"/>
            </a:endParaRPr>
          </a:p>
        </p:txBody>
      </p:sp>
      <p:sp>
        <p:nvSpPr>
          <p:cNvPr id="201" name="任意多边形: 形状 200"/>
          <p:cNvSpPr/>
          <p:nvPr/>
        </p:nvSpPr>
        <p:spPr>
          <a:xfrm flipV="1">
            <a:off x="5220000" y="2158560"/>
            <a:ext cx="809640" cy="899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2" name="矩形 201"/>
          <p:cNvSpPr/>
          <p:nvPr/>
        </p:nvSpPr>
        <p:spPr>
          <a:xfrm>
            <a:off x="5220000" y="1429560"/>
            <a:ext cx="161928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3500" b="0" strike="noStrike" spc="-1">
                <a:solidFill>
                  <a:srgbClr val="000000"/>
                </a:solidFill>
                <a:highlight>
                  <a:srgbClr val="FF4500"/>
                </a:highlight>
                <a:latin typeface="Noto Serif CJK SC Black"/>
                <a:ea typeface="Noto Serif CJK SC Black"/>
              </a:rPr>
              <a:t>数组名</a:t>
            </a:r>
            <a:endParaRPr lang="en-US" sz="3500" b="0" strike="noStrike" spc="-1">
              <a:latin typeface="Arial" panose="020B0604020202020204"/>
            </a:endParaRPr>
          </a:p>
        </p:txBody>
      </p:sp>
      <p:sp>
        <p:nvSpPr>
          <p:cNvPr id="203" name="矩形 202"/>
          <p:cNvSpPr/>
          <p:nvPr/>
        </p:nvSpPr>
        <p:spPr>
          <a:xfrm>
            <a:off x="5508000" y="4669560"/>
            <a:ext cx="197928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3500" b="0" strike="noStrike" spc="-1">
                <a:solidFill>
                  <a:srgbClr val="000000"/>
                </a:solidFill>
                <a:highlight>
                  <a:srgbClr val="87CEFA"/>
                </a:highlight>
                <a:latin typeface="Noto Serif CJK SC Black"/>
                <a:ea typeface="Noto Serif CJK SC Black"/>
              </a:rPr>
              <a:t>元素数量</a:t>
            </a:r>
            <a:endParaRPr lang="en-US" sz="3500" b="0" strike="noStrike" spc="-1">
              <a:latin typeface="Arial" panose="020B0604020202020204"/>
            </a:endParaRPr>
          </a:p>
        </p:txBody>
      </p:sp>
      <p:sp>
        <p:nvSpPr>
          <p:cNvPr id="204" name="任意多边形: 形状 203"/>
          <p:cNvSpPr/>
          <p:nvPr/>
        </p:nvSpPr>
        <p:spPr>
          <a:xfrm flipH="1">
            <a:off x="6497280" y="3842280"/>
            <a:ext cx="1331640" cy="826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5" name="矩形 204"/>
          <p:cNvSpPr/>
          <p:nvPr/>
        </p:nvSpPr>
        <p:spPr>
          <a:xfrm>
            <a:off x="9288000" y="1501560"/>
            <a:ext cx="206964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3500" b="0" strike="noStrike" spc="-1">
                <a:solidFill>
                  <a:srgbClr val="000000"/>
                </a:solidFill>
                <a:highlight>
                  <a:srgbClr val="ADFF2F"/>
                </a:highlight>
                <a:latin typeface="Noto Serif CJK SC Black"/>
                <a:ea typeface="Noto Serif CJK SC Black"/>
              </a:rPr>
              <a:t>英文 分号</a:t>
            </a:r>
            <a:endParaRPr lang="en-US" sz="3500" b="0" strike="noStrike" spc="-1">
              <a:latin typeface="Arial" panose="020B0604020202020204"/>
            </a:endParaRPr>
          </a:p>
        </p:txBody>
      </p:sp>
      <p:sp>
        <p:nvSpPr>
          <p:cNvPr id="206" name="任意多边形: 形状 205"/>
          <p:cNvSpPr/>
          <p:nvPr/>
        </p:nvSpPr>
        <p:spPr>
          <a:xfrm flipV="1">
            <a:off x="9360000" y="2230560"/>
            <a:ext cx="962640" cy="1218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文本占位符 1"/>
          <p:cNvSpPr/>
          <p:nvPr/>
        </p:nvSpPr>
        <p:spPr>
          <a:xfrm>
            <a:off x="911160" y="180000"/>
            <a:ext cx="4878720" cy="4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sz="2800" b="1" strike="noStrike" spc="-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知识引入</a:t>
            </a:r>
            <a:endParaRPr lang="en-US" sz="2800" b="0" strike="noStrike" spc="-1">
              <a:latin typeface="Arial" panose="020B0604020202020204"/>
            </a:endParaRPr>
          </a:p>
        </p:txBody>
      </p:sp>
      <p:sp>
        <p:nvSpPr>
          <p:cNvPr id="208" name="椭圆 207"/>
          <p:cNvSpPr/>
          <p:nvPr/>
        </p:nvSpPr>
        <p:spPr>
          <a:xfrm>
            <a:off x="504360" y="1224000"/>
            <a:ext cx="358560" cy="358560"/>
          </a:xfrm>
          <a:prstGeom prst="ellipse">
            <a:avLst/>
          </a:prstGeom>
          <a:solidFill>
            <a:srgbClr val="00A0F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9" name="矩形 208"/>
          <p:cNvSpPr/>
          <p:nvPr/>
        </p:nvSpPr>
        <p:spPr>
          <a:xfrm>
            <a:off x="828360" y="1041840"/>
            <a:ext cx="305856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4000" b="1" strike="noStrike" spc="-1">
                <a:solidFill>
                  <a:srgbClr val="000000"/>
                </a:solidFill>
                <a:latin typeface="文泉驿微米黑"/>
                <a:ea typeface="文泉驿微米黑"/>
              </a:rPr>
              <a:t>数组的创建</a:t>
            </a:r>
            <a:endParaRPr lang="en-US" sz="4000" b="0" strike="noStrike" spc="-1">
              <a:latin typeface="Arial" panose="020B0604020202020204"/>
            </a:endParaRPr>
          </a:p>
        </p:txBody>
      </p:sp>
      <p:sp>
        <p:nvSpPr>
          <p:cNvPr id="210" name="矩形 209"/>
          <p:cNvSpPr/>
          <p:nvPr/>
        </p:nvSpPr>
        <p:spPr>
          <a:xfrm>
            <a:off x="5184000" y="3384000"/>
            <a:ext cx="2375640" cy="6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5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[arraySize]</a:t>
            </a:r>
            <a:endParaRPr lang="en-US" sz="3500" b="0" strike="noStrike" spc="-1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1" name="矩形 210"/>
          <p:cNvSpPr/>
          <p:nvPr/>
        </p:nvSpPr>
        <p:spPr>
          <a:xfrm>
            <a:off x="1872000" y="3384000"/>
            <a:ext cx="1079280" cy="6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5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type</a:t>
            </a:r>
            <a:endParaRPr lang="en-US" sz="3500" b="0" strike="noStrike" spc="-1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2" name="矩形 211"/>
          <p:cNvSpPr/>
          <p:nvPr/>
        </p:nvSpPr>
        <p:spPr>
          <a:xfrm>
            <a:off x="2808000" y="3384000"/>
            <a:ext cx="2519280" cy="6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5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arrayName</a:t>
            </a:r>
            <a:endParaRPr lang="en-US" sz="3500" b="0" strike="noStrike" spc="-1">
              <a:latin typeface="Arial" panose="020B0604020202020204"/>
            </a:endParaRPr>
          </a:p>
        </p:txBody>
      </p:sp>
      <p:sp>
        <p:nvSpPr>
          <p:cNvPr id="213" name="矩形 212"/>
          <p:cNvSpPr/>
          <p:nvPr/>
        </p:nvSpPr>
        <p:spPr>
          <a:xfrm>
            <a:off x="8136360" y="3384000"/>
            <a:ext cx="287280" cy="6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500" b="0" strike="noStrike" spc="-1">
                <a:solidFill>
                  <a:srgbClr val="000000"/>
                </a:solidFill>
                <a:highlight>
                  <a:srgbClr val="ADFF2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sz="3500" b="0" strike="noStrike" spc="-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" name="任意多边形: 形状 213"/>
          <p:cNvSpPr/>
          <p:nvPr/>
        </p:nvSpPr>
        <p:spPr>
          <a:xfrm flipH="1">
            <a:off x="1889640" y="4080960"/>
            <a:ext cx="521280" cy="706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5" name="矩形 214"/>
          <p:cNvSpPr/>
          <p:nvPr/>
        </p:nvSpPr>
        <p:spPr>
          <a:xfrm>
            <a:off x="900360" y="4752000"/>
            <a:ext cx="197928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35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Noto Serif CJK SC Black"/>
                <a:ea typeface="Noto Serif CJK SC Black"/>
              </a:rPr>
              <a:t>数据类型</a:t>
            </a:r>
            <a:endParaRPr lang="en-US" sz="3500" b="0" strike="noStrike" spc="-1">
              <a:latin typeface="Arial" panose="020B0604020202020204"/>
            </a:endParaRPr>
          </a:p>
        </p:txBody>
      </p:sp>
      <p:sp>
        <p:nvSpPr>
          <p:cNvPr id="216" name="任意多边形: 形状 215"/>
          <p:cNvSpPr/>
          <p:nvPr/>
        </p:nvSpPr>
        <p:spPr>
          <a:xfrm flipV="1">
            <a:off x="4068000" y="2627280"/>
            <a:ext cx="234000" cy="755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7" name="矩形 216"/>
          <p:cNvSpPr/>
          <p:nvPr/>
        </p:nvSpPr>
        <p:spPr>
          <a:xfrm>
            <a:off x="3492360" y="1861560"/>
            <a:ext cx="161928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3500" b="0" strike="noStrike" spc="-1">
                <a:solidFill>
                  <a:srgbClr val="000000"/>
                </a:solidFill>
                <a:highlight>
                  <a:srgbClr val="FF4500"/>
                </a:highlight>
                <a:latin typeface="Noto Serif CJK SC Black"/>
                <a:ea typeface="Noto Serif CJK SC Black"/>
              </a:rPr>
              <a:t>数组名</a:t>
            </a:r>
            <a:endParaRPr lang="en-US" sz="3500" b="0" strike="noStrike" spc="-1">
              <a:latin typeface="Arial" panose="020B0604020202020204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4176360" y="4777560"/>
            <a:ext cx="197928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3500" b="0" strike="noStrike" spc="-1">
                <a:solidFill>
                  <a:srgbClr val="000000"/>
                </a:solidFill>
                <a:highlight>
                  <a:srgbClr val="87CEFA"/>
                </a:highlight>
                <a:latin typeface="Noto Serif CJK SC Black"/>
                <a:ea typeface="Noto Serif CJK SC Black"/>
              </a:rPr>
              <a:t>元素数量</a:t>
            </a:r>
            <a:endParaRPr lang="en-US" sz="3500" b="0" strike="noStrike" spc="-1">
              <a:latin typeface="Arial" panose="020B0604020202020204"/>
            </a:endParaRPr>
          </a:p>
        </p:txBody>
      </p:sp>
      <p:sp>
        <p:nvSpPr>
          <p:cNvPr id="219" name="任意多边形: 形状 218"/>
          <p:cNvSpPr/>
          <p:nvPr/>
        </p:nvSpPr>
        <p:spPr>
          <a:xfrm flipH="1">
            <a:off x="5165640" y="4080960"/>
            <a:ext cx="1205280" cy="696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0" name="矩形 219"/>
          <p:cNvSpPr/>
          <p:nvPr/>
        </p:nvSpPr>
        <p:spPr>
          <a:xfrm>
            <a:off x="8856360" y="2041560"/>
            <a:ext cx="206964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3500" b="0" strike="noStrike" spc="-1">
                <a:solidFill>
                  <a:srgbClr val="000000"/>
                </a:solidFill>
                <a:highlight>
                  <a:srgbClr val="ADFF2F"/>
                </a:highlight>
                <a:latin typeface="Noto Serif CJK SC Black"/>
                <a:ea typeface="Noto Serif CJK SC Black"/>
              </a:rPr>
              <a:t>英文 分号</a:t>
            </a:r>
            <a:endParaRPr lang="en-US" sz="3500" b="0" strike="noStrike" spc="-1">
              <a:latin typeface="Arial" panose="020B0604020202020204"/>
            </a:endParaRPr>
          </a:p>
        </p:txBody>
      </p:sp>
      <p:sp>
        <p:nvSpPr>
          <p:cNvPr id="221" name="任意多边形: 形状 220"/>
          <p:cNvSpPr/>
          <p:nvPr/>
        </p:nvSpPr>
        <p:spPr>
          <a:xfrm flipV="1">
            <a:off x="8424360" y="2770560"/>
            <a:ext cx="1466640" cy="960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2" name="矩形 221"/>
          <p:cNvSpPr/>
          <p:nvPr/>
        </p:nvSpPr>
        <p:spPr>
          <a:xfrm>
            <a:off x="7560000" y="3384000"/>
            <a:ext cx="179280" cy="6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5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endParaRPr lang="en-US" sz="3500" b="0" strike="noStrike" spc="-1">
              <a:latin typeface="Arial" panose="020B0604020202020204"/>
            </a:endParaRPr>
          </a:p>
        </p:txBody>
      </p:sp>
      <p:sp>
        <p:nvSpPr>
          <p:cNvPr id="223" name="矩形 222"/>
          <p:cNvSpPr/>
          <p:nvPr/>
        </p:nvSpPr>
        <p:spPr>
          <a:xfrm>
            <a:off x="7740000" y="3407040"/>
            <a:ext cx="539280" cy="6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5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{}</a:t>
            </a:r>
            <a:endParaRPr lang="en-US" sz="3500" b="0" strike="noStrike" spc="-1">
              <a:latin typeface="Arial" panose="020B0604020202020204"/>
            </a:endParaRPr>
          </a:p>
        </p:txBody>
      </p:sp>
      <p:sp>
        <p:nvSpPr>
          <p:cNvPr id="224" name="矩形 223"/>
          <p:cNvSpPr/>
          <p:nvPr/>
        </p:nvSpPr>
        <p:spPr>
          <a:xfrm>
            <a:off x="6372000" y="1836000"/>
            <a:ext cx="107928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3500" b="0" strike="noStrike" spc="-1">
                <a:solidFill>
                  <a:srgbClr val="000000"/>
                </a:solidFill>
                <a:highlight>
                  <a:srgbClr val="FFB6C1"/>
                </a:highlight>
                <a:latin typeface="Noto Serif CJK SC Black"/>
                <a:ea typeface="Noto Serif CJK SC Black"/>
              </a:rPr>
              <a:t>赋值</a:t>
            </a:r>
            <a:endParaRPr lang="en-US" sz="3500" b="0" strike="noStrike" spc="-1">
              <a:latin typeface="Arial" panose="020B0604020202020204"/>
            </a:endParaRPr>
          </a:p>
        </p:txBody>
      </p:sp>
      <p:sp>
        <p:nvSpPr>
          <p:cNvPr id="225" name="任意多边形: 形状 224"/>
          <p:cNvSpPr/>
          <p:nvPr/>
        </p:nvSpPr>
        <p:spPr>
          <a:xfrm flipH="1" flipV="1">
            <a:off x="6911280" y="2601720"/>
            <a:ext cx="737640" cy="781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6" name="矩形 225"/>
          <p:cNvSpPr/>
          <p:nvPr/>
        </p:nvSpPr>
        <p:spPr>
          <a:xfrm>
            <a:off x="6840000" y="4752000"/>
            <a:ext cx="197928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3500" b="0" strike="noStrike" spc="-1">
                <a:solidFill>
                  <a:srgbClr val="000000"/>
                </a:solidFill>
                <a:highlight>
                  <a:srgbClr val="8A2BE2"/>
                </a:highlight>
                <a:latin typeface="Noto Serif CJK SC Black"/>
                <a:ea typeface="Noto Serif CJK SC Black"/>
              </a:rPr>
              <a:t>数组内容</a:t>
            </a:r>
            <a:endParaRPr lang="en-US" sz="3500" b="0" strike="noStrike" spc="-1">
              <a:latin typeface="Arial" panose="020B0604020202020204"/>
            </a:endParaRPr>
          </a:p>
        </p:txBody>
      </p:sp>
      <p:sp>
        <p:nvSpPr>
          <p:cNvPr id="227" name="任意多边形: 形状 226"/>
          <p:cNvSpPr/>
          <p:nvPr/>
        </p:nvSpPr>
        <p:spPr>
          <a:xfrm flipH="1">
            <a:off x="7829280" y="4104000"/>
            <a:ext cx="179640" cy="647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8" name="矩形 227"/>
          <p:cNvSpPr/>
          <p:nvPr/>
        </p:nvSpPr>
        <p:spPr>
          <a:xfrm>
            <a:off x="9395640" y="4787640"/>
            <a:ext cx="1619280" cy="131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8A2BE2"/>
                </a:highlight>
                <a:latin typeface="Arial" panose="020B0604020202020204"/>
                <a:ea typeface="DejaVu Sans"/>
              </a:rPr>
              <a:t>Tip:	</a:t>
            </a:r>
            <a:r>
              <a:rPr lang="zh-CN" sz="1800" b="0" strike="noStrike" spc="-1" dirty="0">
                <a:solidFill>
                  <a:srgbClr val="000000"/>
                </a:solidFill>
                <a:highlight>
                  <a:srgbClr val="8A2BE2"/>
                </a:highlight>
                <a:latin typeface="Arial" panose="020B0604020202020204"/>
                <a:ea typeface="DejaVu Sans"/>
              </a:rPr>
              <a:t>数组中，两个数据</a:t>
            </a:r>
            <a:endParaRPr lang="en-US" sz="4000" b="0" strike="noStrike" spc="-1" dirty="0">
              <a:latin typeface="Arial" panose="020B0604020202020204"/>
            </a:endParaRPr>
          </a:p>
        </p:txBody>
      </p:sp>
      <p:sp>
        <p:nvSpPr>
          <p:cNvPr id="229" name="任意多边形: 形状 228"/>
          <p:cNvSpPr/>
          <p:nvPr/>
        </p:nvSpPr>
        <p:spPr>
          <a:xfrm>
            <a:off x="8820000" y="5117040"/>
            <a:ext cx="575640" cy="6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文本占位符 10"/>
          <p:cNvSpPr/>
          <p:nvPr/>
        </p:nvSpPr>
        <p:spPr>
          <a:xfrm>
            <a:off x="910800" y="180360"/>
            <a:ext cx="4878720" cy="4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sz="2800" b="1" strike="noStrike" spc="-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知识引入</a:t>
            </a:r>
            <a:endParaRPr lang="en-US" sz="2800" b="0" strike="noStrike" spc="-1">
              <a:latin typeface="Arial" panose="020B0604020202020204"/>
            </a:endParaRPr>
          </a:p>
        </p:txBody>
      </p:sp>
      <p:pic>
        <p:nvPicPr>
          <p:cNvPr id="231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540000" y="3060000"/>
            <a:ext cx="1656000" cy="1346400"/>
          </a:xfrm>
          <a:prstGeom prst="rect">
            <a:avLst/>
          </a:prstGeom>
          <a:ln w="0">
            <a:noFill/>
          </a:ln>
        </p:spPr>
      </p:pic>
      <p:sp>
        <p:nvSpPr>
          <p:cNvPr id="232" name="对话气泡: 椭圆形 231"/>
          <p:cNvSpPr/>
          <p:nvPr/>
        </p:nvSpPr>
        <p:spPr>
          <a:xfrm>
            <a:off x="1837440" y="1080000"/>
            <a:ext cx="5001120" cy="1678680"/>
          </a:xfrm>
          <a:prstGeom prst="wedgeEllipseCallout">
            <a:avLst>
              <a:gd name="adj1" fmla="val -42217"/>
              <a:gd name="adj2" fmla="val 87231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2000" b="1" strike="noStrike" spc="-1" dirty="0">
                <a:solidFill>
                  <a:srgbClr val="000000"/>
                </a:solidFill>
                <a:latin typeface="Arial" panose="020B0604020202020204"/>
                <a:ea typeface="DejaVu Sans"/>
              </a:rPr>
              <a:t>学校领导向我们询问</a:t>
            </a:r>
            <a:r>
              <a:rPr lang="zh-CN" altLang="en-US" sz="2000" b="1" strike="noStrike" spc="-1" dirty="0">
                <a:solidFill>
                  <a:srgbClr val="000000"/>
                </a:solidFill>
                <a:latin typeface="Arial" panose="020B0604020202020204"/>
                <a:ea typeface="DejaVu Sans"/>
              </a:rPr>
              <a:t>某</a:t>
            </a:r>
            <a:r>
              <a:rPr lang="zh-CN" sz="2000" b="1" strike="noStrike" spc="-1" dirty="0">
                <a:solidFill>
                  <a:srgbClr val="000000"/>
                </a:solidFill>
                <a:latin typeface="Arial" panose="020B0604020202020204"/>
                <a:ea typeface="DejaVu Sans"/>
              </a:rPr>
              <a:t>班级的人数，</a:t>
            </a:r>
            <a:r>
              <a:rPr lang="zh-CN" altLang="en-US" sz="2000" b="1" spc="-1" dirty="0">
                <a:solidFill>
                  <a:srgbClr val="000000"/>
                </a:solidFill>
                <a:latin typeface="Arial" panose="020B0604020202020204"/>
                <a:ea typeface="DejaVu Sans"/>
              </a:rPr>
              <a:t>如何</a:t>
            </a:r>
            <a:r>
              <a:rPr lang="zh-CN" sz="2000" b="1" strike="noStrike" spc="-1" dirty="0">
                <a:solidFill>
                  <a:srgbClr val="000000"/>
                </a:solidFill>
                <a:latin typeface="Arial" panose="020B0604020202020204"/>
                <a:ea typeface="DejaVu Sans"/>
              </a:rPr>
              <a:t>展示给领导看呢</a:t>
            </a:r>
            <a:endParaRPr lang="en-US" sz="2000" b="0" strike="noStrike" spc="-1" dirty="0">
              <a:latin typeface="Arial" panose="020B0604020202020204"/>
            </a:endParaRPr>
          </a:p>
        </p:txBody>
      </p:sp>
      <p:sp>
        <p:nvSpPr>
          <p:cNvPr id="233" name="矩形 232"/>
          <p:cNvSpPr/>
          <p:nvPr/>
        </p:nvSpPr>
        <p:spPr>
          <a:xfrm>
            <a:off x="5040000" y="3060000"/>
            <a:ext cx="6478560" cy="89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4000" b="0" strike="noStrike" spc="-1" dirty="0">
                <a:solidFill>
                  <a:srgbClr val="000000"/>
                </a:solidFill>
                <a:latin typeface="Arial" panose="020B0604020202020204"/>
                <a:ea typeface="DejaVu Sans"/>
              </a:rPr>
              <a:t>如何去访问数组的数据呢​​？</a:t>
            </a:r>
            <a:endParaRPr lang="en-US" sz="4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文本占位符 7"/>
          <p:cNvSpPr/>
          <p:nvPr/>
        </p:nvSpPr>
        <p:spPr>
          <a:xfrm>
            <a:off x="910800" y="180360"/>
            <a:ext cx="4878720" cy="4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sz="2800" b="1" strike="noStrike" spc="-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知识引入</a:t>
            </a:r>
            <a:endParaRPr lang="en-US" sz="2800" b="0" strike="noStrike" spc="-1">
              <a:latin typeface="Arial" panose="020B0604020202020204"/>
            </a:endParaRPr>
          </a:p>
        </p:txBody>
      </p:sp>
      <p:sp>
        <p:nvSpPr>
          <p:cNvPr id="235" name="椭圆 234"/>
          <p:cNvSpPr/>
          <p:nvPr/>
        </p:nvSpPr>
        <p:spPr>
          <a:xfrm>
            <a:off x="1260360" y="1188360"/>
            <a:ext cx="358560" cy="358560"/>
          </a:xfrm>
          <a:prstGeom prst="ellipse">
            <a:avLst/>
          </a:prstGeom>
          <a:solidFill>
            <a:srgbClr val="00A0F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6" name="矩形 235"/>
          <p:cNvSpPr/>
          <p:nvPr/>
        </p:nvSpPr>
        <p:spPr>
          <a:xfrm>
            <a:off x="1800000" y="1041840"/>
            <a:ext cx="377856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4000" b="1" strike="noStrike" spc="-1">
                <a:solidFill>
                  <a:srgbClr val="000000"/>
                </a:solidFill>
                <a:latin typeface="文泉驿微米黑"/>
                <a:ea typeface="文泉驿微米黑"/>
              </a:rPr>
              <a:t>数组的元素访问</a:t>
            </a:r>
            <a:endParaRPr lang="en-US" sz="4000" b="0" strike="noStrike" spc="-1">
              <a:latin typeface="Arial" panose="020B0604020202020204"/>
            </a:endParaRPr>
          </a:p>
        </p:txBody>
      </p:sp>
      <p:sp>
        <p:nvSpPr>
          <p:cNvPr id="237" name="矩形 236"/>
          <p:cNvSpPr/>
          <p:nvPr/>
        </p:nvSpPr>
        <p:spPr>
          <a:xfrm>
            <a:off x="1620000" y="1872000"/>
            <a:ext cx="8998920" cy="125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3000" b="0" strike="noStrike" spc="-1">
                <a:solidFill>
                  <a:srgbClr val="000000"/>
                </a:solidFill>
                <a:latin typeface="Noto Serif CJK SC Black"/>
                <a:ea typeface="Noto Serif CJK SC Black"/>
              </a:rPr>
              <a:t>数组元素可以通过数组名称加索引进行访问。元素的索引是放在方括号内，跟在数组名称的后边。</a:t>
            </a:r>
            <a:endParaRPr lang="en-US" sz="3000" b="0" strike="noStrike" spc="-1">
              <a:latin typeface="Arial" panose="020B0604020202020204"/>
            </a:endParaRPr>
          </a:p>
        </p:txBody>
      </p:sp>
      <p:pic>
        <p:nvPicPr>
          <p:cNvPr id="238" name="图片 237"/>
          <p:cNvPicPr/>
          <p:nvPr/>
        </p:nvPicPr>
        <p:blipFill>
          <a:blip r:embed="rId1"/>
          <a:srcRect b="84068"/>
          <a:stretch>
            <a:fillRect/>
          </a:stretch>
        </p:blipFill>
        <p:spPr>
          <a:xfrm>
            <a:off x="7884000" y="5028480"/>
            <a:ext cx="2699280" cy="419760"/>
          </a:xfrm>
          <a:prstGeom prst="rect">
            <a:avLst/>
          </a:prstGeom>
          <a:ln w="0">
            <a:noFill/>
          </a:ln>
        </p:spPr>
      </p:pic>
      <p:pic>
        <p:nvPicPr>
          <p:cNvPr id="239" name="图片 238"/>
          <p:cNvPicPr/>
          <p:nvPr/>
        </p:nvPicPr>
        <p:blipFill>
          <a:blip r:embed="rId2"/>
          <a:srcRect b="77369"/>
          <a:stretch>
            <a:fillRect/>
          </a:stretch>
        </p:blipFill>
        <p:spPr>
          <a:xfrm>
            <a:off x="6669000" y="3348000"/>
            <a:ext cx="5174280" cy="898920"/>
          </a:xfrm>
          <a:prstGeom prst="rect">
            <a:avLst/>
          </a:prstGeom>
          <a:ln w="0">
            <a:noFill/>
          </a:ln>
        </p:spPr>
      </p:pic>
      <p:sp>
        <p:nvSpPr>
          <p:cNvPr id="240" name="矩形 239"/>
          <p:cNvSpPr/>
          <p:nvPr/>
        </p:nvSpPr>
        <p:spPr>
          <a:xfrm>
            <a:off x="1764000" y="4118040"/>
            <a:ext cx="179928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500" b="0" strike="noStrike" spc="-1">
                <a:solidFill>
                  <a:srgbClr val="000000"/>
                </a:solidFill>
                <a:highlight>
                  <a:srgbClr val="FF45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arrayName</a:t>
            </a:r>
            <a:endParaRPr lang="en-US" sz="2500" b="0" strike="noStrike" spc="-1">
              <a:solidFill>
                <a:srgbClr val="000000"/>
              </a:solidFill>
              <a:highlight>
                <a:srgbClr val="FF45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任意多边形: 形状 240"/>
          <p:cNvSpPr/>
          <p:nvPr/>
        </p:nvSpPr>
        <p:spPr>
          <a:xfrm flipH="1" flipV="1">
            <a:off x="1997280" y="3779640"/>
            <a:ext cx="66564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2" name="矩形 241"/>
          <p:cNvSpPr/>
          <p:nvPr/>
        </p:nvSpPr>
        <p:spPr>
          <a:xfrm>
            <a:off x="1188000" y="3235680"/>
            <a:ext cx="16192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2500" b="0" strike="noStrike" spc="-1">
                <a:solidFill>
                  <a:srgbClr val="000000"/>
                </a:solidFill>
                <a:highlight>
                  <a:srgbClr val="FF4500"/>
                </a:highlight>
                <a:latin typeface="Noto Serif CJK SC Black"/>
                <a:ea typeface="Noto Serif CJK SC Black"/>
              </a:rPr>
              <a:t>数组名</a:t>
            </a:r>
            <a:endParaRPr lang="en-US" sz="2500" b="0" strike="noStrike" spc="-1">
              <a:latin typeface="Arial" panose="020B0604020202020204"/>
            </a:endParaRPr>
          </a:p>
        </p:txBody>
      </p:sp>
      <p:sp>
        <p:nvSpPr>
          <p:cNvPr id="243" name="矩形 242"/>
          <p:cNvSpPr/>
          <p:nvPr/>
        </p:nvSpPr>
        <p:spPr>
          <a:xfrm>
            <a:off x="3420000" y="4118040"/>
            <a:ext cx="107928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500" b="0" strike="noStrike" spc="-1">
                <a:solidFill>
                  <a:srgbClr val="000000"/>
                </a:solidFill>
                <a:highlight>
                  <a:srgbClr val="ADFF2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[num]</a:t>
            </a:r>
            <a:endParaRPr lang="en-US" sz="2500" b="0" strike="noStrike" spc="-1">
              <a:solidFill>
                <a:srgbClr val="000000"/>
              </a:solidFill>
              <a:highlight>
                <a:srgbClr val="ADFF2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4" name="矩形 243"/>
          <p:cNvSpPr/>
          <p:nvPr/>
        </p:nvSpPr>
        <p:spPr>
          <a:xfrm>
            <a:off x="3348000" y="5359320"/>
            <a:ext cx="8992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2500" b="0" strike="noStrike" spc="-1">
                <a:solidFill>
                  <a:srgbClr val="000000"/>
                </a:solidFill>
                <a:highlight>
                  <a:srgbClr val="ADFF2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序号</a:t>
            </a:r>
            <a:endParaRPr lang="zh-CN" sz="2500" b="0" strike="noStrike" spc="-1">
              <a:solidFill>
                <a:srgbClr val="000000"/>
              </a:solidFill>
              <a:highlight>
                <a:srgbClr val="ADFF2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" name="任意多边形: 形状 244"/>
          <p:cNvSpPr/>
          <p:nvPr/>
        </p:nvSpPr>
        <p:spPr>
          <a:xfrm flipH="1">
            <a:off x="3797280" y="4639680"/>
            <a:ext cx="161640" cy="719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6" name="矩形 245"/>
          <p:cNvSpPr/>
          <p:nvPr/>
        </p:nvSpPr>
        <p:spPr>
          <a:xfrm>
            <a:off x="4356000" y="4114440"/>
            <a:ext cx="287280" cy="61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500" b="0" strike="noStrike" spc="-1">
                <a:solidFill>
                  <a:srgbClr val="000000"/>
                </a:solidFill>
                <a:highlight>
                  <a:srgbClr val="87CEFA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sz="2500" b="0" strike="noStrike" spc="-1">
              <a:solidFill>
                <a:srgbClr val="000000"/>
              </a:solidFill>
              <a:highlight>
                <a:srgbClr val="87CEFA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7" name="矩形 246"/>
          <p:cNvSpPr/>
          <p:nvPr/>
        </p:nvSpPr>
        <p:spPr>
          <a:xfrm>
            <a:off x="4805640" y="3203640"/>
            <a:ext cx="15256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2500" b="0" strike="noStrike" spc="-1">
                <a:solidFill>
                  <a:srgbClr val="000000"/>
                </a:solidFill>
                <a:highlight>
                  <a:srgbClr val="87CEFA"/>
                </a:highlight>
                <a:latin typeface="Noto Serif CJK SC Black"/>
                <a:ea typeface="Noto Serif CJK SC Black"/>
              </a:rPr>
              <a:t>英文 分号</a:t>
            </a:r>
            <a:endParaRPr lang="en-US" sz="2500" b="0" strike="noStrike" spc="-1">
              <a:latin typeface="Arial" panose="020B0604020202020204"/>
            </a:endParaRPr>
          </a:p>
        </p:txBody>
      </p:sp>
      <p:sp>
        <p:nvSpPr>
          <p:cNvPr id="248" name="任意多边形: 形状 247"/>
          <p:cNvSpPr/>
          <p:nvPr/>
        </p:nvSpPr>
        <p:spPr>
          <a:xfrm flipV="1">
            <a:off x="4644000" y="3747600"/>
            <a:ext cx="924480" cy="671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文本占位符 8"/>
          <p:cNvSpPr/>
          <p:nvPr/>
        </p:nvSpPr>
        <p:spPr>
          <a:xfrm>
            <a:off x="910800" y="180720"/>
            <a:ext cx="4878720" cy="4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sz="2800" b="1" strike="noStrike" spc="-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知识引入</a:t>
            </a:r>
            <a:endParaRPr lang="zh-CN" sz="2800" b="1" strike="noStrike" spc="-1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0" name="矩形 249"/>
          <p:cNvSpPr/>
          <p:nvPr/>
        </p:nvSpPr>
        <p:spPr>
          <a:xfrm>
            <a:off x="900360" y="1065240"/>
            <a:ext cx="4498560" cy="73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3500" b="1" strike="noStrike" spc="-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修改班级人数</a:t>
            </a:r>
            <a:endParaRPr lang="zh-CN" sz="3500" b="1" strike="noStrike" spc="-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1" name="矩形 250"/>
          <p:cNvSpPr/>
          <p:nvPr/>
        </p:nvSpPr>
        <p:spPr>
          <a:xfrm>
            <a:off x="2806920" y="1872000"/>
            <a:ext cx="1798920" cy="54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500" b="0" strike="noStrike" spc="-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sz="2500" b="0" strike="noStrike" spc="-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班的人数</a:t>
            </a:r>
            <a:endParaRPr lang="en-US" sz="2500" b="0" strike="noStrike" spc="-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5092560" y="1906560"/>
            <a:ext cx="898920" cy="45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35</a:t>
            </a:r>
            <a:r>
              <a:rPr lang="zh-CN" sz="2000" b="0" strike="noStrike" spc="-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</a:t>
            </a:r>
            <a:endParaRPr lang="en-US" sz="2000" b="0" strike="noStrike" spc="-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3" name="任意多边形: 形状 252"/>
          <p:cNvSpPr/>
          <p:nvPr/>
        </p:nvSpPr>
        <p:spPr>
          <a:xfrm>
            <a:off x="6190920" y="2124000"/>
            <a:ext cx="15400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4" name="矩形 253"/>
          <p:cNvSpPr/>
          <p:nvPr/>
        </p:nvSpPr>
        <p:spPr>
          <a:xfrm>
            <a:off x="8028000" y="1874520"/>
            <a:ext cx="898920" cy="45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sz="2000" b="0" strike="noStrike" spc="-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</a:t>
            </a:r>
            <a:endParaRPr lang="en-US" sz="2000" b="0" strike="noStrike" spc="-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5" name="椭圆 254"/>
          <p:cNvSpPr/>
          <p:nvPr/>
        </p:nvSpPr>
        <p:spPr>
          <a:xfrm>
            <a:off x="1260000" y="1224000"/>
            <a:ext cx="358560" cy="358560"/>
          </a:xfrm>
          <a:prstGeom prst="ellipse">
            <a:avLst/>
          </a:prstGeom>
          <a:solidFill>
            <a:srgbClr val="00A0F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56" name="图片 255"/>
          <p:cNvPicPr/>
          <p:nvPr/>
        </p:nvPicPr>
        <p:blipFill>
          <a:blip r:embed="rId1"/>
          <a:stretch>
            <a:fillRect/>
          </a:stretch>
        </p:blipFill>
        <p:spPr>
          <a:xfrm>
            <a:off x="2448000" y="2448000"/>
            <a:ext cx="6772680" cy="821880"/>
          </a:xfrm>
          <a:prstGeom prst="rect">
            <a:avLst/>
          </a:prstGeom>
          <a:ln w="0">
            <a:noFill/>
          </a:ln>
        </p:spPr>
      </p:pic>
      <p:pic>
        <p:nvPicPr>
          <p:cNvPr id="257" name="图片 256"/>
          <p:cNvPicPr/>
          <p:nvPr/>
        </p:nvPicPr>
        <p:blipFill>
          <a:blip r:embed="rId2"/>
          <a:stretch>
            <a:fillRect/>
          </a:stretch>
        </p:blipFill>
        <p:spPr>
          <a:xfrm>
            <a:off x="6192000" y="3744000"/>
            <a:ext cx="4952880" cy="1282680"/>
          </a:xfrm>
          <a:prstGeom prst="rect">
            <a:avLst/>
          </a:prstGeom>
          <a:ln w="0">
            <a:noFill/>
          </a:ln>
        </p:spPr>
      </p:pic>
      <p:pic>
        <p:nvPicPr>
          <p:cNvPr id="258" name="图片 257"/>
          <p:cNvPicPr/>
          <p:nvPr/>
        </p:nvPicPr>
        <p:blipFill>
          <a:blip r:embed="rId3"/>
          <a:srcRect t="11377" b="8982"/>
          <a:stretch>
            <a:fillRect/>
          </a:stretch>
        </p:blipFill>
        <p:spPr>
          <a:xfrm>
            <a:off x="6156000" y="5313240"/>
            <a:ext cx="5039280" cy="446040"/>
          </a:xfrm>
          <a:prstGeom prst="rect">
            <a:avLst/>
          </a:prstGeom>
          <a:ln w="0">
            <a:noFill/>
          </a:ln>
        </p:spPr>
      </p:pic>
      <p:sp>
        <p:nvSpPr>
          <p:cNvPr id="259" name="矩形 258"/>
          <p:cNvSpPr/>
          <p:nvPr/>
        </p:nvSpPr>
        <p:spPr>
          <a:xfrm>
            <a:off x="1296000" y="4338360"/>
            <a:ext cx="179928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500" b="0" strike="noStrike" spc="-1">
                <a:solidFill>
                  <a:srgbClr val="000000"/>
                </a:solidFill>
                <a:highlight>
                  <a:srgbClr val="FF45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arrayName</a:t>
            </a:r>
            <a:endParaRPr lang="en-US" sz="2500" b="0" strike="noStrike" spc="-1">
              <a:solidFill>
                <a:srgbClr val="000000"/>
              </a:solidFill>
              <a:highlight>
                <a:srgbClr val="FF45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任意多边形: 形状 259"/>
          <p:cNvSpPr/>
          <p:nvPr/>
        </p:nvSpPr>
        <p:spPr>
          <a:xfrm flipH="1" flipV="1">
            <a:off x="1529280" y="3999960"/>
            <a:ext cx="66564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1" name="矩形 260"/>
          <p:cNvSpPr/>
          <p:nvPr/>
        </p:nvSpPr>
        <p:spPr>
          <a:xfrm>
            <a:off x="720000" y="3456000"/>
            <a:ext cx="16192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2500" b="0" strike="noStrike" spc="-1">
                <a:solidFill>
                  <a:srgbClr val="000000"/>
                </a:solidFill>
                <a:highlight>
                  <a:srgbClr val="FF45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数组名</a:t>
            </a:r>
            <a:endParaRPr lang="zh-CN" sz="2500" b="0" strike="noStrike" spc="-1">
              <a:solidFill>
                <a:srgbClr val="000000"/>
              </a:solidFill>
              <a:highlight>
                <a:srgbClr val="FF45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2" name="矩形 261"/>
          <p:cNvSpPr/>
          <p:nvPr/>
        </p:nvSpPr>
        <p:spPr>
          <a:xfrm>
            <a:off x="2952000" y="4338360"/>
            <a:ext cx="107928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500" b="0" strike="noStrike" spc="-1">
                <a:solidFill>
                  <a:srgbClr val="000000"/>
                </a:solidFill>
                <a:highlight>
                  <a:srgbClr val="ADFF2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[num]</a:t>
            </a:r>
            <a:endParaRPr lang="en-US" sz="2500" b="0" strike="noStrike" spc="-1">
              <a:solidFill>
                <a:srgbClr val="000000"/>
              </a:solidFill>
              <a:highlight>
                <a:srgbClr val="ADFF2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3" name="矩形 262"/>
          <p:cNvSpPr/>
          <p:nvPr/>
        </p:nvSpPr>
        <p:spPr>
          <a:xfrm>
            <a:off x="3960000" y="4338360"/>
            <a:ext cx="17928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500" b="0" strike="noStrike" spc="-1">
                <a:solidFill>
                  <a:srgbClr val="000000"/>
                </a:solidFill>
                <a:highlight>
                  <a:srgbClr val="FFB6C1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endParaRPr lang="en-US" sz="2500" b="0" strike="noStrike" spc="-1">
              <a:solidFill>
                <a:srgbClr val="000000"/>
              </a:solidFill>
              <a:highlight>
                <a:srgbClr val="FFB6C1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4284000" y="4320000"/>
            <a:ext cx="1792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2500" b="0" strike="noStrike" spc="-1">
                <a:solidFill>
                  <a:srgbClr val="000000"/>
                </a:solidFill>
                <a:highlight>
                  <a:srgbClr val="87CEFA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endParaRPr lang="zh-CN" sz="2500" b="0" strike="noStrike" spc="-1">
              <a:solidFill>
                <a:srgbClr val="000000"/>
              </a:solidFill>
              <a:highlight>
                <a:srgbClr val="87CEFA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5" name="矩形 264"/>
          <p:cNvSpPr/>
          <p:nvPr/>
        </p:nvSpPr>
        <p:spPr>
          <a:xfrm>
            <a:off x="2232000" y="5508000"/>
            <a:ext cx="8992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2500" b="0" strike="noStrike" spc="-1">
                <a:solidFill>
                  <a:srgbClr val="000000"/>
                </a:solidFill>
                <a:highlight>
                  <a:srgbClr val="ADFF2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序号</a:t>
            </a:r>
            <a:endParaRPr lang="zh-CN" sz="2500" b="0" strike="noStrike" spc="-1">
              <a:solidFill>
                <a:srgbClr val="000000"/>
              </a:solidFill>
              <a:highlight>
                <a:srgbClr val="ADFF2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" name="任意多边形: 形状 265"/>
          <p:cNvSpPr/>
          <p:nvPr/>
        </p:nvSpPr>
        <p:spPr>
          <a:xfrm flipH="1">
            <a:off x="2681280" y="4860000"/>
            <a:ext cx="809640" cy="647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7" name="矩形 266"/>
          <p:cNvSpPr/>
          <p:nvPr/>
        </p:nvSpPr>
        <p:spPr>
          <a:xfrm>
            <a:off x="3096000" y="3420000"/>
            <a:ext cx="8992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2500" b="0" strike="noStrike" spc="-1">
                <a:solidFill>
                  <a:srgbClr val="000000"/>
                </a:solidFill>
                <a:highlight>
                  <a:srgbClr val="FFB6C1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赋值</a:t>
            </a:r>
            <a:endParaRPr lang="zh-CN" sz="2500" b="0" strike="noStrike" spc="-1">
              <a:solidFill>
                <a:srgbClr val="000000"/>
              </a:solidFill>
              <a:highlight>
                <a:srgbClr val="FFB6C1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8" name="任意多边形: 形状 267"/>
          <p:cNvSpPr/>
          <p:nvPr/>
        </p:nvSpPr>
        <p:spPr>
          <a:xfrm flipH="1" flipV="1">
            <a:off x="3545280" y="3963960"/>
            <a:ext cx="503640" cy="373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9" name="矩形 268"/>
          <p:cNvSpPr/>
          <p:nvPr/>
        </p:nvSpPr>
        <p:spPr>
          <a:xfrm>
            <a:off x="4464000" y="5364000"/>
            <a:ext cx="8992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2500" b="0" strike="noStrike" spc="-1">
                <a:solidFill>
                  <a:srgbClr val="000000"/>
                </a:solidFill>
                <a:highlight>
                  <a:srgbClr val="87CEFA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sz="2500" b="0" strike="noStrike" spc="-1">
              <a:solidFill>
                <a:srgbClr val="000000"/>
              </a:solidFill>
              <a:highlight>
                <a:srgbClr val="87CEFA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0" name="任意多边形: 形状 269"/>
          <p:cNvSpPr/>
          <p:nvPr/>
        </p:nvSpPr>
        <p:spPr>
          <a:xfrm>
            <a:off x="4374000" y="4864680"/>
            <a:ext cx="539640" cy="498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2853000" y="0"/>
            <a:ext cx="9337320" cy="6856200"/>
          </a:xfrm>
          <a:prstGeom prst="rect">
            <a:avLst/>
          </a:prstGeom>
          <a:ln w="0">
            <a:noFill/>
          </a:ln>
        </p:spPr>
      </p:pic>
      <p:sp>
        <p:nvSpPr>
          <p:cNvPr id="272" name="任意多边形 13"/>
          <p:cNvSpPr/>
          <p:nvPr/>
        </p:nvSpPr>
        <p:spPr>
          <a:xfrm>
            <a:off x="2888280" y="0"/>
            <a:ext cx="7657200" cy="6856200"/>
          </a:xfrm>
          <a:custGeom>
            <a:avLst/>
            <a:gdLst/>
            <a:ahLst/>
            <a:cxnLst/>
            <a:rect l="l" t="t" r="r" b="b"/>
            <a:pathLst>
              <a:path w="7658962" h="6858000">
                <a:moveTo>
                  <a:pt x="0" y="0"/>
                </a:moveTo>
                <a:lnTo>
                  <a:pt x="831578" y="0"/>
                </a:lnTo>
                <a:lnTo>
                  <a:pt x="7658962" y="6858000"/>
                </a:lnTo>
                <a:lnTo>
                  <a:pt x="6844042" y="6858000"/>
                </a:lnTo>
                <a:close/>
              </a:path>
            </a:pathLst>
          </a:custGeom>
          <a:solidFill>
            <a:srgbClr val="E86713">
              <a:alpha val="50000"/>
            </a:srgbClr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3" name="任意多边形 11"/>
          <p:cNvSpPr/>
          <p:nvPr/>
        </p:nvSpPr>
        <p:spPr>
          <a:xfrm>
            <a:off x="2818440" y="0"/>
            <a:ext cx="7142040" cy="6856200"/>
          </a:xfrm>
          <a:custGeom>
            <a:avLst/>
            <a:gdLst/>
            <a:ahLst/>
            <a:cxnLst/>
            <a:rect l="l" t="t" r="r" b="b"/>
            <a:pathLst>
              <a:path w="7143810" h="6858000">
                <a:moveTo>
                  <a:pt x="0" y="0"/>
                </a:moveTo>
                <a:lnTo>
                  <a:pt x="299769" y="0"/>
                </a:lnTo>
                <a:lnTo>
                  <a:pt x="7143810" y="6858000"/>
                </a:lnTo>
                <a:lnTo>
                  <a:pt x="6844041" y="6858000"/>
                </a:lnTo>
                <a:close/>
              </a:path>
            </a:pathLst>
          </a:custGeom>
          <a:solidFill>
            <a:srgbClr val="1163AF"/>
          </a:solidFill>
          <a:ln w="25560">
            <a:noFill/>
          </a:ln>
          <a:effectLst>
            <a:outerShdw blurRad="127080" dist="37674" dir="8100000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4" name="矩形 18"/>
          <p:cNvSpPr/>
          <p:nvPr/>
        </p:nvSpPr>
        <p:spPr>
          <a:xfrm>
            <a:off x="2056320" y="1838520"/>
            <a:ext cx="1801080" cy="184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500" b="0" strike="noStrike" spc="-1">
                <a:solidFill>
                  <a:srgbClr val="1163AF"/>
                </a:solidFill>
                <a:latin typeface="Agency FB" panose="020B0503020202020204"/>
                <a:ea typeface="微软雅黑" panose="020B0503020204020204" pitchFamily="34" charset="-122"/>
              </a:rPr>
              <a:t>03</a:t>
            </a:r>
            <a:endParaRPr lang="en-US" sz="11500" b="0" strike="noStrike" spc="-1">
              <a:latin typeface="Arial" panose="020B0604020202020204"/>
            </a:endParaRPr>
          </a:p>
        </p:txBody>
      </p:sp>
      <p:sp>
        <p:nvSpPr>
          <p:cNvPr id="275" name="矩形 27"/>
          <p:cNvSpPr/>
          <p:nvPr/>
        </p:nvSpPr>
        <p:spPr>
          <a:xfrm>
            <a:off x="730800" y="2576520"/>
            <a:ext cx="143712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b="0" strike="noStrike" spc="-1">
                <a:solidFill>
                  <a:srgbClr val="595959"/>
                </a:solidFill>
                <a:latin typeface="Arial" panose="020B0604020202020204"/>
                <a:ea typeface="微软雅黑" panose="020B0503020204020204" pitchFamily="34" charset="-122"/>
              </a:rPr>
              <a:t>Part</a:t>
            </a:r>
            <a:endParaRPr lang="en-US" sz="5400" b="0" strike="noStrike" spc="-1">
              <a:latin typeface="Arial" panose="020B0604020202020204"/>
            </a:endParaRPr>
          </a:p>
        </p:txBody>
      </p:sp>
      <p:sp>
        <p:nvSpPr>
          <p:cNvPr id="276" name="文本框 30"/>
          <p:cNvSpPr/>
          <p:nvPr/>
        </p:nvSpPr>
        <p:spPr>
          <a:xfrm>
            <a:off x="723240" y="3977280"/>
            <a:ext cx="3960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sz="3600" b="1" strike="noStrike" spc="-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项目搭建</a:t>
            </a:r>
            <a:endParaRPr lang="en-US" sz="3600" b="0" strike="noStrike" spc="-1">
              <a:latin typeface="Arial" panose="020B0604020202020204"/>
            </a:endParaRPr>
          </a:p>
        </p:txBody>
      </p:sp>
      <p:sp>
        <p:nvSpPr>
          <p:cNvPr id="277" name="直接连接符 32"/>
          <p:cNvSpPr/>
          <p:nvPr/>
        </p:nvSpPr>
        <p:spPr>
          <a:xfrm>
            <a:off x="812880" y="4638600"/>
            <a:ext cx="5940000" cy="360"/>
          </a:xfrm>
          <a:prstGeom prst="line">
            <a:avLst/>
          </a:prstGeom>
          <a:ln w="12600">
            <a:solidFill>
              <a:srgbClr val="BFBFB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8" name="等腰三角形 37"/>
          <p:cNvSpPr/>
          <p:nvPr/>
        </p:nvSpPr>
        <p:spPr>
          <a:xfrm>
            <a:off x="5703840" y="4510440"/>
            <a:ext cx="496440" cy="124920"/>
          </a:xfrm>
          <a:prstGeom prst="triangle">
            <a:avLst>
              <a:gd name="adj" fmla="val 50000"/>
            </a:avLst>
          </a:prstGeom>
          <a:solidFill>
            <a:srgbClr val="1163A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9" name="等腰三角形 38"/>
          <p:cNvSpPr/>
          <p:nvPr/>
        </p:nvSpPr>
        <p:spPr>
          <a:xfrm>
            <a:off x="5904000" y="4421160"/>
            <a:ext cx="496440" cy="214200"/>
          </a:xfrm>
          <a:prstGeom prst="triangle">
            <a:avLst>
              <a:gd name="adj" fmla="val 50000"/>
            </a:avLst>
          </a:prstGeom>
          <a:solidFill>
            <a:srgbClr val="E8671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0" name="等腰三角形 39"/>
          <p:cNvSpPr/>
          <p:nvPr/>
        </p:nvSpPr>
        <p:spPr>
          <a:xfrm>
            <a:off x="6264360" y="4575240"/>
            <a:ext cx="496440" cy="59760"/>
          </a:xfrm>
          <a:prstGeom prst="triangle">
            <a:avLst>
              <a:gd name="adj" fmla="val 50000"/>
            </a:avLst>
          </a:prstGeom>
          <a:solidFill>
            <a:srgbClr val="268D3A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1" name="等腰三角形 40"/>
          <p:cNvSpPr/>
          <p:nvPr/>
        </p:nvSpPr>
        <p:spPr>
          <a:xfrm>
            <a:off x="6053400" y="4531680"/>
            <a:ext cx="496440" cy="103320"/>
          </a:xfrm>
          <a:prstGeom prst="triangle">
            <a:avLst>
              <a:gd name="adj" fmla="val 50000"/>
            </a:avLst>
          </a:prstGeom>
          <a:solidFill>
            <a:srgbClr val="F1C51E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82" name="图片 21"/>
          <p:cNvPicPr/>
          <p:nvPr/>
        </p:nvPicPr>
        <p:blipFill>
          <a:blip r:embed="rId2"/>
          <a:stretch>
            <a:fillRect/>
          </a:stretch>
        </p:blipFill>
        <p:spPr>
          <a:xfrm>
            <a:off x="304920" y="318240"/>
            <a:ext cx="1747800" cy="385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/>
          </p:nvPr>
        </p:nvSpPr>
        <p:spPr>
          <a:xfrm>
            <a:off x="910800" y="179280"/>
            <a:ext cx="4878720" cy="478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sz="2800" b="1" strike="noStrike" spc="-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项目搭建</a:t>
            </a:r>
            <a:endParaRPr lang="en-US" sz="2800" b="0" strike="noStrike" spc="-1">
              <a:latin typeface="Arial" panose="020B0604020202020204"/>
            </a:endParaRPr>
          </a:p>
        </p:txBody>
      </p:sp>
      <p:pic>
        <p:nvPicPr>
          <p:cNvPr id="284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7560" y="658800"/>
            <a:ext cx="4671360" cy="4671360"/>
          </a:xfrm>
          <a:prstGeom prst="rect">
            <a:avLst/>
          </a:prstGeom>
          <a:ln w="0">
            <a:noFill/>
          </a:ln>
        </p:spPr>
      </p:pic>
      <p:sp>
        <p:nvSpPr>
          <p:cNvPr id="285" name="文本框 6"/>
          <p:cNvSpPr/>
          <p:nvPr/>
        </p:nvSpPr>
        <p:spPr>
          <a:xfrm>
            <a:off x="799920" y="2340000"/>
            <a:ext cx="3159000" cy="20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使用数组</a:t>
            </a:r>
            <a:endParaRPr lang="en-U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zh-CN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对</a:t>
            </a:r>
            <a:r>
              <a:rPr lang="en-US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5</a:t>
            </a:r>
            <a:r>
              <a:rPr lang="zh-CN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班期中考试成绩进行统计</a:t>
            </a:r>
            <a:endParaRPr lang="en-U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zh-CN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并依次输出所有成绩</a:t>
            </a:r>
            <a:endParaRPr lang="en-U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zh-CN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成绩如下</a:t>
            </a:r>
            <a:r>
              <a:rPr lang="en-US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:</a:t>
            </a:r>
            <a:endParaRPr lang="en-U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	69</a:t>
            </a:r>
            <a:r>
              <a:rPr lang="zh-CN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，</a:t>
            </a:r>
            <a:r>
              <a:rPr lang="en-US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80</a:t>
            </a:r>
            <a:r>
              <a:rPr lang="zh-CN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，</a:t>
            </a:r>
            <a:r>
              <a:rPr lang="en-US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90</a:t>
            </a:r>
            <a:r>
              <a:rPr lang="zh-CN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，</a:t>
            </a:r>
            <a:r>
              <a:rPr lang="en-US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100</a:t>
            </a:r>
            <a:r>
              <a:rPr lang="zh-CN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，</a:t>
            </a:r>
            <a:endParaRPr lang="en-U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70</a:t>
            </a:r>
            <a:r>
              <a:rPr lang="zh-CN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，</a:t>
            </a:r>
            <a:r>
              <a:rPr lang="en-US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89</a:t>
            </a:r>
            <a:r>
              <a:rPr lang="zh-CN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，</a:t>
            </a:r>
            <a:r>
              <a:rPr lang="en-US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59</a:t>
            </a:r>
            <a:r>
              <a:rPr lang="zh-CN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，</a:t>
            </a:r>
            <a:r>
              <a:rPr lang="en-US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73</a:t>
            </a:r>
            <a:r>
              <a:rPr lang="zh-CN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，</a:t>
            </a:r>
            <a:r>
              <a:rPr lang="en-US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95</a:t>
            </a:r>
            <a:r>
              <a:rPr lang="zh-CN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，</a:t>
            </a:r>
            <a:endParaRPr lang="en-U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85</a:t>
            </a:r>
            <a:endParaRPr lang="en-US" sz="1800" b="0" strike="noStrike" spc="-1" dirty="0">
              <a:latin typeface="Arial" panose="020B0604020202020204"/>
            </a:endParaRPr>
          </a:p>
        </p:txBody>
      </p:sp>
      <p:pic>
        <p:nvPicPr>
          <p:cNvPr id="286" name="图片 285"/>
          <p:cNvPicPr/>
          <p:nvPr/>
        </p:nvPicPr>
        <p:blipFill>
          <a:blip r:embed="rId2"/>
          <a:stretch>
            <a:fillRect/>
          </a:stretch>
        </p:blipFill>
        <p:spPr>
          <a:xfrm>
            <a:off x="4455813" y="1869480"/>
            <a:ext cx="5046120" cy="2950920"/>
          </a:xfrm>
          <a:prstGeom prst="rect">
            <a:avLst/>
          </a:prstGeom>
          <a:ln w="0">
            <a:noFill/>
          </a:ln>
        </p:spPr>
      </p:pic>
      <p:pic>
        <p:nvPicPr>
          <p:cNvPr id="287" name="图片 286"/>
          <p:cNvPicPr/>
          <p:nvPr/>
        </p:nvPicPr>
        <p:blipFill>
          <a:blip r:embed="rId3"/>
          <a:stretch>
            <a:fillRect/>
          </a:stretch>
        </p:blipFill>
        <p:spPr>
          <a:xfrm>
            <a:off x="9595067" y="2141640"/>
            <a:ext cx="2471040" cy="2406600"/>
          </a:xfrm>
          <a:prstGeom prst="rect">
            <a:avLst/>
          </a:prstGeom>
          <a:ln w="0">
            <a:noFill/>
          </a:ln>
        </p:spPr>
      </p:pic>
      <p:sp>
        <p:nvSpPr>
          <p:cNvPr id="288" name="矩形 287"/>
          <p:cNvSpPr/>
          <p:nvPr/>
        </p:nvSpPr>
        <p:spPr>
          <a:xfrm>
            <a:off x="459866" y="5182380"/>
            <a:ext cx="428796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3000" b="0" strike="noStrike" spc="-1" dirty="0">
                <a:solidFill>
                  <a:srgbClr val="000000"/>
                </a:solidFill>
                <a:latin typeface="Noto Serif CJK SC Black"/>
                <a:ea typeface="Noto Serif CJK SC Black"/>
              </a:rPr>
              <a:t>如何通过循环简化代码</a:t>
            </a:r>
            <a:r>
              <a:rPr lang="en-US" sz="3000" b="0" strike="noStrike" spc="-1" dirty="0">
                <a:solidFill>
                  <a:srgbClr val="000000"/>
                </a:solidFill>
                <a:latin typeface="Noto Serif CJK SC Black"/>
                <a:ea typeface="Noto Serif CJK SC Black"/>
              </a:rPr>
              <a:t>?</a:t>
            </a:r>
            <a:endParaRPr lang="en-US" sz="3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repl">
                                        <p:cTn id="7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5"/>
          <p:cNvSpPr/>
          <p:nvPr/>
        </p:nvSpPr>
        <p:spPr>
          <a:xfrm>
            <a:off x="911160" y="179280"/>
            <a:ext cx="4878720" cy="4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sz="2800" b="1" strike="noStrike" spc="-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项目搭建</a:t>
            </a:r>
            <a:endParaRPr lang="en-US" sz="2800" b="0" strike="noStrike" spc="-1">
              <a:latin typeface="Arial" panose="020B0604020202020204"/>
            </a:endParaRPr>
          </a:p>
        </p:txBody>
      </p:sp>
      <p:sp>
        <p:nvSpPr>
          <p:cNvPr id="290" name="矩形 289"/>
          <p:cNvSpPr/>
          <p:nvPr/>
        </p:nvSpPr>
        <p:spPr>
          <a:xfrm>
            <a:off x="1548720" y="1065240"/>
            <a:ext cx="4498560" cy="73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3500" b="1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复习循环</a:t>
            </a:r>
            <a:r>
              <a:rPr lang="en-US" sz="3500" b="1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&amp;</a:t>
            </a:r>
            <a:r>
              <a:rPr lang="zh-CN" sz="3500" b="1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优化代码</a:t>
            </a:r>
            <a:endParaRPr lang="en-US" sz="3500" b="0" strike="noStrike" spc="-1">
              <a:latin typeface="Arial" panose="020B0604020202020204"/>
            </a:endParaRPr>
          </a:p>
        </p:txBody>
      </p:sp>
      <p:sp>
        <p:nvSpPr>
          <p:cNvPr id="291" name="椭圆 290"/>
          <p:cNvSpPr/>
          <p:nvPr/>
        </p:nvSpPr>
        <p:spPr>
          <a:xfrm>
            <a:off x="1260360" y="1224000"/>
            <a:ext cx="358560" cy="358560"/>
          </a:xfrm>
          <a:prstGeom prst="ellipse">
            <a:avLst/>
          </a:prstGeom>
          <a:solidFill>
            <a:srgbClr val="00A0F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92" name="图片 291"/>
          <p:cNvPicPr/>
          <p:nvPr/>
        </p:nvPicPr>
        <p:blipFill>
          <a:blip r:embed="rId1"/>
          <a:stretch>
            <a:fillRect/>
          </a:stretch>
        </p:blipFill>
        <p:spPr>
          <a:xfrm>
            <a:off x="1440000" y="1799640"/>
            <a:ext cx="3456000" cy="4617720"/>
          </a:xfrm>
          <a:prstGeom prst="rect">
            <a:avLst/>
          </a:prstGeom>
          <a:ln w="0">
            <a:noFill/>
          </a:ln>
        </p:spPr>
      </p:pic>
      <p:pic>
        <p:nvPicPr>
          <p:cNvPr id="293" name="图片 292"/>
          <p:cNvPicPr/>
          <p:nvPr/>
        </p:nvPicPr>
        <p:blipFill>
          <a:blip r:embed="rId2"/>
          <a:stretch>
            <a:fillRect/>
          </a:stretch>
        </p:blipFill>
        <p:spPr>
          <a:xfrm>
            <a:off x="5040000" y="2160000"/>
            <a:ext cx="7019280" cy="1508040"/>
          </a:xfrm>
          <a:prstGeom prst="rect">
            <a:avLst/>
          </a:prstGeom>
          <a:ln w="0">
            <a:noFill/>
          </a:ln>
        </p:spPr>
      </p:pic>
      <p:pic>
        <p:nvPicPr>
          <p:cNvPr id="294" name="图片 293"/>
          <p:cNvPicPr/>
          <p:nvPr/>
        </p:nvPicPr>
        <p:blipFill>
          <a:blip r:embed="rId3"/>
          <a:stretch>
            <a:fillRect/>
          </a:stretch>
        </p:blipFill>
        <p:spPr>
          <a:xfrm>
            <a:off x="6480000" y="4073040"/>
            <a:ext cx="2879280" cy="2046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8"/>
          <p:cNvSpPr/>
          <p:nvPr/>
        </p:nvSpPr>
        <p:spPr>
          <a:xfrm>
            <a:off x="911160" y="179280"/>
            <a:ext cx="4878720" cy="4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sz="2800" b="1" strike="noStrike" spc="-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项目搭建</a:t>
            </a:r>
            <a:endParaRPr lang="en-US" sz="2800" b="0" strike="noStrike" spc="-1">
              <a:latin typeface="Arial" panose="020B0604020202020204"/>
            </a:endParaRPr>
          </a:p>
        </p:txBody>
      </p:sp>
      <p:pic>
        <p:nvPicPr>
          <p:cNvPr id="299" name="图片 298"/>
          <p:cNvPicPr/>
          <p:nvPr/>
        </p:nvPicPr>
        <p:blipFill>
          <a:blip r:embed="rId1"/>
          <a:stretch>
            <a:fillRect/>
          </a:stretch>
        </p:blipFill>
        <p:spPr>
          <a:xfrm>
            <a:off x="6243626" y="2259360"/>
            <a:ext cx="4648320" cy="2339280"/>
          </a:xfrm>
          <a:prstGeom prst="rect">
            <a:avLst/>
          </a:prstGeom>
          <a:ln w="0">
            <a:noFill/>
          </a:ln>
        </p:spPr>
      </p:pic>
      <p:pic>
        <p:nvPicPr>
          <p:cNvPr id="9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7560" y="658800"/>
            <a:ext cx="4671360" cy="4671360"/>
          </a:xfrm>
          <a:prstGeom prst="rect">
            <a:avLst/>
          </a:prstGeom>
          <a:ln w="0">
            <a:noFill/>
          </a:ln>
        </p:spPr>
      </p:pic>
      <p:sp>
        <p:nvSpPr>
          <p:cNvPr id="10" name="文本框 6"/>
          <p:cNvSpPr/>
          <p:nvPr/>
        </p:nvSpPr>
        <p:spPr>
          <a:xfrm>
            <a:off x="799920" y="2340000"/>
            <a:ext cx="3180912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pc="-1" dirty="0">
                <a:latin typeface="Arial" panose="020B0604020202020204"/>
              </a:rPr>
              <a:t>最高分数：</a:t>
            </a:r>
            <a:endParaRPr lang="en-US" altLang="zh-CN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zh-CN" altLang="en-US" spc="-1" dirty="0">
                <a:latin typeface="Arial" panose="020B0604020202020204"/>
              </a:rPr>
              <a:t>通过对数组的遍历，找出分数</a:t>
            </a:r>
            <a:endParaRPr lang="en-US" altLang="zh-CN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zh-CN" altLang="en-US" sz="1800" b="0" strike="noStrike" spc="-1" dirty="0">
                <a:latin typeface="Arial" panose="020B0604020202020204"/>
              </a:rPr>
              <a:t>数组中的最高分。</a:t>
            </a:r>
            <a:endParaRPr lang="en-US" sz="18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repl"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8"/>
          <p:cNvSpPr/>
          <p:nvPr/>
        </p:nvSpPr>
        <p:spPr>
          <a:xfrm>
            <a:off x="911160" y="179280"/>
            <a:ext cx="4878720" cy="4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sz="2800" b="1" strike="noStrike" spc="-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项目搭建</a:t>
            </a:r>
            <a:endParaRPr lang="en-US" sz="2800" b="0" strike="noStrike" spc="-1">
              <a:latin typeface="Arial" panose="020B0604020202020204"/>
            </a:endParaRPr>
          </a:p>
        </p:txBody>
      </p:sp>
      <p:pic>
        <p:nvPicPr>
          <p:cNvPr id="9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7560" y="658800"/>
            <a:ext cx="4671360" cy="4671360"/>
          </a:xfrm>
          <a:prstGeom prst="rect">
            <a:avLst/>
          </a:prstGeom>
          <a:ln w="0">
            <a:noFill/>
          </a:ln>
        </p:spPr>
      </p:pic>
      <p:sp>
        <p:nvSpPr>
          <p:cNvPr id="10" name="文本框 6"/>
          <p:cNvSpPr/>
          <p:nvPr/>
        </p:nvSpPr>
        <p:spPr>
          <a:xfrm>
            <a:off x="799920" y="2340000"/>
            <a:ext cx="3180912" cy="20298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b="0" strike="noStrike" spc="-1" dirty="0">
                <a:latin typeface="Arial" panose="020B0604020202020204"/>
              </a:rPr>
              <a:t>根据输入的数值决定输入数组</a:t>
            </a:r>
            <a:endParaRPr lang="en-US" altLang="zh-CN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zh-CN" altLang="en-US" spc="-1" dirty="0">
                <a:latin typeface="Arial" panose="020B0604020202020204"/>
              </a:rPr>
              <a:t>的长度：</a:t>
            </a:r>
            <a:endParaRPr lang="en-US" altLang="zh-CN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zh-CN" altLang="en-US" sz="1800" b="0" strike="noStrike" spc="-1" dirty="0">
                <a:latin typeface="Arial" panose="020B0604020202020204"/>
              </a:rPr>
              <a:t>输入：</a:t>
            </a:r>
            <a:endParaRPr lang="en-US" altLang="zh-CN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altLang="zh-CN" sz="1800" b="0" strike="noStrike" spc="-1" dirty="0">
                <a:latin typeface="Arial" panose="020B0604020202020204"/>
              </a:rPr>
              <a:t>3</a:t>
            </a:r>
            <a:endParaRPr lang="en-US" altLang="zh-CN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altLang="zh-CN" spc="-1" dirty="0">
                <a:latin typeface="Arial" panose="020B0604020202020204"/>
              </a:rPr>
              <a:t>1 2 3</a:t>
            </a:r>
            <a:endParaRPr lang="en-US" altLang="zh-CN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altLang="zh-CN" sz="1800" b="0" strike="noStrike" spc="-1" dirty="0">
                <a:latin typeface="Arial" panose="020B0604020202020204"/>
              </a:rPr>
              <a:t>4</a:t>
            </a:r>
            <a:endParaRPr lang="en-US" altLang="zh-CN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altLang="zh-CN" spc="-1" dirty="0">
                <a:latin typeface="Arial" panose="020B0604020202020204"/>
              </a:rPr>
              <a:t>1 2 3 4</a:t>
            </a:r>
            <a:endParaRPr lang="en-US" altLang="zh-CN" sz="1800" b="0" strike="noStrike" spc="-1" dirty="0">
              <a:latin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905" y="1246201"/>
            <a:ext cx="6714945" cy="46249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repl"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项目搭建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809920" y="1145219"/>
            <a:ext cx="2109062" cy="3574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优秀成绩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77333" y="1755697"/>
            <a:ext cx="11382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Open Sans" panose="020B0606030504020204" pitchFamily="34" charset="0"/>
              </a:rPr>
              <a:t>期末考试结束，王老师想知道这次考试中成绩优秀的同学有多少人（考试成绩大于或等于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90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表示成绩优秀），请你编程帮助王老师来计算出成绩优秀的人数。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77333" y="23368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输入</a:t>
            </a:r>
            <a:r>
              <a:rPr lang="en-US" altLang="zh-CN" dirty="0"/>
              <a:t>】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809920" y="27061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Open Sans" panose="020B0606030504020204" pitchFamily="34" charset="0"/>
              </a:rPr>
              <a:t>第一行，一个整数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n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代表有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n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个人的成绩（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n&lt;=100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）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r>
              <a:rPr lang="zh-CN" altLang="en-US" b="0" i="0" dirty="0">
                <a:effectLst/>
                <a:latin typeface="Open Sans" panose="020B0606030504020204" pitchFamily="34" charset="0"/>
              </a:rPr>
              <a:t>第二行，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n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个人的成绩，用空格隔开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677333" y="328723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输出</a:t>
            </a:r>
            <a:r>
              <a:rPr lang="en-US" altLang="zh-CN" dirty="0"/>
              <a:t>】</a:t>
            </a:r>
            <a:endParaRPr lang="en-US" altLang="zh-CN" dirty="0"/>
          </a:p>
        </p:txBody>
      </p:sp>
      <p:sp>
        <p:nvSpPr>
          <p:cNvPr id="12" name="文本框 11"/>
          <p:cNvSpPr txBox="1"/>
          <p:nvPr/>
        </p:nvSpPr>
        <p:spPr>
          <a:xfrm>
            <a:off x="809920" y="3788667"/>
            <a:ext cx="6829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zh-CN" altLang="en-US"/>
              <a:t>成绩优秀的同学的总人数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77333" y="428247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输入样例</a:t>
            </a:r>
            <a:r>
              <a:rPr lang="en-US" altLang="zh-CN" dirty="0"/>
              <a:t>】</a:t>
            </a:r>
            <a:endParaRPr lang="en-US" altLang="zh-CN" dirty="0"/>
          </a:p>
        </p:txBody>
      </p:sp>
      <p:sp>
        <p:nvSpPr>
          <p:cNvPr id="14" name="文本框 13"/>
          <p:cNvSpPr txBox="1"/>
          <p:nvPr/>
        </p:nvSpPr>
        <p:spPr>
          <a:xfrm>
            <a:off x="677333" y="527771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输出样例</a:t>
            </a:r>
            <a:r>
              <a:rPr lang="en-US" altLang="zh-CN" dirty="0"/>
              <a:t>】</a:t>
            </a:r>
            <a:endParaRPr lang="en-US" altLang="zh-CN" dirty="0"/>
          </a:p>
        </p:txBody>
      </p:sp>
      <p:sp>
        <p:nvSpPr>
          <p:cNvPr id="20" name="文本框 19"/>
          <p:cNvSpPr txBox="1"/>
          <p:nvPr/>
        </p:nvSpPr>
        <p:spPr>
          <a:xfrm>
            <a:off x="910830" y="463138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5</a:t>
            </a:r>
            <a:endParaRPr lang="en-US" altLang="zh-CN" dirty="0"/>
          </a:p>
          <a:p>
            <a:r>
              <a:rPr lang="en-US" altLang="zh-CN" dirty="0"/>
              <a:t>98 88 85 99 90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10830" y="57988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项目搭建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809920" y="1145219"/>
            <a:ext cx="2109062" cy="3574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输出奇数和偶数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77333" y="1755697"/>
            <a:ext cx="113820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输入</a:t>
            </a:r>
            <a:r>
              <a:rPr lang="en-US" altLang="zh-CN" dirty="0"/>
              <a:t>n</a:t>
            </a:r>
            <a:r>
              <a:rPr lang="zh-CN" altLang="en-US" dirty="0"/>
              <a:t>个整数，将其中的奇数和偶数分别显示出来（</a:t>
            </a:r>
            <a:r>
              <a:rPr lang="en-US" altLang="zh-CN" dirty="0"/>
              <a:t>1 &lt; n &lt; 30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77333" y="23368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输入</a:t>
            </a:r>
            <a:r>
              <a:rPr lang="en-US" altLang="zh-CN" dirty="0"/>
              <a:t>】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809920" y="2706132"/>
            <a:ext cx="609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第一行：一个整数</a:t>
            </a:r>
            <a:r>
              <a:rPr lang="en-US" altLang="zh-CN" dirty="0"/>
              <a:t>n</a:t>
            </a:r>
            <a:r>
              <a:rPr lang="zh-CN" altLang="en-US" dirty="0"/>
              <a:t>。第二行：</a:t>
            </a:r>
            <a:r>
              <a:rPr lang="en-US" altLang="zh-CN" dirty="0"/>
              <a:t>n</a:t>
            </a:r>
            <a:r>
              <a:rPr lang="zh-CN" altLang="en-US" dirty="0"/>
              <a:t>个空格隔开的整数。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677333" y="328723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输出</a:t>
            </a:r>
            <a:r>
              <a:rPr lang="en-US" altLang="zh-CN" dirty="0"/>
              <a:t>】</a:t>
            </a:r>
            <a:endParaRPr lang="en-US" altLang="zh-CN" dirty="0"/>
          </a:p>
        </p:txBody>
      </p:sp>
      <p:sp>
        <p:nvSpPr>
          <p:cNvPr id="12" name="文本框 11"/>
          <p:cNvSpPr txBox="1"/>
          <p:nvPr/>
        </p:nvSpPr>
        <p:spPr>
          <a:xfrm>
            <a:off x="809920" y="3657222"/>
            <a:ext cx="68291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zh-CN" altLang="en-US" dirty="0"/>
              <a:t>第一行：若干个奇数。第二行：若干个偶数。（每个数前面都有一个空格）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77333" y="428247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输入样例</a:t>
            </a:r>
            <a:r>
              <a:rPr lang="en-US" altLang="zh-CN" dirty="0"/>
              <a:t>】</a:t>
            </a:r>
            <a:endParaRPr lang="en-US" altLang="zh-CN" dirty="0"/>
          </a:p>
        </p:txBody>
      </p:sp>
      <p:sp>
        <p:nvSpPr>
          <p:cNvPr id="14" name="文本框 13"/>
          <p:cNvSpPr txBox="1"/>
          <p:nvPr/>
        </p:nvSpPr>
        <p:spPr>
          <a:xfrm>
            <a:off x="5963708" y="415799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输出样例</a:t>
            </a:r>
            <a:r>
              <a:rPr lang="en-US" altLang="zh-CN" dirty="0"/>
              <a:t>】</a:t>
            </a:r>
            <a:endParaRPr lang="en-US" altLang="zh-CN" dirty="0"/>
          </a:p>
        </p:txBody>
      </p:sp>
      <p:sp>
        <p:nvSpPr>
          <p:cNvPr id="20" name="文本框 19"/>
          <p:cNvSpPr txBox="1"/>
          <p:nvPr/>
        </p:nvSpPr>
        <p:spPr>
          <a:xfrm>
            <a:off x="677785" y="4884238"/>
            <a:ext cx="6096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10</a:t>
            </a:r>
            <a:endParaRPr lang="en-US" altLang="zh-CN" dirty="0"/>
          </a:p>
          <a:p>
            <a:r>
              <a:rPr lang="en-US" altLang="zh-CN" dirty="0"/>
              <a:t>21 12 33 43 59 68 77 18 19 40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5964160" y="4768440"/>
            <a:ext cx="6096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21 33 43 59 77 19</a:t>
            </a:r>
            <a:endParaRPr lang="en-US" altLang="zh-CN" dirty="0"/>
          </a:p>
          <a:p>
            <a:r>
              <a:rPr lang="en-US" altLang="zh-CN" dirty="0"/>
              <a:t>12 68 18 40</a:t>
            </a:r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项目搭建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809920" y="1145219"/>
            <a:ext cx="2109062" cy="3574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数组求</a:t>
            </a:r>
            <a:r>
              <a:rPr lang="zh-CN" altLang="en-US" dirty="0"/>
              <a:t>和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77333" y="1620397"/>
            <a:ext cx="113820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输入</a:t>
            </a:r>
            <a:r>
              <a:rPr lang="en-US" altLang="zh-CN" dirty="0"/>
              <a:t>n</a:t>
            </a:r>
            <a:r>
              <a:rPr lang="zh-CN" altLang="en-US" dirty="0"/>
              <a:t>（</a:t>
            </a:r>
            <a:r>
              <a:rPr lang="en-US" altLang="zh-CN" dirty="0"/>
              <a:t> 1 &lt;= n &lt;= 5000 </a:t>
            </a:r>
            <a:r>
              <a:rPr lang="zh-CN" altLang="en-US" dirty="0"/>
              <a:t>）个正整数，每个数都在</a:t>
            </a:r>
            <a:r>
              <a:rPr lang="en-US" altLang="zh-CN" dirty="0"/>
              <a:t>1</a:t>
            </a:r>
            <a:r>
              <a:rPr lang="zh-CN" altLang="en-US" dirty="0"/>
              <a:t>到</a:t>
            </a:r>
            <a:r>
              <a:rPr lang="en-US" altLang="zh-CN" dirty="0"/>
              <a:t>20000</a:t>
            </a:r>
            <a:r>
              <a:rPr lang="zh-CN" altLang="en-US" dirty="0"/>
              <a:t>之间；要求对这</a:t>
            </a:r>
            <a:r>
              <a:rPr lang="en-US" altLang="zh-CN" dirty="0"/>
              <a:t>n</a:t>
            </a:r>
            <a:r>
              <a:rPr lang="zh-CN" altLang="en-US" dirty="0"/>
              <a:t>个数中的奇数和偶数分别求和。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78722" y="25161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输入</a:t>
            </a:r>
            <a:r>
              <a:rPr lang="en-US" altLang="zh-CN" dirty="0"/>
              <a:t>】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677333" y="3048002"/>
            <a:ext cx="9929798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第一行，一个正整数</a:t>
            </a:r>
            <a:r>
              <a:rPr lang="en-US" altLang="zh-CN" dirty="0"/>
              <a:t>n</a:t>
            </a:r>
            <a:r>
              <a:rPr lang="zh-CN" altLang="en-US" dirty="0"/>
              <a:t>（</a:t>
            </a:r>
            <a:r>
              <a:rPr lang="en-US" altLang="zh-CN" dirty="0"/>
              <a:t>1 &lt;= n &lt;= 5000 </a:t>
            </a:r>
            <a:r>
              <a:rPr lang="zh-CN" altLang="en-US" dirty="0"/>
              <a:t>）；</a:t>
            </a:r>
            <a:r>
              <a:rPr lang="en-US" altLang="zh-CN" dirty="0"/>
              <a:t> </a:t>
            </a:r>
            <a:r>
              <a:rPr lang="zh-CN" altLang="en-US" dirty="0"/>
              <a:t>第</a:t>
            </a:r>
            <a:r>
              <a:rPr lang="en-US" altLang="zh-CN" dirty="0"/>
              <a:t>2-n+1</a:t>
            </a:r>
            <a:r>
              <a:rPr lang="zh-CN" altLang="en-US" dirty="0"/>
              <a:t>行，每行一个正整数，每个数都在</a:t>
            </a:r>
            <a:r>
              <a:rPr lang="en-US" altLang="zh-CN" dirty="0"/>
              <a:t>1</a:t>
            </a:r>
            <a:r>
              <a:rPr lang="zh-CN" altLang="en-US" dirty="0"/>
              <a:t>到</a:t>
            </a:r>
            <a:r>
              <a:rPr lang="en-US" altLang="zh-CN" dirty="0"/>
              <a:t>20000</a:t>
            </a:r>
            <a:r>
              <a:rPr lang="zh-CN" altLang="en-US" dirty="0"/>
              <a:t>之间。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78722" y="390645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输出</a:t>
            </a:r>
            <a:r>
              <a:rPr lang="en-US" altLang="zh-CN" dirty="0"/>
              <a:t>】</a:t>
            </a:r>
            <a:endParaRPr lang="en-US" altLang="zh-CN" dirty="0"/>
          </a:p>
        </p:txBody>
      </p:sp>
      <p:sp>
        <p:nvSpPr>
          <p:cNvPr id="12" name="文本框 11"/>
          <p:cNvSpPr txBox="1"/>
          <p:nvPr/>
        </p:nvSpPr>
        <p:spPr>
          <a:xfrm>
            <a:off x="677333" y="4487915"/>
            <a:ext cx="3329476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zh-CN" altLang="en-US" dirty="0"/>
              <a:t>输出文件共有二行，每行包含一个整数，第一行为所有奇数之和，第二行为所有偶数之和。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4435792" y="385584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输入样例</a:t>
            </a:r>
            <a:r>
              <a:rPr lang="en-US" altLang="zh-CN" dirty="0"/>
              <a:t>】</a:t>
            </a:r>
            <a:endParaRPr lang="en-US" altLang="zh-CN" dirty="0"/>
          </a:p>
        </p:txBody>
      </p:sp>
      <p:sp>
        <p:nvSpPr>
          <p:cNvPr id="14" name="文本框 13"/>
          <p:cNvSpPr txBox="1"/>
          <p:nvPr/>
        </p:nvSpPr>
        <p:spPr>
          <a:xfrm>
            <a:off x="7944750" y="3867626"/>
            <a:ext cx="1569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输出样例</a:t>
            </a:r>
            <a:r>
              <a:rPr lang="en-US" altLang="zh-CN" dirty="0"/>
              <a:t>】</a:t>
            </a:r>
            <a:endParaRPr lang="en-US" altLang="zh-CN" dirty="0"/>
          </a:p>
        </p:txBody>
      </p:sp>
      <p:sp>
        <p:nvSpPr>
          <p:cNvPr id="20" name="文本框 19"/>
          <p:cNvSpPr txBox="1"/>
          <p:nvPr/>
        </p:nvSpPr>
        <p:spPr>
          <a:xfrm>
            <a:off x="4524469" y="4388033"/>
            <a:ext cx="3329476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5</a:t>
            </a:r>
            <a:endParaRPr lang="en-US" altLang="zh-CN" dirty="0"/>
          </a:p>
          <a:p>
            <a:r>
              <a:rPr lang="en-US" altLang="zh-CN" dirty="0"/>
              <a:t>3</a:t>
            </a:r>
            <a:endParaRPr lang="en-US" altLang="zh-CN" dirty="0"/>
          </a:p>
          <a:p>
            <a:r>
              <a:rPr lang="en-US" altLang="zh-CN" dirty="0"/>
              <a:t>10</a:t>
            </a:r>
            <a:endParaRPr lang="en-US" altLang="zh-CN" dirty="0"/>
          </a:p>
          <a:p>
            <a:r>
              <a:rPr lang="en-US" altLang="zh-CN" dirty="0"/>
              <a:t>7</a:t>
            </a:r>
            <a:endParaRPr lang="en-US" altLang="zh-CN" dirty="0"/>
          </a:p>
          <a:p>
            <a:r>
              <a:rPr lang="en-US" altLang="zh-CN" dirty="0"/>
              <a:t>5</a:t>
            </a:r>
            <a:endParaRPr lang="en-US" altLang="zh-CN" dirty="0"/>
          </a:p>
          <a:p>
            <a:r>
              <a:rPr lang="en-US" altLang="zh-CN" dirty="0"/>
              <a:t>8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8084836" y="4388078"/>
            <a:ext cx="2343001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15</a:t>
            </a:r>
            <a:endParaRPr lang="en-US" altLang="zh-CN" dirty="0"/>
          </a:p>
          <a:p>
            <a:r>
              <a:rPr lang="en-US" altLang="zh-CN" dirty="0"/>
              <a:t>18</a:t>
            </a:r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9"/>
          <p:cNvSpPr/>
          <p:nvPr/>
        </p:nvSpPr>
        <p:spPr>
          <a:xfrm>
            <a:off x="911160" y="179280"/>
            <a:ext cx="4878720" cy="4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sz="2800" b="1" strike="noStrike" spc="-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项目搭建</a:t>
            </a:r>
            <a:endParaRPr lang="en-US" sz="2800" b="0" strike="noStrike" spc="-1">
              <a:latin typeface="Arial" panose="020B0604020202020204"/>
            </a:endParaRPr>
          </a:p>
        </p:txBody>
      </p:sp>
      <p:pic>
        <p:nvPicPr>
          <p:cNvPr id="4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7560" y="658800"/>
            <a:ext cx="4671360" cy="4671360"/>
          </a:xfrm>
          <a:prstGeom prst="rect">
            <a:avLst/>
          </a:prstGeom>
          <a:ln w="0">
            <a:noFill/>
          </a:ln>
        </p:spPr>
      </p:pic>
      <p:sp>
        <p:nvSpPr>
          <p:cNvPr id="5" name="文本框 6"/>
          <p:cNvSpPr/>
          <p:nvPr/>
        </p:nvSpPr>
        <p:spPr>
          <a:xfrm>
            <a:off x="837166" y="2551666"/>
            <a:ext cx="3012148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pc="-1" dirty="0">
                <a:latin typeface="Arial" panose="020B0604020202020204"/>
              </a:rPr>
              <a:t>给分数进行排序：</a:t>
            </a:r>
            <a:endParaRPr lang="en-US" altLang="zh-CN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pc="-1" dirty="0"/>
              <a:t>clasStu[] = {69, 80, 90, </a:t>
            </a:r>
            <a:endParaRPr lang="fr-FR" spc="-1" dirty="0"/>
          </a:p>
          <a:p>
            <a:pPr>
              <a:lnSpc>
                <a:spcPct val="100000"/>
              </a:lnSpc>
            </a:pPr>
            <a:r>
              <a:rPr lang="fr-FR" spc="-1" dirty="0"/>
              <a:t>100, 70, 89, 59, 73, 95, 85};</a:t>
            </a:r>
            <a:endParaRPr lang="fr-FR" spc="-1" dirty="0"/>
          </a:p>
          <a:p>
            <a:pPr>
              <a:lnSpc>
                <a:spcPct val="100000"/>
              </a:lnSpc>
            </a:pPr>
            <a:endParaRPr lang="fr-FR" sz="1800" b="0" strike="noStrike" spc="-1" dirty="0">
              <a:latin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015" y="4551375"/>
            <a:ext cx="1314450" cy="16478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275" y="1820862"/>
            <a:ext cx="5657850" cy="3419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6"/>
          <p:cNvSpPr/>
          <p:nvPr/>
        </p:nvSpPr>
        <p:spPr>
          <a:xfrm>
            <a:off x="911160" y="179280"/>
            <a:ext cx="4878720" cy="4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sz="2800" b="1" strike="noStrike" spc="-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项目搭建</a:t>
            </a:r>
            <a:endParaRPr lang="en-US" sz="2800" b="0" strike="noStrike" spc="-1">
              <a:latin typeface="Arial" panose="020B0604020202020204"/>
            </a:endParaRPr>
          </a:p>
        </p:txBody>
      </p:sp>
      <p:sp>
        <p:nvSpPr>
          <p:cNvPr id="309" name="矩形 308"/>
          <p:cNvSpPr/>
          <p:nvPr/>
        </p:nvSpPr>
        <p:spPr>
          <a:xfrm>
            <a:off x="3960000" y="1089000"/>
            <a:ext cx="3959280" cy="81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4000" b="0" strike="noStrike" spc="-1">
                <a:solidFill>
                  <a:srgbClr val="000000"/>
                </a:solidFill>
                <a:latin typeface="Noto Serif CJK SC Black"/>
                <a:ea typeface="Noto Serif CJK SC Black"/>
              </a:rPr>
              <a:t>什么是冒泡排序</a:t>
            </a:r>
            <a:endParaRPr lang="en-US" sz="4000" b="0" strike="noStrike" spc="-1">
              <a:latin typeface="Arial" panose="020B0604020202020204"/>
            </a:endParaRPr>
          </a:p>
        </p:txBody>
      </p:sp>
      <p:pic>
        <p:nvPicPr>
          <p:cNvPr id="310" name="图片 309"/>
          <p:cNvPicPr/>
          <p:nvPr/>
        </p:nvPicPr>
        <p:blipFill>
          <a:blip r:embed="rId1"/>
          <a:stretch>
            <a:fillRect/>
          </a:stretch>
        </p:blipFill>
        <p:spPr>
          <a:xfrm>
            <a:off x="2545560" y="2160000"/>
            <a:ext cx="7533720" cy="3496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7"/>
          <p:cNvSpPr/>
          <p:nvPr/>
        </p:nvSpPr>
        <p:spPr>
          <a:xfrm>
            <a:off x="911160" y="179280"/>
            <a:ext cx="4878720" cy="4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sz="2800" b="1" strike="noStrike" spc="-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项目搭建</a:t>
            </a:r>
            <a:endParaRPr lang="en-US" sz="2800" b="0" strike="noStrike" spc="-1">
              <a:latin typeface="Arial" panose="020B0604020202020204"/>
            </a:endParaRPr>
          </a:p>
        </p:txBody>
      </p:sp>
      <p:pic>
        <p:nvPicPr>
          <p:cNvPr id="312" name="图片 311"/>
          <p:cNvPicPr/>
          <p:nvPr/>
        </p:nvPicPr>
        <p:blipFill>
          <a:blip r:embed="rId1"/>
          <a:stretch>
            <a:fillRect/>
          </a:stretch>
        </p:blipFill>
        <p:spPr>
          <a:xfrm>
            <a:off x="2460240" y="3060000"/>
            <a:ext cx="7619040" cy="2370600"/>
          </a:xfrm>
          <a:prstGeom prst="rect">
            <a:avLst/>
          </a:prstGeom>
          <a:ln w="0">
            <a:noFill/>
          </a:ln>
        </p:spPr>
      </p:pic>
      <p:sp>
        <p:nvSpPr>
          <p:cNvPr id="313" name="矩形 312"/>
          <p:cNvSpPr/>
          <p:nvPr/>
        </p:nvSpPr>
        <p:spPr>
          <a:xfrm>
            <a:off x="4320000" y="1440000"/>
            <a:ext cx="377928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3500" b="0" strike="noStrike" spc="-1">
                <a:solidFill>
                  <a:srgbClr val="000000"/>
                </a:solidFill>
                <a:latin typeface="Noto Serif CJK SC Black"/>
                <a:ea typeface="Noto Serif CJK SC Black"/>
              </a:rPr>
              <a:t>冒泡排序动图演示</a:t>
            </a:r>
            <a:endParaRPr lang="en-US" sz="35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4"/>
          <p:cNvSpPr/>
          <p:nvPr/>
        </p:nvSpPr>
        <p:spPr>
          <a:xfrm>
            <a:off x="911160" y="179280"/>
            <a:ext cx="4878720" cy="4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altLang="en-US" sz="2800" b="1" spc="-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核心代码</a:t>
            </a:r>
            <a:endParaRPr lang="en-US" sz="2800" b="0" strike="noStrike" spc="-1" dirty="0">
              <a:latin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2034" y="1695450"/>
            <a:ext cx="6829425" cy="34671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2853000" y="0"/>
            <a:ext cx="9337320" cy="6856200"/>
          </a:xfrm>
          <a:prstGeom prst="rect">
            <a:avLst/>
          </a:prstGeom>
          <a:ln w="0">
            <a:noFill/>
          </a:ln>
        </p:spPr>
      </p:pic>
      <p:sp>
        <p:nvSpPr>
          <p:cNvPr id="315" name="任意多边形 13"/>
          <p:cNvSpPr/>
          <p:nvPr/>
        </p:nvSpPr>
        <p:spPr>
          <a:xfrm>
            <a:off x="2888280" y="0"/>
            <a:ext cx="7657200" cy="6856200"/>
          </a:xfrm>
          <a:custGeom>
            <a:avLst/>
            <a:gdLst/>
            <a:ahLst/>
            <a:cxnLst/>
            <a:rect l="l" t="t" r="r" b="b"/>
            <a:pathLst>
              <a:path w="7658962" h="6858000">
                <a:moveTo>
                  <a:pt x="0" y="0"/>
                </a:moveTo>
                <a:lnTo>
                  <a:pt x="831578" y="0"/>
                </a:lnTo>
                <a:lnTo>
                  <a:pt x="7658962" y="6858000"/>
                </a:lnTo>
                <a:lnTo>
                  <a:pt x="6844042" y="6858000"/>
                </a:lnTo>
                <a:close/>
              </a:path>
            </a:pathLst>
          </a:custGeom>
          <a:solidFill>
            <a:srgbClr val="E86713">
              <a:alpha val="50000"/>
            </a:srgbClr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6" name="任意多边形 11"/>
          <p:cNvSpPr/>
          <p:nvPr/>
        </p:nvSpPr>
        <p:spPr>
          <a:xfrm>
            <a:off x="2818440" y="0"/>
            <a:ext cx="7142040" cy="6856200"/>
          </a:xfrm>
          <a:custGeom>
            <a:avLst/>
            <a:gdLst/>
            <a:ahLst/>
            <a:cxnLst/>
            <a:rect l="l" t="t" r="r" b="b"/>
            <a:pathLst>
              <a:path w="7143810" h="6858000">
                <a:moveTo>
                  <a:pt x="0" y="0"/>
                </a:moveTo>
                <a:lnTo>
                  <a:pt x="299769" y="0"/>
                </a:lnTo>
                <a:lnTo>
                  <a:pt x="7143810" y="6858000"/>
                </a:lnTo>
                <a:lnTo>
                  <a:pt x="6844041" y="6858000"/>
                </a:lnTo>
                <a:close/>
              </a:path>
            </a:pathLst>
          </a:custGeom>
          <a:solidFill>
            <a:srgbClr val="1163AF"/>
          </a:solidFill>
          <a:ln w="25560">
            <a:noFill/>
          </a:ln>
          <a:effectLst>
            <a:outerShdw blurRad="127080" dist="37674" dir="8100000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7" name="矩形 18"/>
          <p:cNvSpPr/>
          <p:nvPr/>
        </p:nvSpPr>
        <p:spPr>
          <a:xfrm>
            <a:off x="2027520" y="1838520"/>
            <a:ext cx="1801080" cy="184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500" b="0" strike="noStrike" spc="-1">
                <a:solidFill>
                  <a:srgbClr val="1163AF"/>
                </a:solidFill>
                <a:latin typeface="Agency FB" panose="020B0503020202020204"/>
                <a:ea typeface="微软雅黑" panose="020B0503020204020204" pitchFamily="34" charset="-122"/>
              </a:rPr>
              <a:t>04</a:t>
            </a:r>
            <a:endParaRPr lang="en-US" sz="11500" b="0" strike="noStrike" spc="-1">
              <a:latin typeface="Arial" panose="020B0604020202020204"/>
            </a:endParaRPr>
          </a:p>
        </p:txBody>
      </p:sp>
      <p:sp>
        <p:nvSpPr>
          <p:cNvPr id="318" name="矩形 27"/>
          <p:cNvSpPr/>
          <p:nvPr/>
        </p:nvSpPr>
        <p:spPr>
          <a:xfrm>
            <a:off x="730800" y="2576520"/>
            <a:ext cx="143712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b="0" strike="noStrike" spc="-1">
                <a:solidFill>
                  <a:srgbClr val="595959"/>
                </a:solidFill>
                <a:latin typeface="Arial" panose="020B0604020202020204"/>
                <a:ea typeface="微软雅黑" panose="020B0503020204020204" pitchFamily="34" charset="-122"/>
              </a:rPr>
              <a:t>Part</a:t>
            </a:r>
            <a:endParaRPr lang="en-US" sz="5400" b="0" strike="noStrike" spc="-1">
              <a:latin typeface="Arial" panose="020B0604020202020204"/>
            </a:endParaRPr>
          </a:p>
        </p:txBody>
      </p:sp>
      <p:sp>
        <p:nvSpPr>
          <p:cNvPr id="319" name="文本框 30"/>
          <p:cNvSpPr/>
          <p:nvPr/>
        </p:nvSpPr>
        <p:spPr>
          <a:xfrm>
            <a:off x="723240" y="3977280"/>
            <a:ext cx="3960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sz="3600" b="1" strike="noStrike" spc="-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拓展与延续</a:t>
            </a:r>
            <a:endParaRPr lang="en-US" sz="3600" b="0" strike="noStrike" spc="-1">
              <a:latin typeface="Arial" panose="020B0604020202020204"/>
            </a:endParaRPr>
          </a:p>
        </p:txBody>
      </p:sp>
      <p:sp>
        <p:nvSpPr>
          <p:cNvPr id="320" name="直接连接符 32"/>
          <p:cNvSpPr/>
          <p:nvPr/>
        </p:nvSpPr>
        <p:spPr>
          <a:xfrm>
            <a:off x="812880" y="4638600"/>
            <a:ext cx="5940000" cy="360"/>
          </a:xfrm>
          <a:prstGeom prst="line">
            <a:avLst/>
          </a:prstGeom>
          <a:ln w="12600">
            <a:solidFill>
              <a:srgbClr val="BFBFB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1" name="等腰三角形 37"/>
          <p:cNvSpPr/>
          <p:nvPr/>
        </p:nvSpPr>
        <p:spPr>
          <a:xfrm>
            <a:off x="5703840" y="4510440"/>
            <a:ext cx="496440" cy="124920"/>
          </a:xfrm>
          <a:prstGeom prst="triangle">
            <a:avLst>
              <a:gd name="adj" fmla="val 50000"/>
            </a:avLst>
          </a:prstGeom>
          <a:solidFill>
            <a:srgbClr val="1163A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2" name="等腰三角形 38"/>
          <p:cNvSpPr/>
          <p:nvPr/>
        </p:nvSpPr>
        <p:spPr>
          <a:xfrm>
            <a:off x="5904000" y="4421160"/>
            <a:ext cx="496440" cy="214200"/>
          </a:xfrm>
          <a:prstGeom prst="triangle">
            <a:avLst>
              <a:gd name="adj" fmla="val 50000"/>
            </a:avLst>
          </a:prstGeom>
          <a:solidFill>
            <a:srgbClr val="E8671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3" name="等腰三角形 39"/>
          <p:cNvSpPr/>
          <p:nvPr/>
        </p:nvSpPr>
        <p:spPr>
          <a:xfrm>
            <a:off x="6264360" y="4575240"/>
            <a:ext cx="496440" cy="59760"/>
          </a:xfrm>
          <a:prstGeom prst="triangle">
            <a:avLst>
              <a:gd name="adj" fmla="val 50000"/>
            </a:avLst>
          </a:prstGeom>
          <a:solidFill>
            <a:srgbClr val="268D3A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4" name="等腰三角形 40"/>
          <p:cNvSpPr/>
          <p:nvPr/>
        </p:nvSpPr>
        <p:spPr>
          <a:xfrm>
            <a:off x="6053400" y="4531680"/>
            <a:ext cx="496440" cy="103320"/>
          </a:xfrm>
          <a:prstGeom prst="triangle">
            <a:avLst>
              <a:gd name="adj" fmla="val 50000"/>
            </a:avLst>
          </a:prstGeom>
          <a:solidFill>
            <a:srgbClr val="F1C51E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25" name="图片 21"/>
          <p:cNvPicPr/>
          <p:nvPr/>
        </p:nvPicPr>
        <p:blipFill>
          <a:blip r:embed="rId2"/>
          <a:stretch>
            <a:fillRect/>
          </a:stretch>
        </p:blipFill>
        <p:spPr>
          <a:xfrm>
            <a:off x="304920" y="318240"/>
            <a:ext cx="1747800" cy="385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/>
          </p:nvPr>
        </p:nvSpPr>
        <p:spPr>
          <a:xfrm>
            <a:off x="910800" y="179280"/>
            <a:ext cx="4878720" cy="478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zh-CN" sz="2800" b="1" strike="noStrike" spc="-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项目搭建</a:t>
            </a:r>
            <a:endParaRPr lang="en-US" sz="2800" b="0" strike="noStrike" spc="-1">
              <a:latin typeface="Arial" panose="020B0604020202020204"/>
            </a:endParaRPr>
          </a:p>
        </p:txBody>
      </p:sp>
      <p:sp>
        <p:nvSpPr>
          <p:cNvPr id="327" name="矩形 326"/>
          <p:cNvSpPr/>
          <p:nvPr/>
        </p:nvSpPr>
        <p:spPr>
          <a:xfrm>
            <a:off x="1800000" y="2592360"/>
            <a:ext cx="9359280" cy="82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4000" b="0" strike="noStrike" spc="-1">
                <a:solidFill>
                  <a:srgbClr val="000000"/>
                </a:solidFill>
                <a:latin typeface="Noto Serif CJK SC Black"/>
                <a:ea typeface="Noto Serif CJK SC Black"/>
              </a:rPr>
              <a:t>如何使我们的冒泡排序从大到小排序呢？</a:t>
            </a:r>
            <a:endParaRPr lang="en-US" sz="4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230760" y="2863800"/>
            <a:ext cx="11504880" cy="2126520"/>
          </a:xfrm>
          <a:prstGeom prst="rect">
            <a:avLst/>
          </a:prstGeom>
          <a:ln w="0">
            <a:noFill/>
          </a:ln>
        </p:spPr>
      </p:pic>
      <p:pic>
        <p:nvPicPr>
          <p:cNvPr id="329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2934360" y="621000"/>
            <a:ext cx="5717520" cy="1181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2888640" y="0"/>
            <a:ext cx="9337320" cy="6856200"/>
          </a:xfrm>
          <a:prstGeom prst="rect">
            <a:avLst/>
          </a:prstGeom>
          <a:ln w="0">
            <a:noFill/>
          </a:ln>
        </p:spPr>
      </p:pic>
      <p:sp>
        <p:nvSpPr>
          <p:cNvPr id="331" name="任意多边形 24"/>
          <p:cNvSpPr/>
          <p:nvPr/>
        </p:nvSpPr>
        <p:spPr>
          <a:xfrm>
            <a:off x="495360" y="0"/>
            <a:ext cx="10743480" cy="6912000"/>
          </a:xfrm>
          <a:custGeom>
            <a:avLst/>
            <a:gdLst/>
            <a:ahLst/>
            <a:cxnLst/>
            <a:rect l="l" t="t" r="r" b="b"/>
            <a:pathLst>
              <a:path w="10745217" h="6913756">
                <a:moveTo>
                  <a:pt x="0" y="0"/>
                </a:moveTo>
                <a:lnTo>
                  <a:pt x="3779986" y="0"/>
                </a:lnTo>
                <a:lnTo>
                  <a:pt x="10745217" y="6913756"/>
                </a:lnTo>
                <a:lnTo>
                  <a:pt x="2912848" y="6913756"/>
                </a:lnTo>
                <a:lnTo>
                  <a:pt x="0" y="4022434"/>
                </a:lnTo>
                <a:close/>
              </a:path>
            </a:pathLst>
          </a:custGeom>
          <a:solidFill>
            <a:srgbClr val="F1C51E"/>
          </a:solidFill>
          <a:ln w="25560">
            <a:noFill/>
          </a:ln>
          <a:effectLst>
            <a:outerShdw blurRad="127080" dist="3816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2" name="任意多边形 25"/>
          <p:cNvSpPr/>
          <p:nvPr/>
        </p:nvSpPr>
        <p:spPr>
          <a:xfrm>
            <a:off x="0" y="0"/>
            <a:ext cx="10743480" cy="6912000"/>
          </a:xfrm>
          <a:custGeom>
            <a:avLst/>
            <a:gdLst/>
            <a:ahLst/>
            <a:cxnLst/>
            <a:rect l="l" t="t" r="r" b="b"/>
            <a:pathLst>
              <a:path w="10745217" h="6913756">
                <a:moveTo>
                  <a:pt x="0" y="0"/>
                </a:moveTo>
                <a:lnTo>
                  <a:pt x="3779986" y="0"/>
                </a:lnTo>
                <a:lnTo>
                  <a:pt x="10745217" y="6913756"/>
                </a:lnTo>
                <a:lnTo>
                  <a:pt x="2484587" y="6913756"/>
                </a:lnTo>
                <a:lnTo>
                  <a:pt x="0" y="4447531"/>
                </a:lnTo>
                <a:close/>
              </a:path>
            </a:pathLst>
          </a:custGeom>
          <a:solidFill>
            <a:srgbClr val="B92022"/>
          </a:solidFill>
          <a:ln w="25560">
            <a:noFill/>
          </a:ln>
          <a:effectLst>
            <a:outerShdw blurRad="127080" dist="37674" dir="81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3" name="任意多边形 26"/>
          <p:cNvSpPr/>
          <p:nvPr/>
        </p:nvSpPr>
        <p:spPr>
          <a:xfrm>
            <a:off x="0" y="0"/>
            <a:ext cx="10974960" cy="6912000"/>
          </a:xfrm>
          <a:custGeom>
            <a:avLst/>
            <a:gdLst/>
            <a:ahLst/>
            <a:cxnLst/>
            <a:rect l="l" t="t" r="r" b="b"/>
            <a:pathLst>
              <a:path w="10976713" h="6913756">
                <a:moveTo>
                  <a:pt x="0" y="0"/>
                </a:moveTo>
                <a:lnTo>
                  <a:pt x="4011482" y="0"/>
                </a:lnTo>
                <a:lnTo>
                  <a:pt x="10976713" y="6913756"/>
                </a:lnTo>
                <a:lnTo>
                  <a:pt x="2912848" y="6913756"/>
                </a:lnTo>
                <a:lnTo>
                  <a:pt x="0" y="4022434"/>
                </a:lnTo>
                <a:close/>
              </a:path>
            </a:pathLst>
          </a:custGeom>
          <a:solidFill>
            <a:srgbClr val="E86713"/>
          </a:solidFill>
          <a:ln w="25560">
            <a:noFill/>
          </a:ln>
          <a:effectLst>
            <a:outerShdw blurRad="127080" dist="3816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4" name="任意多边形 27"/>
          <p:cNvSpPr/>
          <p:nvPr/>
        </p:nvSpPr>
        <p:spPr>
          <a:xfrm>
            <a:off x="0" y="0"/>
            <a:ext cx="10743480" cy="6912000"/>
          </a:xfrm>
          <a:custGeom>
            <a:avLst/>
            <a:gdLst/>
            <a:ahLst/>
            <a:cxnLst/>
            <a:rect l="l" t="t" r="r" b="b"/>
            <a:pathLst>
              <a:path w="10745217" h="6913756">
                <a:moveTo>
                  <a:pt x="0" y="0"/>
                </a:moveTo>
                <a:lnTo>
                  <a:pt x="3779986" y="0"/>
                </a:lnTo>
                <a:lnTo>
                  <a:pt x="10745217" y="6913756"/>
                </a:lnTo>
                <a:lnTo>
                  <a:pt x="2912848" y="6913756"/>
                </a:lnTo>
                <a:lnTo>
                  <a:pt x="0" y="4022434"/>
                </a:lnTo>
                <a:close/>
              </a:path>
            </a:pathLst>
          </a:custGeom>
          <a:solidFill>
            <a:srgbClr val="FFFFFF"/>
          </a:solidFill>
          <a:ln w="25560">
            <a:noFill/>
          </a:ln>
          <a:effectLst>
            <a:outerShdw blurRad="25416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5" name="文本框 32"/>
          <p:cNvSpPr/>
          <p:nvPr/>
        </p:nvSpPr>
        <p:spPr>
          <a:xfrm>
            <a:off x="-93960" y="2520000"/>
            <a:ext cx="7208280" cy="15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600" b="1" strike="noStrike" spc="-1">
                <a:solidFill>
                  <a:srgbClr val="404040"/>
                </a:solidFill>
                <a:latin typeface="Agency FB" panose="020B0503020202020204"/>
                <a:ea typeface="微软雅黑" panose="020B0503020204020204" pitchFamily="34" charset="-122"/>
              </a:rPr>
              <a:t>THANK </a:t>
            </a:r>
            <a:r>
              <a:rPr lang="en-US" sz="9600" b="1" strike="noStrike" spc="-1">
                <a:solidFill>
                  <a:srgbClr val="1163AF"/>
                </a:solidFill>
                <a:latin typeface="Agency FB" panose="020B0503020202020204"/>
                <a:ea typeface="微软雅黑" panose="020B0503020204020204" pitchFamily="34" charset="-122"/>
              </a:rPr>
              <a:t>YOU</a:t>
            </a:r>
            <a:endParaRPr lang="en-US" sz="9600" b="0" strike="noStrike" spc="-1">
              <a:latin typeface="Arial" panose="020B0604020202020204"/>
            </a:endParaRPr>
          </a:p>
        </p:txBody>
      </p:sp>
      <p:sp>
        <p:nvSpPr>
          <p:cNvPr id="336" name="矩形 19"/>
          <p:cNvSpPr/>
          <p:nvPr/>
        </p:nvSpPr>
        <p:spPr>
          <a:xfrm>
            <a:off x="1651680" y="3935880"/>
            <a:ext cx="271044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sz="1600" b="0" strike="noStrike" spc="-1">
                <a:solidFill>
                  <a:srgbClr val="808080"/>
                </a:solidFill>
                <a:latin typeface="Arial" panose="020B0604020202020204"/>
                <a:ea typeface="微软雅黑" panose="020B0503020204020204" pitchFamily="34" charset="-122"/>
              </a:rPr>
              <a:t>课程：</a:t>
            </a:r>
            <a:r>
              <a:rPr lang="en-US" sz="1600" b="0" strike="noStrike" spc="-1">
                <a:solidFill>
                  <a:srgbClr val="808080"/>
                </a:solidFill>
                <a:latin typeface="Arial" panose="020B0604020202020204"/>
                <a:ea typeface="微软雅黑" panose="020B0503020204020204" pitchFamily="34" charset="-122"/>
              </a:rPr>
              <a:t>C++    </a:t>
            </a:r>
            <a:r>
              <a:rPr lang="zh-CN" sz="1600" b="0" strike="noStrike" spc="-1">
                <a:solidFill>
                  <a:srgbClr val="808080"/>
                </a:solidFill>
                <a:latin typeface="Arial" panose="020B0604020202020204"/>
                <a:ea typeface="微软雅黑" panose="020B0503020204020204" pitchFamily="34" charset="-122"/>
              </a:rPr>
              <a:t>教师：程老师</a:t>
            </a:r>
            <a:endParaRPr lang="en-US" sz="1600" b="0" strike="noStrike" spc="-1">
              <a:latin typeface="Arial" panose="020B0604020202020204"/>
            </a:endParaRPr>
          </a:p>
        </p:txBody>
      </p:sp>
      <p:pic>
        <p:nvPicPr>
          <p:cNvPr id="337" name="图片 16"/>
          <p:cNvPicPr/>
          <p:nvPr/>
        </p:nvPicPr>
        <p:blipFill>
          <a:blip r:embed="rId2"/>
          <a:stretch>
            <a:fillRect/>
          </a:stretch>
        </p:blipFill>
        <p:spPr>
          <a:xfrm>
            <a:off x="304920" y="318240"/>
            <a:ext cx="2391480" cy="528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1360</Words>
  <Application>WPS 演示</Application>
  <PresentationFormat>宽屏</PresentationFormat>
  <Paragraphs>331</Paragraphs>
  <Slides>30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30</vt:i4>
      </vt:variant>
    </vt:vector>
  </HeadingPairs>
  <TitlesOfParts>
    <vt:vector size="55" baseType="lpstr">
      <vt:lpstr>Arial</vt:lpstr>
      <vt:lpstr>宋体</vt:lpstr>
      <vt:lpstr>Wingdings</vt:lpstr>
      <vt:lpstr>Arial</vt:lpstr>
      <vt:lpstr>Symbol</vt:lpstr>
      <vt:lpstr>微软雅黑</vt:lpstr>
      <vt:lpstr>Times New Roman</vt:lpstr>
      <vt:lpstr>Century Gothic</vt:lpstr>
      <vt:lpstr>微软雅黑 Light</vt:lpstr>
      <vt:lpstr>Agency FB</vt:lpstr>
      <vt:lpstr>DejaVu Sans</vt:lpstr>
      <vt:lpstr>Calibri</vt:lpstr>
      <vt:lpstr>文泉驿微米黑</vt:lpstr>
      <vt:lpstr>Noto Sans CJK SC Black</vt:lpstr>
      <vt:lpstr>ZWSimpleStroke</vt:lpstr>
      <vt:lpstr>黑体</vt:lpstr>
      <vt:lpstr>Noto Sans Display Medium</vt:lpstr>
      <vt:lpstr>Noto Serif CJK SC Black</vt:lpstr>
      <vt:lpstr>Arial Unicode MS</vt:lpstr>
      <vt:lpstr>Open Sans</vt:lpstr>
      <vt:lpstr>color:windowtext;</vt:lpstr>
      <vt:lpstr>DejaVu Sans</vt:lpstr>
      <vt:lpstr>Office Theme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 鹏君</dc:creator>
  <cp:lastModifiedBy>Ms蒗</cp:lastModifiedBy>
  <cp:revision>191</cp:revision>
  <dcterms:created xsi:type="dcterms:W3CDTF">2020-10-06T11:46:00Z</dcterms:created>
  <dcterms:modified xsi:type="dcterms:W3CDTF">2025-02-28T06:46:14Z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</vt:r8>
  </property>
  <property fmtid="{D5CDD505-2E9C-101B-9397-08002B2CF9AE}" pid="3" name="PresentationFormat">
    <vt:lpwstr>宽屏</vt:lpwstr>
  </property>
  <property fmtid="{D5CDD505-2E9C-101B-9397-08002B2CF9AE}" pid="4" name="Slides">
    <vt:r8>27</vt:r8>
  </property>
  <property fmtid="{D5CDD505-2E9C-101B-9397-08002B2CF9AE}" pid="5" name="ICV">
    <vt:lpwstr>3286026AE66D47E6AC6C0404E56C97AC_12</vt:lpwstr>
  </property>
  <property fmtid="{D5CDD505-2E9C-101B-9397-08002B2CF9AE}" pid="6" name="KSOProductBuildVer">
    <vt:lpwstr>2052-12.1.0.20305</vt:lpwstr>
  </property>
</Properties>
</file>