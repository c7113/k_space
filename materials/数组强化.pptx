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0" r:id="rId3"/>
    <p:sldId id="271" r:id="rId4"/>
    <p:sldId id="401" r:id="rId6"/>
    <p:sldId id="397" r:id="rId7"/>
    <p:sldId id="493" r:id="rId8"/>
    <p:sldId id="542" r:id="rId9"/>
    <p:sldId id="543" r:id="rId10"/>
    <p:sldId id="546" r:id="rId11"/>
    <p:sldId id="547" r:id="rId12"/>
    <p:sldId id="552" r:id="rId13"/>
    <p:sldId id="553" r:id="rId14"/>
    <p:sldId id="554" r:id="rId15"/>
    <p:sldId id="558" r:id="rId16"/>
    <p:sldId id="556" r:id="rId17"/>
    <p:sldId id="555" r:id="rId18"/>
    <p:sldId id="557" r:id="rId19"/>
    <p:sldId id="495" r:id="rId20"/>
    <p:sldId id="494" r:id="rId21"/>
    <p:sldId id="405" r:id="rId22"/>
    <p:sldId id="272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B92022"/>
    <a:srgbClr val="268D3A"/>
    <a:srgbClr val="E86713"/>
    <a:srgbClr val="FBEFC1"/>
    <a:srgbClr val="FFD687"/>
    <a:srgbClr val="F1C51E"/>
    <a:srgbClr val="1163AF"/>
    <a:srgbClr val="DE9596"/>
    <a:srgbClr val="653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44" y="108"/>
      </p:cViewPr>
      <p:guideLst>
        <p:guide orient="horz" pos="2213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043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CAAC-3D94-4303-A1AA-E3CA422E04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9A600-3198-444F-940B-8127AA7817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鲁班创客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1185204" cy="11724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鲁班创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1"/>
            <a:ext cx="12191999" cy="8514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910830" y="179455"/>
            <a:ext cx="4880665" cy="480131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lvl1pPr marL="0" indent="0">
              <a:buFontTx/>
              <a:buNone/>
              <a:defRPr lang="zh-CN" altLang="en-US" sz="2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/>
              <a:t>单击此处添加您的标题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641874" cy="634979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" y="6539757"/>
            <a:ext cx="12191999" cy="3182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" descr="Picture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1" y="6507497"/>
            <a:ext cx="12191999" cy="4571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08" y="7495"/>
            <a:ext cx="7936992" cy="6858000"/>
          </a:xfrm>
          <a:prstGeom prst="rect">
            <a:avLst/>
          </a:prstGeom>
        </p:spPr>
      </p:pic>
      <p:sp>
        <p:nvSpPr>
          <p:cNvPr id="17" name="任意多边形 16"/>
          <p:cNvSpPr/>
          <p:nvPr/>
        </p:nvSpPr>
        <p:spPr>
          <a:xfrm flipH="1">
            <a:off x="3907971" y="0"/>
            <a:ext cx="8284027" cy="6877853"/>
          </a:xfrm>
          <a:custGeom>
            <a:avLst/>
            <a:gdLst>
              <a:gd name="connsiteX0" fmla="*/ 1125974 w 8135527"/>
              <a:gd name="connsiteY0" fmla="*/ 0 h 6877853"/>
              <a:gd name="connsiteX1" fmla="*/ 0 w 8135527"/>
              <a:gd name="connsiteY1" fmla="*/ 0 h 6877853"/>
              <a:gd name="connsiteX2" fmla="*/ 0 w 8135527"/>
              <a:gd name="connsiteY2" fmla="*/ 1128318 h 6877853"/>
              <a:gd name="connsiteX3" fmla="*/ 7402440 w 8135527"/>
              <a:gd name="connsiteY3" fmla="*/ 6877853 h 6877853"/>
              <a:gd name="connsiteX4" fmla="*/ 8135527 w 8135527"/>
              <a:gd name="connsiteY4" fmla="*/ 6877853 h 6877853"/>
              <a:gd name="connsiteX5" fmla="*/ 8135526 w 8135527"/>
              <a:gd name="connsiteY5" fmla="*/ 6877852 h 6877853"/>
              <a:gd name="connsiteX6" fmla="*/ 7966908 w 8135527"/>
              <a:gd name="connsiteY6" fmla="*/ 6877852 h 6877853"/>
              <a:gd name="connsiteX7" fmla="*/ 7954628 w 8135527"/>
              <a:gd name="connsiteY7" fmla="*/ 6865494 h 6877853"/>
              <a:gd name="connsiteX8" fmla="*/ 7922558 w 8135527"/>
              <a:gd name="connsiteY8" fmla="*/ 6865494 h 6877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35527" h="6877853">
                <a:moveTo>
                  <a:pt x="1125974" y="0"/>
                </a:moveTo>
                <a:lnTo>
                  <a:pt x="0" y="0"/>
                </a:lnTo>
                <a:lnTo>
                  <a:pt x="0" y="1128318"/>
                </a:lnTo>
                <a:lnTo>
                  <a:pt x="7402440" y="6877853"/>
                </a:lnTo>
                <a:lnTo>
                  <a:pt x="8135527" y="6877853"/>
                </a:lnTo>
                <a:lnTo>
                  <a:pt x="8135526" y="6877852"/>
                </a:lnTo>
                <a:lnTo>
                  <a:pt x="7966908" y="6877852"/>
                </a:lnTo>
                <a:lnTo>
                  <a:pt x="7954628" y="6865494"/>
                </a:lnTo>
                <a:lnTo>
                  <a:pt x="7922558" y="6865494"/>
                </a:lnTo>
                <a:close/>
              </a:path>
            </a:pathLst>
          </a:custGeom>
          <a:solidFill>
            <a:srgbClr val="F1C51E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任意多边形 17"/>
          <p:cNvSpPr/>
          <p:nvPr/>
        </p:nvSpPr>
        <p:spPr>
          <a:xfrm flipH="1">
            <a:off x="4047343" y="-1"/>
            <a:ext cx="7003692" cy="6865495"/>
          </a:xfrm>
          <a:custGeom>
            <a:avLst/>
            <a:gdLst>
              <a:gd name="connsiteX0" fmla="*/ 1065557 w 7003692"/>
              <a:gd name="connsiteY0" fmla="*/ 0 h 6865495"/>
              <a:gd name="connsiteX1" fmla="*/ 0 w 7003692"/>
              <a:gd name="connsiteY1" fmla="*/ 0 h 6865495"/>
              <a:gd name="connsiteX2" fmla="*/ 6796585 w 7003692"/>
              <a:gd name="connsiteY2" fmla="*/ 6865495 h 6865495"/>
              <a:gd name="connsiteX3" fmla="*/ 7003692 w 7003692"/>
              <a:gd name="connsiteY3" fmla="*/ 6865495 h 6865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3692" h="6865495">
                <a:moveTo>
                  <a:pt x="1065557" y="0"/>
                </a:moveTo>
                <a:lnTo>
                  <a:pt x="0" y="0"/>
                </a:lnTo>
                <a:lnTo>
                  <a:pt x="6796585" y="6865495"/>
                </a:lnTo>
                <a:lnTo>
                  <a:pt x="7003692" y="6865495"/>
                </a:lnTo>
                <a:close/>
              </a:path>
            </a:pathLst>
          </a:cu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-4335" y="5050518"/>
            <a:ext cx="1860421" cy="1807482"/>
          </a:xfrm>
          <a:prstGeom prst="rtTriangle">
            <a:avLst/>
          </a:prstGeom>
          <a:solidFill>
            <a:srgbClr val="B920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0" y="4279691"/>
            <a:ext cx="2193948" cy="2585803"/>
          </a:xfrm>
          <a:custGeom>
            <a:avLst/>
            <a:gdLst>
              <a:gd name="connsiteX0" fmla="*/ 0 w 2193948"/>
              <a:gd name="connsiteY0" fmla="*/ 0 h 2585803"/>
              <a:gd name="connsiteX1" fmla="*/ 2193948 w 2193948"/>
              <a:gd name="connsiteY1" fmla="*/ 2585803 h 2585803"/>
              <a:gd name="connsiteX2" fmla="*/ 1859213 w 2193948"/>
              <a:gd name="connsiteY2" fmla="*/ 2585803 h 2585803"/>
              <a:gd name="connsiteX3" fmla="*/ 0 w 2193948"/>
              <a:gd name="connsiteY3" fmla="*/ 779495 h 2585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3948" h="2585803">
                <a:moveTo>
                  <a:pt x="0" y="0"/>
                </a:moveTo>
                <a:lnTo>
                  <a:pt x="2193948" y="2585803"/>
                </a:lnTo>
                <a:lnTo>
                  <a:pt x="1859213" y="2585803"/>
                </a:lnTo>
                <a:lnTo>
                  <a:pt x="0" y="779495"/>
                </a:lnTo>
                <a:close/>
              </a:path>
            </a:pathLst>
          </a:cu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>
            <a:outerShdw blurRad="127000" dist="88900" dir="8100000" algn="t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4143" y="2114909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数组</a:t>
            </a:r>
            <a:r>
              <a:rPr lang="zh-CN" altLang="en-US" sz="4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强化</a:t>
            </a:r>
            <a:endParaRPr lang="zh-CN" altLang="en-US" sz="4400" b="1" dirty="0">
              <a:solidFill>
                <a:srgbClr val="000000">
                  <a:lumMod val="75000"/>
                  <a:lumOff val="25000"/>
                </a:srgbClr>
              </a:solidFill>
              <a:latin typeface="Century Gothic" panose="020B0502020202020204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8010" y="3028890"/>
            <a:ext cx="24016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爱心</a:t>
            </a:r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创新</a:t>
            </a:r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匠心</a:t>
            </a:r>
            <a:endParaRPr lang="zh-CN" altLang="en-US" sz="2000" b="1" spc="300" dirty="0">
              <a:solidFill>
                <a:srgbClr val="000000">
                  <a:lumMod val="65000"/>
                  <a:lumOff val="3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18010" y="3568000"/>
            <a:ext cx="24180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课程：</a:t>
            </a:r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C++</a:t>
            </a:r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    教师：</a:t>
            </a:r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程老师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3" y="374686"/>
            <a:ext cx="2269067" cy="502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124026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01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1" y="3977314"/>
            <a:ext cx="3961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课程目录</a:t>
            </a:r>
            <a:endParaRPr lang="en-US" altLang="zh-CN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目录</a:t>
            </a:r>
            <a:endParaRPr lang="zh-CN" altLang="en-US" sz="2000" dirty="0"/>
          </a:p>
        </p:txBody>
      </p:sp>
      <p:sp>
        <p:nvSpPr>
          <p:cNvPr id="3" name="流程图: 接点 2"/>
          <p:cNvSpPr/>
          <p:nvPr/>
        </p:nvSpPr>
        <p:spPr>
          <a:xfrm>
            <a:off x="3599469" y="1809911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4195445" y="1717675"/>
            <a:ext cx="4789170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理解前缀和原理：掌握</a:t>
            </a:r>
            <a:r>
              <a:rPr lang="en-US" altLang="zh-CN" dirty="0"/>
              <a:t> prefix[i] = prefix[i-1] + a[i] </a:t>
            </a:r>
            <a:r>
              <a:rPr lang="zh-CN" altLang="en-US" dirty="0"/>
              <a:t>的递推关系</a:t>
            </a:r>
            <a:endParaRPr lang="zh-CN" altLang="en-US" dirty="0"/>
          </a:p>
        </p:txBody>
      </p:sp>
      <p:sp>
        <p:nvSpPr>
          <p:cNvPr id="8" name="流程图: 接点 7"/>
          <p:cNvSpPr/>
          <p:nvPr/>
        </p:nvSpPr>
        <p:spPr>
          <a:xfrm>
            <a:off x="3576382" y="2701215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171950" y="2608580"/>
            <a:ext cx="4813300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掌握差分数组机制：理解</a:t>
            </a:r>
            <a:r>
              <a:rPr lang="en-US" altLang="zh-CN" dirty="0"/>
              <a:t> diff[i] = a[i] - a[i-1] </a:t>
            </a:r>
            <a:r>
              <a:rPr lang="zh-CN" altLang="en-US" dirty="0"/>
              <a:t>的定义</a:t>
            </a:r>
            <a:endParaRPr lang="zh-CN" altLang="en-US" dirty="0"/>
          </a:p>
        </p:txBody>
      </p:sp>
      <p:sp>
        <p:nvSpPr>
          <p:cNvPr id="12" name="流程图: 接点 11"/>
          <p:cNvSpPr/>
          <p:nvPr/>
        </p:nvSpPr>
        <p:spPr>
          <a:xfrm>
            <a:off x="3604086" y="3514018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4199890" y="3421380"/>
            <a:ext cx="4784725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理解固定窗口与可变窗口的区别，掌握单调队列在滑动窗口最值问题中的应用逻辑。</a:t>
            </a:r>
            <a:endParaRPr lang="zh-CN" altLang="en-US" dirty="0"/>
          </a:p>
        </p:txBody>
      </p:sp>
      <p:sp>
        <p:nvSpPr>
          <p:cNvPr id="4" name="流程图: 接点 11"/>
          <p:cNvSpPr/>
          <p:nvPr/>
        </p:nvSpPr>
        <p:spPr>
          <a:xfrm>
            <a:off x="3604721" y="4326818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12"/>
          <p:cNvSpPr/>
          <p:nvPr/>
        </p:nvSpPr>
        <p:spPr>
          <a:xfrm>
            <a:off x="4200525" y="4234180"/>
            <a:ext cx="4784725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深刻体会</a:t>
            </a:r>
            <a:r>
              <a:rPr lang="en-US" altLang="zh-CN" dirty="0"/>
              <a:t>“</a:t>
            </a:r>
            <a:r>
              <a:rPr lang="zh-CN" altLang="en-US" dirty="0"/>
              <a:t>空间换时间</a:t>
            </a:r>
            <a:r>
              <a:rPr lang="en-US" altLang="zh-CN" dirty="0"/>
              <a:t>”</a:t>
            </a:r>
            <a:r>
              <a:rPr lang="zh-CN" altLang="en-US" dirty="0"/>
              <a:t>的算法思想，理解预处理的重要性。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399742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02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2" y="3977455"/>
            <a:ext cx="3961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进制与编码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数组的</a:t>
            </a:r>
            <a:r>
              <a:rPr lang="zh-CN" altLang="en-US" sz="2400" dirty="0"/>
              <a:t>定义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622998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数组是存储于一个连续空间且具有相同数据类型的元素集合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861185" y="2957195"/>
          <a:ext cx="7997825" cy="1123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075"/>
                <a:gridCol w="727075"/>
                <a:gridCol w="727075"/>
                <a:gridCol w="727075"/>
                <a:gridCol w="727075"/>
                <a:gridCol w="727075"/>
                <a:gridCol w="727075"/>
                <a:gridCol w="727075"/>
                <a:gridCol w="727075"/>
                <a:gridCol w="727075"/>
                <a:gridCol w="727075"/>
              </a:tblGrid>
              <a:tr h="561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89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63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69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561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806190" y="4773930"/>
            <a:ext cx="374840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3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3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arr</a:t>
            </a:r>
            <a:r>
              <a:rPr lang="en-US" altLang="zh-CN" sz="3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3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10</a:t>
            </a:r>
            <a:r>
              <a:rPr lang="en-US" altLang="zh-CN" sz="3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];</a:t>
            </a:r>
            <a:endParaRPr lang="en-US" altLang="zh-CN" sz="3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问题</a:t>
            </a:r>
            <a:r>
              <a:rPr lang="zh-CN" altLang="en-US" sz="2400" dirty="0"/>
              <a:t>导入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703707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>
                <a:sym typeface="+mn-ea"/>
              </a:rPr>
              <a:t>有一个长度为 n 的数组，q 次查询，每次查询区间 [l, r] 的元素之和。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7975" y="2444750"/>
            <a:ext cx="11600180" cy="3046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long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long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solve_brute_force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vector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&gt;&amp;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L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long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long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sum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</a:t>
            </a:r>
            <a:endParaRPr lang="en-US" altLang="zh-CN" sz="24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4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L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sum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+=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];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4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sum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325" y="1108075"/>
            <a:ext cx="5954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区间查询的神器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6755" y="1670050"/>
            <a:ext cx="751649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暴力：每次把几个月的分数加起来。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前缀和：先算好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累计总分表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，查询时只需做一次减法。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5325" y="2823845"/>
            <a:ext cx="10669905" cy="34766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vector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long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long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全局或类成员存储前缀和数组</a:t>
            </a:r>
            <a:endParaRPr lang="zh-CN" altLang="en-US" sz="20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void build_prefix_sum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const vector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&gt;&amp;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size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();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resize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n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多开一位，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0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altLang="zh-CN" sz="2000" b="0" i="0">
              <a:solidFill>
                <a:srgbClr val="99005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0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];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long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long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solve_prefix_sum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L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0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R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prefix_sum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];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前缀和实战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40030" y="1767840"/>
            <a:ext cx="13671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题目描述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240030" y="2335530"/>
            <a:ext cx="105340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给出一个长度为</a:t>
            </a:r>
            <a:r>
              <a:rPr lang="en-US" altLang="zh-CN"/>
              <a:t> n </a:t>
            </a:r>
            <a:r>
              <a:rPr lang="zh-CN" altLang="en-US"/>
              <a:t>的序列</a:t>
            </a:r>
            <a:r>
              <a:rPr lang="en-US" altLang="zh-CN"/>
              <a:t> a</a:t>
            </a:r>
            <a:r>
              <a:rPr lang="zh-CN" altLang="en-US"/>
              <a:t>，选出其中连续且非空的一段使得这段和最大。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0030" y="2983865"/>
            <a:ext cx="1688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输入格式</a:t>
            </a:r>
            <a:endParaRPr lang="zh-CN" altLang="en-US" b="1"/>
          </a:p>
        </p:txBody>
      </p:sp>
      <p:sp>
        <p:nvSpPr>
          <p:cNvPr id="15" name="文本框 14"/>
          <p:cNvSpPr txBox="1"/>
          <p:nvPr/>
        </p:nvSpPr>
        <p:spPr>
          <a:xfrm>
            <a:off x="293370" y="3446145"/>
            <a:ext cx="92614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第一行是一个整数，表示序列的长度</a:t>
            </a:r>
            <a:r>
              <a:rPr lang="en-US" altLang="zh-CN"/>
              <a:t> n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第二行有</a:t>
            </a:r>
            <a:r>
              <a:rPr lang="en-US" altLang="zh-CN"/>
              <a:t> n </a:t>
            </a:r>
            <a:r>
              <a:rPr lang="zh-CN" altLang="en-US"/>
              <a:t>个整数，第</a:t>
            </a:r>
            <a:r>
              <a:rPr lang="en-US" altLang="zh-CN"/>
              <a:t> i </a:t>
            </a:r>
            <a:r>
              <a:rPr lang="zh-CN" altLang="en-US"/>
              <a:t>个整数表示序列的第</a:t>
            </a:r>
            <a:r>
              <a:rPr lang="en-US" altLang="zh-CN"/>
              <a:t> i </a:t>
            </a:r>
            <a:r>
              <a:rPr lang="zh-CN" altLang="en-US"/>
              <a:t>个数字</a:t>
            </a:r>
            <a:r>
              <a:rPr lang="en-US" altLang="zh-CN"/>
              <a:t> a</a:t>
            </a:r>
            <a:r>
              <a:rPr lang="en-US" altLang="zh-CN" baseline="-25000"/>
              <a:t> i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3370" y="4516755"/>
            <a:ext cx="17957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输出格式</a:t>
            </a:r>
            <a:endParaRPr lang="zh-CN" altLang="en-US" b="1"/>
          </a:p>
        </p:txBody>
      </p:sp>
      <p:sp>
        <p:nvSpPr>
          <p:cNvPr id="18" name="文本框 17"/>
          <p:cNvSpPr txBox="1"/>
          <p:nvPr/>
        </p:nvSpPr>
        <p:spPr>
          <a:xfrm>
            <a:off x="318770" y="5100955"/>
            <a:ext cx="32912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输出一行一个整数表示答案。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766050" y="4456430"/>
            <a:ext cx="16351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输入输出样例</a:t>
            </a:r>
            <a:endParaRPr lang="zh-CN" altLang="en-US" b="1"/>
          </a:p>
        </p:txBody>
      </p:sp>
      <p:sp>
        <p:nvSpPr>
          <p:cNvPr id="20" name="文本框 19"/>
          <p:cNvSpPr txBox="1"/>
          <p:nvPr/>
        </p:nvSpPr>
        <p:spPr>
          <a:xfrm>
            <a:off x="7766050" y="5050155"/>
            <a:ext cx="1989455" cy="92202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7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2 -4 3 -1 2 -4 3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045700" y="5260340"/>
            <a:ext cx="1718945" cy="36830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4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43141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差分数组</a:t>
            </a:r>
            <a:r>
              <a:rPr lang="en-US" altLang="zh-CN" sz="2400" dirty="0"/>
              <a:t> —— </a:t>
            </a:r>
            <a:r>
              <a:rPr lang="zh-CN" altLang="en-US" sz="2400" dirty="0"/>
              <a:t>区间修改的利器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578739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老师给几组学生统一加分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扣分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975" y="2339340"/>
            <a:ext cx="4358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遍历每个受影响的學生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377190" y="2907665"/>
            <a:ext cx="1133983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void update_brute_force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vector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&gt;&amp;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L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val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遍历从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L </a:t>
            </a:r>
            <a:r>
              <a:rPr lang="zh-CN" altLang="en-US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到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 </a:t>
            </a:r>
            <a:r>
              <a:rPr lang="zh-CN" altLang="en-US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的每一个元素，逐个加上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val</a:t>
            </a:r>
            <a:endParaRPr lang="en-US" altLang="zh-CN" sz="24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4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4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L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nums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+=</a:t>
            </a:r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val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4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43141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差分数组</a:t>
            </a:r>
            <a:r>
              <a:rPr lang="en-US" altLang="zh-CN" sz="2400" dirty="0"/>
              <a:t> —— </a:t>
            </a:r>
            <a:r>
              <a:rPr lang="zh-CN" altLang="en-US" sz="2400" dirty="0"/>
              <a:t>区间修改的利器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1021461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差分：只在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开始组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记个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“+5”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结束组后一位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记个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“-5”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，最后一次性算出结果。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27325" y="3007995"/>
            <a:ext cx="6096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定义：</a:t>
            </a:r>
            <a:r>
              <a:rPr lang="en-US" altLang="zh-CN" sz="2800"/>
              <a:t>diff[i] = a[i] - a[i-1]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修改：</a:t>
            </a:r>
            <a:r>
              <a:rPr lang="en-US" altLang="zh-CN" sz="2800"/>
              <a:t>diff[l] += val, diff[r+1] -= val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还原：对</a:t>
            </a:r>
            <a:r>
              <a:rPr lang="en-US" altLang="zh-CN" sz="2800"/>
              <a:t> diff </a:t>
            </a:r>
            <a:r>
              <a:rPr lang="zh-CN" altLang="en-US" sz="2800"/>
              <a:t>做前缀和即可恢复</a:t>
            </a:r>
            <a:r>
              <a:rPr lang="en-US" altLang="zh-CN" sz="2800"/>
              <a:t> a</a:t>
            </a:r>
            <a:endParaRPr lang="en-US" altLang="zh-CN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2689860" y="1054735"/>
            <a:ext cx="7340600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void build_diff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const vector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&gt;&amp;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size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diff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assign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n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多开几位防止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越界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diff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nums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void update_diff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L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val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diff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val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起点：从此开始变大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diff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R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val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终点后一位：从此抵消掉增加的量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还原数组：对差分数组求前缀和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vector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restore_array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vector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res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n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current_val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current_val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diff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累加差分值得到原值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res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current_val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res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差分数组实战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40030" y="1767840"/>
            <a:ext cx="13671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题目描述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293370" y="2235200"/>
            <a:ext cx="105340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</a:t>
            </a:r>
            <a:r>
              <a:rPr lang="en-US" altLang="zh-CN"/>
              <a:t> n</a:t>
            </a:r>
            <a:r>
              <a:rPr lang="en-US" altLang="en-US"/>
              <a:t>×</a:t>
            </a:r>
            <a:r>
              <a:rPr lang="en-US" altLang="zh-CN"/>
              <a:t>n </a:t>
            </a:r>
            <a:r>
              <a:rPr lang="zh-CN" altLang="en-US"/>
              <a:t>的格子上有</a:t>
            </a:r>
            <a:r>
              <a:rPr lang="en-US" altLang="zh-CN"/>
              <a:t> m </a:t>
            </a:r>
            <a:r>
              <a:rPr lang="zh-CN" altLang="en-US"/>
              <a:t>个地毯。</a:t>
            </a:r>
            <a:endParaRPr lang="zh-CN" altLang="en-US"/>
          </a:p>
          <a:p>
            <a:r>
              <a:rPr lang="zh-CN" altLang="en-US"/>
              <a:t>给出这些地毯的信息，问每个点被多少个地毯覆盖。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0030" y="2983865"/>
            <a:ext cx="1688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输入格式</a:t>
            </a:r>
            <a:endParaRPr lang="zh-CN" altLang="en-US" b="1"/>
          </a:p>
        </p:txBody>
      </p:sp>
      <p:sp>
        <p:nvSpPr>
          <p:cNvPr id="15" name="文本框 14"/>
          <p:cNvSpPr txBox="1"/>
          <p:nvPr/>
        </p:nvSpPr>
        <p:spPr>
          <a:xfrm>
            <a:off x="293370" y="3446145"/>
            <a:ext cx="92614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第一行，两个正整数</a:t>
            </a:r>
            <a:r>
              <a:rPr lang="en-US" altLang="zh-CN"/>
              <a:t> n,m</a:t>
            </a:r>
            <a:r>
              <a:rPr lang="zh-CN" altLang="en-US"/>
              <a:t>。意义如题所述。</a:t>
            </a:r>
            <a:endParaRPr lang="zh-CN" altLang="en-US"/>
          </a:p>
          <a:p>
            <a:r>
              <a:rPr lang="zh-CN" altLang="en-US"/>
              <a:t>接下来</a:t>
            </a:r>
            <a:r>
              <a:rPr lang="en-US" altLang="zh-CN"/>
              <a:t> m </a:t>
            </a:r>
            <a:r>
              <a:rPr lang="zh-CN" altLang="en-US"/>
              <a:t>行，每行两个坐标（</a:t>
            </a:r>
            <a:r>
              <a:rPr lang="en-US" altLang="zh-CN"/>
              <a:t>x</a:t>
            </a:r>
            <a:r>
              <a:rPr lang="en-US" altLang="zh-CN" baseline="-25000"/>
              <a:t>1 </a:t>
            </a:r>
            <a:r>
              <a:rPr lang="en-US" altLang="zh-CN"/>
              <a:t>,y</a:t>
            </a:r>
            <a:r>
              <a:rPr lang="en-US" altLang="zh-CN" baseline="-25000"/>
              <a:t>1</a:t>
            </a:r>
            <a:r>
              <a:rPr lang="zh-CN" altLang="en-US"/>
              <a:t>）和</a:t>
            </a:r>
            <a:r>
              <a:rPr lang="en-US" altLang="zh-CN"/>
              <a:t> 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x</a:t>
            </a:r>
            <a:r>
              <a:rPr lang="en-US" altLang="zh-CN" baseline="-25000">
                <a:sym typeface="+mn-ea"/>
              </a:rPr>
              <a:t>2 </a:t>
            </a:r>
            <a:r>
              <a:rPr lang="en-US" altLang="zh-CN">
                <a:sym typeface="+mn-ea"/>
              </a:rPr>
              <a:t>,y</a:t>
            </a:r>
            <a:r>
              <a:rPr lang="en-US" altLang="zh-CN" baseline="-25000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zh-CN" altLang="en-US"/>
              <a:t>代表一块地毯，左上角是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x</a:t>
            </a:r>
            <a:r>
              <a:rPr lang="en-US" altLang="zh-CN" baseline="-25000">
                <a:sym typeface="+mn-ea"/>
              </a:rPr>
              <a:t>1 </a:t>
            </a:r>
            <a:r>
              <a:rPr lang="en-US" altLang="zh-CN">
                <a:sym typeface="+mn-ea"/>
              </a:rPr>
              <a:t>,y</a:t>
            </a:r>
            <a:r>
              <a:rPr lang="en-US" altLang="zh-CN" baseline="-25000">
                <a:sym typeface="+mn-ea"/>
              </a:rPr>
              <a:t>1</a:t>
            </a:r>
            <a:r>
              <a:rPr lang="zh-CN" altLang="en-US">
                <a:sym typeface="+mn-ea"/>
              </a:rPr>
              <a:t>）</a:t>
            </a:r>
            <a:r>
              <a:rPr lang="zh-CN" altLang="en-US"/>
              <a:t>，右下角是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x</a:t>
            </a:r>
            <a:r>
              <a:rPr lang="en-US" altLang="zh-CN" baseline="-25000">
                <a:sym typeface="+mn-ea"/>
              </a:rPr>
              <a:t>2 </a:t>
            </a:r>
            <a:r>
              <a:rPr lang="en-US" altLang="zh-CN">
                <a:sym typeface="+mn-ea"/>
              </a:rPr>
              <a:t>,y</a:t>
            </a:r>
            <a:r>
              <a:rPr lang="en-US" altLang="zh-CN" baseline="-25000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3370" y="4516755"/>
            <a:ext cx="17957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输出格式</a:t>
            </a:r>
            <a:endParaRPr lang="zh-CN" altLang="en-US" b="1"/>
          </a:p>
        </p:txBody>
      </p:sp>
      <p:sp>
        <p:nvSpPr>
          <p:cNvPr id="18" name="文本框 17"/>
          <p:cNvSpPr txBox="1"/>
          <p:nvPr/>
        </p:nvSpPr>
        <p:spPr>
          <a:xfrm>
            <a:off x="318770" y="5100955"/>
            <a:ext cx="32912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输出</a:t>
            </a:r>
            <a:r>
              <a:rPr lang="en-US" altLang="zh-CN"/>
              <a:t> n </a:t>
            </a:r>
            <a:r>
              <a:rPr lang="zh-CN" altLang="en-US"/>
              <a:t>行，每行</a:t>
            </a:r>
            <a:r>
              <a:rPr lang="en-US" altLang="zh-CN"/>
              <a:t> n </a:t>
            </a:r>
            <a:r>
              <a:rPr lang="zh-CN" altLang="en-US"/>
              <a:t>个正整数。</a:t>
            </a:r>
            <a:endParaRPr lang="zh-CN" altLang="en-US"/>
          </a:p>
          <a:p>
            <a:r>
              <a:rPr lang="zh-CN" altLang="en-US"/>
              <a:t>第</a:t>
            </a:r>
            <a:r>
              <a:rPr lang="en-US" altLang="zh-CN"/>
              <a:t> i </a:t>
            </a:r>
            <a:r>
              <a:rPr lang="zh-CN" altLang="en-US"/>
              <a:t>行第</a:t>
            </a:r>
            <a:r>
              <a:rPr lang="en-US" altLang="zh-CN"/>
              <a:t> j </a:t>
            </a:r>
            <a:r>
              <a:rPr lang="zh-CN" altLang="en-US"/>
              <a:t>列的正整数表示</a:t>
            </a:r>
            <a:r>
              <a:rPr lang="en-US" altLang="zh-CN"/>
              <a:t> (i,j) </a:t>
            </a:r>
            <a:r>
              <a:rPr lang="zh-CN" altLang="en-US"/>
              <a:t>这个格子被多少个地毯覆盖。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766050" y="4456430"/>
            <a:ext cx="16351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输入输出样例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7813040" y="4991100"/>
            <a:ext cx="15881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5 3</a:t>
            </a:r>
            <a:endParaRPr lang="en-US" altLang="zh-CN"/>
          </a:p>
          <a:p>
            <a:r>
              <a:rPr lang="en-US" altLang="zh-CN"/>
              <a:t>2 2 3 3</a:t>
            </a:r>
            <a:endParaRPr lang="en-US" altLang="zh-CN"/>
          </a:p>
          <a:p>
            <a:r>
              <a:rPr lang="en-US" altLang="zh-CN"/>
              <a:t>3 3 5 5</a:t>
            </a:r>
            <a:endParaRPr lang="en-US" altLang="zh-CN"/>
          </a:p>
          <a:p>
            <a:r>
              <a:rPr lang="en-US" altLang="zh-CN"/>
              <a:t>1 2 1 4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846310" y="4824730"/>
            <a:ext cx="13874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0 1 1 1 0</a:t>
            </a:r>
            <a:endParaRPr lang="en-US" altLang="zh-CN"/>
          </a:p>
          <a:p>
            <a:r>
              <a:rPr lang="en-US" altLang="zh-CN"/>
              <a:t>0 1 1 0 0</a:t>
            </a:r>
            <a:endParaRPr lang="en-US" altLang="zh-CN"/>
          </a:p>
          <a:p>
            <a:r>
              <a:rPr lang="en-US" altLang="zh-CN"/>
              <a:t>0 1 2 1 1</a:t>
            </a:r>
            <a:endParaRPr lang="en-US" altLang="zh-CN"/>
          </a:p>
          <a:p>
            <a:r>
              <a:rPr lang="en-US" altLang="zh-CN"/>
              <a:t>0 0 1 1 1</a:t>
            </a:r>
            <a:endParaRPr lang="en-US" altLang="zh-CN"/>
          </a:p>
          <a:p>
            <a:r>
              <a:rPr lang="en-US" altLang="zh-CN"/>
              <a:t>0 0 1 1 1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549910" y="1149350"/>
            <a:ext cx="10209530" cy="50774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x1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y1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x2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y2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cin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&gt;&gt;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x1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&gt;&gt;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y1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&gt;&gt;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x2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&gt;&gt;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y2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核心：二维差分四步操作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注意：题目坐标从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开始，我们的数组也开在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based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，无需转换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x1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y1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左上角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altLang="zh-CN" b="0" i="0">
              <a:solidFill>
                <a:srgbClr val="99005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x1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y2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--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右上角外侧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altLang="zh-CN" b="0" i="0">
              <a:solidFill>
                <a:srgbClr val="99005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x2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y1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--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左下角外侧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altLang="zh-CN" b="0" i="0">
              <a:solidFill>
                <a:srgbClr val="99005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x2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y2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右下角外侧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补偿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2.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计算二维前缀和，还原出每个格子的实际覆盖数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公式：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sum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sum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sum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sum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我们直接在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d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数组上原地更新，节省空间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j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j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   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pic>
        <p:nvPicPr>
          <p:cNvPr id="5" name="图片 4" descr="滑动窗口动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90" y="1219835"/>
            <a:ext cx="9035415" cy="5163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37045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滑动窗口</a:t>
            </a:r>
            <a:r>
              <a:rPr lang="en-US" altLang="zh-CN" sz="2400" dirty="0"/>
              <a:t> —— </a:t>
            </a:r>
            <a:r>
              <a:rPr lang="zh-CN" altLang="en-US" sz="2400" dirty="0"/>
              <a:t>双指针进阶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07975" y="1822450"/>
            <a:ext cx="578739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计算连续</a:t>
            </a:r>
            <a:r>
              <a:rPr lang="en-US" altLang="zh-CN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</a:t>
            </a:r>
            <a:r>
              <a:rPr lang="zh-CN" altLang="en-US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天的平均最高成绩</a:t>
            </a:r>
            <a:endParaRPr lang="zh-CN" altLang="en-US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975" y="2650490"/>
            <a:ext cx="9110980" cy="3079115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k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min_val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];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0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j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k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j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j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遍历窗口内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K </a:t>
            </a:r>
            <a:r>
              <a:rPr lang="zh-CN" altLang="en-US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个元素</a:t>
            </a:r>
            <a:endParaRPr lang="zh-CN" altLang="en-US" sz="20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min_val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min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min_val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j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]);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cout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min_val </a:t>
            </a:r>
            <a:r>
              <a:rPr lang="en-US" altLang="zh-CN" sz="20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20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 "</a:t>
            </a: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0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37045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滑动窗口</a:t>
            </a:r>
            <a:r>
              <a:rPr lang="en-US" altLang="zh-CN" sz="2400" dirty="0"/>
              <a:t> —— </a:t>
            </a:r>
            <a:r>
              <a:rPr lang="zh-CN" altLang="en-US" sz="2400" dirty="0"/>
              <a:t>双指针进阶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417830" y="2265680"/>
            <a:ext cx="1152588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队尾维护单调性（关键）：</a:t>
            </a:r>
            <a:endParaRPr lang="zh-CN" altLang="en-US">
              <a:solidFill>
                <a:srgbClr val="FF0000"/>
              </a:solidFill>
            </a:endParaRPr>
          </a:p>
          <a:p>
            <a:pPr lvl="1"/>
            <a:r>
              <a:rPr lang="zh-CN" altLang="en-US" b="1"/>
              <a:t>求最小值：</a:t>
            </a:r>
            <a:r>
              <a:rPr lang="zh-CN" altLang="en-US"/>
              <a:t>若</a:t>
            </a:r>
            <a:r>
              <a:rPr lang="en-US" altLang="zh-CN"/>
              <a:t> </a:t>
            </a:r>
            <a:r>
              <a:rPr lang="zh-CN" altLang="en-US"/>
              <a:t>新元素</a:t>
            </a:r>
            <a:r>
              <a:rPr lang="en-US" altLang="zh-CN"/>
              <a:t> &lt; </a:t>
            </a:r>
            <a:r>
              <a:rPr lang="zh-CN" altLang="en-US"/>
              <a:t>队尾元素，则</a:t>
            </a:r>
            <a:r>
              <a:rPr lang="en-US" altLang="zh-CN"/>
              <a:t> pop_back()</a:t>
            </a:r>
            <a:r>
              <a:rPr lang="zh-CN" altLang="en-US"/>
              <a:t>（弹出队尾），直到队列单调递增或为空，然后</a:t>
            </a:r>
            <a:r>
              <a:rPr lang="en-US" altLang="zh-CN"/>
              <a:t> push_back(</a:t>
            </a:r>
            <a:r>
              <a:rPr lang="zh-CN" altLang="en-US"/>
              <a:t>新元素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zh-CN" altLang="en-US" b="1"/>
              <a:t>求最大值：</a:t>
            </a:r>
            <a:r>
              <a:rPr lang="zh-CN" altLang="en-US"/>
              <a:t>若</a:t>
            </a:r>
            <a:r>
              <a:rPr lang="en-US" altLang="zh-CN"/>
              <a:t> </a:t>
            </a:r>
            <a:r>
              <a:rPr lang="zh-CN" altLang="en-US"/>
              <a:t>新元素</a:t>
            </a:r>
            <a:r>
              <a:rPr lang="en-US" altLang="zh-CN"/>
              <a:t> &gt; </a:t>
            </a:r>
            <a:r>
              <a:rPr lang="zh-CN" altLang="en-US"/>
              <a:t>队尾元素，则</a:t>
            </a:r>
            <a:r>
              <a:rPr lang="en-US" altLang="zh-CN"/>
              <a:t> pop_back()</a:t>
            </a:r>
            <a:r>
              <a:rPr lang="zh-CN" altLang="en-US"/>
              <a:t>，直到队列单调递减或为空，然后</a:t>
            </a:r>
            <a:r>
              <a:rPr lang="en-US" altLang="zh-CN"/>
              <a:t> push_back(</a:t>
            </a:r>
            <a:r>
              <a:rPr lang="zh-CN" altLang="en-US"/>
              <a:t>新元素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  <a:p>
            <a:pPr indent="457200"/>
            <a:r>
              <a:rPr lang="zh-CN" altLang="en-US" b="1"/>
              <a:t>原理：</a:t>
            </a:r>
            <a:r>
              <a:rPr lang="zh-CN" altLang="en-US"/>
              <a:t>被弹出的元素既比新元素差，又比新元素早离开窗口，毫无保留价值。</a:t>
            </a:r>
            <a:endParaRPr lang="zh-CN" altLang="en-US"/>
          </a:p>
          <a:p>
            <a:r>
              <a:rPr lang="zh-CN" altLang="en-US">
                <a:solidFill>
                  <a:schemeClr val="accent1"/>
                </a:solidFill>
              </a:rPr>
              <a:t>队首移除过期元素：</a:t>
            </a:r>
            <a:endParaRPr lang="zh-CN" altLang="en-US">
              <a:solidFill>
                <a:schemeClr val="accent1"/>
              </a:solidFill>
            </a:endParaRPr>
          </a:p>
          <a:p>
            <a:pPr lvl="1"/>
            <a:r>
              <a:rPr lang="zh-CN" altLang="en-US"/>
              <a:t>检查队首元素的下标</a:t>
            </a:r>
            <a:r>
              <a:rPr lang="en-US" altLang="zh-CN"/>
              <a:t> idx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zh-CN" altLang="en-US"/>
              <a:t>若</a:t>
            </a:r>
            <a:r>
              <a:rPr lang="en-US" altLang="zh-CN"/>
              <a:t> idx &lt; </a:t>
            </a:r>
            <a:r>
              <a:rPr lang="zh-CN" altLang="en-US"/>
              <a:t>当前下标</a:t>
            </a:r>
            <a:r>
              <a:rPr lang="en-US" altLang="zh-CN"/>
              <a:t> - K + 1</a:t>
            </a:r>
            <a:r>
              <a:rPr lang="zh-CN" altLang="en-US"/>
              <a:t>，说明它已经滑出窗口左侧，</a:t>
            </a:r>
            <a:r>
              <a:rPr lang="en-US" altLang="zh-CN"/>
              <a:t>pop_front()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chemeClr val="accent2"/>
                </a:solidFill>
              </a:rPr>
              <a:t>获取答案：</a:t>
            </a:r>
            <a:endParaRPr lang="zh-CN" altLang="en-US">
              <a:solidFill>
                <a:schemeClr val="accent2"/>
              </a:solidFill>
            </a:endParaRPr>
          </a:p>
          <a:p>
            <a:pPr indent="457200"/>
            <a:r>
              <a:rPr lang="zh-CN" altLang="en-US"/>
              <a:t>当窗口形成后（即</a:t>
            </a:r>
            <a:r>
              <a:rPr lang="en-US" altLang="zh-CN"/>
              <a:t> i &gt;= K</a:t>
            </a:r>
            <a:r>
              <a:rPr lang="zh-CN" altLang="en-US"/>
              <a:t>），队首元素即为当前窗口的最值。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112395" y="1327785"/>
            <a:ext cx="119354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有一个长为</a:t>
            </a:r>
            <a:r>
              <a:rPr lang="en-US" altLang="zh-CN"/>
              <a:t> n </a:t>
            </a:r>
            <a:r>
              <a:rPr lang="zh-CN" altLang="en-US"/>
              <a:t>的序列</a:t>
            </a:r>
            <a:r>
              <a:rPr lang="en-US" altLang="zh-CN"/>
              <a:t> a</a:t>
            </a:r>
            <a:r>
              <a:rPr lang="zh-CN" altLang="en-US"/>
              <a:t>，以及一个大小为</a:t>
            </a:r>
            <a:r>
              <a:rPr lang="en-US" altLang="zh-CN"/>
              <a:t> k </a:t>
            </a:r>
            <a:r>
              <a:rPr lang="zh-CN" altLang="en-US"/>
              <a:t>的窗口。现在这个窗口从左边开始向右滑动，每次滑动一个单位，求出每次滑动后窗口中的最小值和最大值。</a:t>
            </a:r>
            <a:endParaRPr lang="zh-CN" altLang="en-US"/>
          </a:p>
          <a:p>
            <a:r>
              <a:rPr lang="zh-CN" altLang="en-US"/>
              <a:t>例如，对于序列</a:t>
            </a:r>
            <a:r>
              <a:rPr lang="en-US" altLang="zh-CN"/>
              <a:t> [1,3,−1,−3,5,3,6,7] </a:t>
            </a:r>
            <a:r>
              <a:rPr lang="zh-CN" altLang="en-US"/>
              <a:t>以及</a:t>
            </a:r>
            <a:r>
              <a:rPr lang="en-US" altLang="zh-CN"/>
              <a:t> k=3</a:t>
            </a:r>
            <a:r>
              <a:rPr lang="zh-CN" altLang="en-US"/>
              <a:t>，有如下过程：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70" y="2323465"/>
            <a:ext cx="5057775" cy="2133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2395" y="4457065"/>
            <a:ext cx="94811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输入格式</a:t>
            </a:r>
            <a:endParaRPr lang="zh-CN" altLang="en-US"/>
          </a:p>
          <a:p>
            <a:pPr lvl="1"/>
            <a:r>
              <a:rPr lang="zh-CN" altLang="en-US"/>
              <a:t>输入一共有两行，第一行有两个正整数</a:t>
            </a:r>
            <a:r>
              <a:rPr lang="en-US" altLang="zh-CN"/>
              <a:t> n,k</a:t>
            </a:r>
            <a:r>
              <a:rPr lang="zh-CN" altLang="en-US"/>
              <a:t>；</a:t>
            </a:r>
            <a:endParaRPr lang="zh-CN" altLang="en-US"/>
          </a:p>
          <a:p>
            <a:pPr lvl="1"/>
            <a:r>
              <a:rPr lang="zh-CN" altLang="en-US"/>
              <a:t>第二行有</a:t>
            </a:r>
            <a:r>
              <a:rPr lang="en-US" altLang="zh-CN"/>
              <a:t> n </a:t>
            </a:r>
            <a:r>
              <a:rPr lang="zh-CN" altLang="en-US"/>
              <a:t>个整数，表示序列</a:t>
            </a:r>
            <a:r>
              <a:rPr lang="en-US" altLang="zh-CN"/>
              <a:t> a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 b="1"/>
              <a:t>输出格式</a:t>
            </a:r>
            <a:endParaRPr lang="zh-CN" altLang="en-US" b="1"/>
          </a:p>
          <a:p>
            <a:pPr lvl="1"/>
            <a:r>
              <a:rPr lang="zh-CN" altLang="en-US"/>
              <a:t>输出共两行，第一行为每次窗口滑动的最小值；</a:t>
            </a:r>
            <a:endParaRPr lang="zh-CN" altLang="en-US"/>
          </a:p>
          <a:p>
            <a:pPr lvl="1"/>
            <a:r>
              <a:rPr lang="zh-CN" altLang="en-US"/>
              <a:t>第二行为每次窗口滑动的最大值。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22885" y="885825"/>
            <a:ext cx="12477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题目描述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6223635" y="5091430"/>
            <a:ext cx="1698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输入输出样例</a:t>
            </a:r>
            <a:endParaRPr lang="zh-CN" altLang="en-US" b="1"/>
          </a:p>
        </p:txBody>
      </p:sp>
      <p:sp>
        <p:nvSpPr>
          <p:cNvPr id="13" name="文本框 12"/>
          <p:cNvSpPr txBox="1"/>
          <p:nvPr/>
        </p:nvSpPr>
        <p:spPr>
          <a:xfrm>
            <a:off x="6323965" y="5554345"/>
            <a:ext cx="23094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8 3</a:t>
            </a:r>
            <a:endParaRPr lang="en-US" altLang="zh-CN"/>
          </a:p>
          <a:p>
            <a:r>
              <a:rPr lang="en-US" altLang="zh-CN"/>
              <a:t>1 3 -1 -3 5 3 6 7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38895" y="5535930"/>
            <a:ext cx="20085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-1 -3 -3 -3 3 3</a:t>
            </a:r>
            <a:endParaRPr lang="en-US" altLang="zh-CN"/>
          </a:p>
          <a:p>
            <a:r>
              <a:rPr lang="en-US" altLang="zh-CN"/>
              <a:t>3 3 5 5 6 7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730885" y="1250315"/>
            <a:ext cx="11170285" cy="50158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void get_min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deque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dq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存储下标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n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++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维护单调性：队尾比当前大，就弹出（因为我们要最小值，大的没用）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while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!dq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empty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&amp;&amp;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dq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back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()]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])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    dq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pop_back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dq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push_back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2.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移除过期元素：队首下标超出窗口左边界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窗口左边界是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k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altLang="zh-CN" sz="1600" b="0" i="0">
              <a:solidFill>
                <a:srgbClr val="990055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dq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front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k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    dq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pop_front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3.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输出答案：窗口形成后（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k</a:t>
            </a:r>
            <a:r>
              <a:rPr lang="zh-CN" altLang="en-US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），队首即为最小值</a:t>
            </a:r>
            <a:endParaRPr lang="zh-CN" altLang="en-US" sz="1600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i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&gt;=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k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    cout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dq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front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()]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600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 "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cout </a:t>
            </a:r>
            <a:r>
              <a:rPr lang="en-US" altLang="zh-CN" sz="1600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600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endl</a:t>
            </a: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600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65" y="2863684"/>
            <a:ext cx="11506807" cy="2128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393" y="621101"/>
            <a:ext cx="5719156" cy="11837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47" y="0"/>
            <a:ext cx="9339072" cy="6858000"/>
          </a:xfrm>
          <a:prstGeom prst="rect">
            <a:avLst/>
          </a:prstGeom>
        </p:spPr>
      </p:pic>
      <p:sp>
        <p:nvSpPr>
          <p:cNvPr id="25" name="任意多边形 24"/>
          <p:cNvSpPr/>
          <p:nvPr/>
        </p:nvSpPr>
        <p:spPr>
          <a:xfrm>
            <a:off x="495302" y="0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912848 w 10745217"/>
              <a:gd name="connsiteY3" fmla="*/ 6913756 h 6913756"/>
              <a:gd name="connsiteX4" fmla="*/ 0 w 10745217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F1C51E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2" y="0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484587 w 10745217"/>
              <a:gd name="connsiteY3" fmla="*/ 6913756 h 6913756"/>
              <a:gd name="connsiteX4" fmla="*/ 0 w 10745217"/>
              <a:gd name="connsiteY4" fmla="*/ 4447531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484587" y="6913756"/>
                </a:lnTo>
                <a:lnTo>
                  <a:pt x="0" y="4447531"/>
                </a:lnTo>
                <a:close/>
              </a:path>
            </a:pathLst>
          </a:custGeom>
          <a:solidFill>
            <a:srgbClr val="B92022"/>
          </a:solidFill>
          <a:ln>
            <a:noFill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2" y="0"/>
            <a:ext cx="10976713" cy="6913756"/>
          </a:xfrm>
          <a:custGeom>
            <a:avLst/>
            <a:gdLst>
              <a:gd name="connsiteX0" fmla="*/ 0 w 10976713"/>
              <a:gd name="connsiteY0" fmla="*/ 0 h 6913756"/>
              <a:gd name="connsiteX1" fmla="*/ 4011482 w 10976713"/>
              <a:gd name="connsiteY1" fmla="*/ 0 h 6913756"/>
              <a:gd name="connsiteX2" fmla="*/ 10976713 w 10976713"/>
              <a:gd name="connsiteY2" fmla="*/ 6913756 h 6913756"/>
              <a:gd name="connsiteX3" fmla="*/ 2912848 w 10976713"/>
              <a:gd name="connsiteY3" fmla="*/ 6913756 h 6913756"/>
              <a:gd name="connsiteX4" fmla="*/ 0 w 10976713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6713" h="6913756">
                <a:moveTo>
                  <a:pt x="0" y="0"/>
                </a:moveTo>
                <a:lnTo>
                  <a:pt x="4011482" y="0"/>
                </a:lnTo>
                <a:lnTo>
                  <a:pt x="10976713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E86713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2" y="-16626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912848 w 10745217"/>
              <a:gd name="connsiteY3" fmla="*/ 6913756 h 6913756"/>
              <a:gd name="connsiteX4" fmla="*/ 0 w 10745217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36759" y="2361669"/>
            <a:ext cx="4895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  <a:cs typeface="+mn-ea"/>
                <a:sym typeface="+mn-lt"/>
              </a:rPr>
              <a:t>THANK </a:t>
            </a:r>
            <a:r>
              <a:rPr lang="en-US" altLang="zh-CN" sz="9600" b="1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YOU</a:t>
            </a:r>
            <a:endParaRPr lang="zh-CN" altLang="en-US" sz="9600" b="1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78488" y="3936013"/>
            <a:ext cx="262191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课程：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C++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教师：程老师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2393245" cy="5298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629*88"/>
  <p:tag name="TABLE_ENDDRAG_RECT" val="100*209*629*88"/>
</p:tagLst>
</file>

<file path=ppt/tags/tag2.xml><?xml version="1.0" encoding="utf-8"?>
<p:tagLst xmlns:p="http://schemas.openxmlformats.org/presentationml/2006/main">
  <p:tag name="KSO_WPP_MARK_KEY" val="21e91ba9-f2b3-4783-be8d-b49cccea8aa1"/>
  <p:tag name="COMMONDATA" val="eyJoZGlkIjoiZDEyNDEwMTY1OGFmODFiODdlZDM1NmY0MmZiN2E3NDAifQ=="/>
  <p:tag name="resource_record_key" val="{&quot;29&quot;:[50053368,50053044]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rjklhbba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4145</Words>
  <Application>WPS 演示</Application>
  <PresentationFormat>宽屏</PresentationFormat>
  <Paragraphs>325</Paragraphs>
  <Slides>20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Century Gothic</vt:lpstr>
      <vt:lpstr>微软雅黑 Light</vt:lpstr>
      <vt:lpstr>Agency FB</vt:lpstr>
      <vt:lpstr>华文细黑</vt:lpstr>
      <vt:lpstr>Consolas</vt:lpstr>
      <vt:lpstr>Arial Unicode MS</vt:lpstr>
      <vt:lpstr>Calibri</vt:lpstr>
      <vt:lpstr>BatangChe</vt:lpstr>
      <vt:lpstr>ZWSimpleStroke</vt:lpstr>
      <vt:lpstr>ui-monospace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鹏君</dc:creator>
  <cp:lastModifiedBy>Ms蒗</cp:lastModifiedBy>
  <cp:revision>256</cp:revision>
  <dcterms:created xsi:type="dcterms:W3CDTF">2020-10-06T11:46:00Z</dcterms:created>
  <dcterms:modified xsi:type="dcterms:W3CDTF">2026-03-13T06:20:41Z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DB8A7C5E4763431295C16981363D5749_12</vt:lpwstr>
  </property>
  <property fmtid="{D5CDD505-2E9C-101B-9397-08002B2CF9AE}" pid="3" name="KSOProductBuildVer">
    <vt:lpwstr>2052-12.1.0.25225</vt:lpwstr>
  </property>
</Properties>
</file>