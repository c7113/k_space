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70" r:id="rId3"/>
    <p:sldId id="271" r:id="rId4"/>
    <p:sldId id="401" r:id="rId6"/>
    <p:sldId id="397" r:id="rId7"/>
    <p:sldId id="493" r:id="rId8"/>
    <p:sldId id="542" r:id="rId9"/>
    <p:sldId id="543" r:id="rId10"/>
    <p:sldId id="546" r:id="rId11"/>
    <p:sldId id="547" r:id="rId12"/>
    <p:sldId id="545" r:id="rId13"/>
    <p:sldId id="544" r:id="rId14"/>
    <p:sldId id="548" r:id="rId15"/>
    <p:sldId id="549" r:id="rId16"/>
    <p:sldId id="539" r:id="rId17"/>
    <p:sldId id="494" r:id="rId18"/>
    <p:sldId id="495" r:id="rId19"/>
    <p:sldId id="496" r:id="rId20"/>
    <p:sldId id="550" r:id="rId21"/>
    <p:sldId id="551" r:id="rId22"/>
    <p:sldId id="474" r:id="rId23"/>
    <p:sldId id="532" r:id="rId24"/>
    <p:sldId id="405" r:id="rId25"/>
    <p:sldId id="272" r:id="rId26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B92022"/>
    <a:srgbClr val="268D3A"/>
    <a:srgbClr val="E86713"/>
    <a:srgbClr val="FBEFC1"/>
    <a:srgbClr val="FFD687"/>
    <a:srgbClr val="F1C51E"/>
    <a:srgbClr val="1163AF"/>
    <a:srgbClr val="DE9596"/>
    <a:srgbClr val="653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1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744" y="108"/>
      </p:cViewPr>
      <p:guideLst>
        <p:guide orient="horz" pos="224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2" d="100"/>
        <a:sy n="122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043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1" Type="http://schemas.openxmlformats.org/officeDocument/2006/relationships/tags" Target="tags/tag2.xml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14CAAC-3D94-4303-A1AA-E3CA422E04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9A600-3198-444F-940B-8127AA78170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9C9A1-17AB-4961-91FD-5CCCE29CF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9C9A1-17AB-4961-91FD-5CCCE29CF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9C9A1-17AB-4961-91FD-5CCCE29CF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9C9A1-17AB-4961-91FD-5CCCE29CF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9C9A1-17AB-4961-91FD-5CCCE29CF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鲁班创客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19"/>
          <a:stretch>
            <a:fillRect/>
          </a:stretch>
        </p:blipFill>
        <p:spPr>
          <a:xfrm>
            <a:off x="177431" y="102032"/>
            <a:ext cx="1185204" cy="11724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鲁班创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" y="1"/>
            <a:ext cx="12191999" cy="85142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910830" y="179455"/>
            <a:ext cx="4880665" cy="480131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>
            <a:lvl1pPr marL="0" indent="0">
              <a:buFontTx/>
              <a:buNone/>
              <a:defRPr lang="zh-CN" altLang="en-US" sz="28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/>
            <a:r>
              <a:rPr lang="zh-CN" altLang="en-US"/>
              <a:t>单击此处添加您的标题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19"/>
          <a:stretch>
            <a:fillRect/>
          </a:stretch>
        </p:blipFill>
        <p:spPr>
          <a:xfrm>
            <a:off x="177431" y="102032"/>
            <a:ext cx="641874" cy="634979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" y="6539757"/>
            <a:ext cx="12191999" cy="31824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icture" descr="Picture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-1" y="6507497"/>
            <a:ext cx="12191999" cy="4571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008" y="7495"/>
            <a:ext cx="7936992" cy="6858000"/>
          </a:xfrm>
          <a:prstGeom prst="rect">
            <a:avLst/>
          </a:prstGeom>
        </p:spPr>
      </p:pic>
      <p:sp>
        <p:nvSpPr>
          <p:cNvPr id="17" name="任意多边形 16"/>
          <p:cNvSpPr/>
          <p:nvPr/>
        </p:nvSpPr>
        <p:spPr>
          <a:xfrm flipH="1">
            <a:off x="3907971" y="0"/>
            <a:ext cx="8284027" cy="6877853"/>
          </a:xfrm>
          <a:custGeom>
            <a:avLst/>
            <a:gdLst>
              <a:gd name="connsiteX0" fmla="*/ 1125974 w 8135527"/>
              <a:gd name="connsiteY0" fmla="*/ 0 h 6877853"/>
              <a:gd name="connsiteX1" fmla="*/ 0 w 8135527"/>
              <a:gd name="connsiteY1" fmla="*/ 0 h 6877853"/>
              <a:gd name="connsiteX2" fmla="*/ 0 w 8135527"/>
              <a:gd name="connsiteY2" fmla="*/ 1128318 h 6877853"/>
              <a:gd name="connsiteX3" fmla="*/ 7402440 w 8135527"/>
              <a:gd name="connsiteY3" fmla="*/ 6877853 h 6877853"/>
              <a:gd name="connsiteX4" fmla="*/ 8135527 w 8135527"/>
              <a:gd name="connsiteY4" fmla="*/ 6877853 h 6877853"/>
              <a:gd name="connsiteX5" fmla="*/ 8135526 w 8135527"/>
              <a:gd name="connsiteY5" fmla="*/ 6877852 h 6877853"/>
              <a:gd name="connsiteX6" fmla="*/ 7966908 w 8135527"/>
              <a:gd name="connsiteY6" fmla="*/ 6877852 h 6877853"/>
              <a:gd name="connsiteX7" fmla="*/ 7954628 w 8135527"/>
              <a:gd name="connsiteY7" fmla="*/ 6865494 h 6877853"/>
              <a:gd name="connsiteX8" fmla="*/ 7922558 w 8135527"/>
              <a:gd name="connsiteY8" fmla="*/ 6865494 h 6877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35527" h="6877853">
                <a:moveTo>
                  <a:pt x="1125974" y="0"/>
                </a:moveTo>
                <a:lnTo>
                  <a:pt x="0" y="0"/>
                </a:lnTo>
                <a:lnTo>
                  <a:pt x="0" y="1128318"/>
                </a:lnTo>
                <a:lnTo>
                  <a:pt x="7402440" y="6877853"/>
                </a:lnTo>
                <a:lnTo>
                  <a:pt x="8135527" y="6877853"/>
                </a:lnTo>
                <a:lnTo>
                  <a:pt x="8135526" y="6877852"/>
                </a:lnTo>
                <a:lnTo>
                  <a:pt x="7966908" y="6877852"/>
                </a:lnTo>
                <a:lnTo>
                  <a:pt x="7954628" y="6865494"/>
                </a:lnTo>
                <a:lnTo>
                  <a:pt x="7922558" y="6865494"/>
                </a:lnTo>
                <a:close/>
              </a:path>
            </a:pathLst>
          </a:custGeom>
          <a:solidFill>
            <a:srgbClr val="F1C51E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2540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8" name="任意多边形 17"/>
          <p:cNvSpPr/>
          <p:nvPr/>
        </p:nvSpPr>
        <p:spPr>
          <a:xfrm flipH="1">
            <a:off x="4047343" y="-1"/>
            <a:ext cx="7003692" cy="6865495"/>
          </a:xfrm>
          <a:custGeom>
            <a:avLst/>
            <a:gdLst>
              <a:gd name="connsiteX0" fmla="*/ 1065557 w 7003692"/>
              <a:gd name="connsiteY0" fmla="*/ 0 h 6865495"/>
              <a:gd name="connsiteX1" fmla="*/ 0 w 7003692"/>
              <a:gd name="connsiteY1" fmla="*/ 0 h 6865495"/>
              <a:gd name="connsiteX2" fmla="*/ 6796585 w 7003692"/>
              <a:gd name="connsiteY2" fmla="*/ 6865495 h 6865495"/>
              <a:gd name="connsiteX3" fmla="*/ 7003692 w 7003692"/>
              <a:gd name="connsiteY3" fmla="*/ 6865495 h 6865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03692" h="6865495">
                <a:moveTo>
                  <a:pt x="1065557" y="0"/>
                </a:moveTo>
                <a:lnTo>
                  <a:pt x="0" y="0"/>
                </a:lnTo>
                <a:lnTo>
                  <a:pt x="6796585" y="6865495"/>
                </a:lnTo>
                <a:lnTo>
                  <a:pt x="7003692" y="6865495"/>
                </a:lnTo>
                <a:close/>
              </a:path>
            </a:pathLst>
          </a:custGeom>
          <a:solidFill>
            <a:srgbClr val="1163AF"/>
          </a:solidFill>
          <a:ln w="12700" cap="flat" cmpd="sng" algn="ctr">
            <a:noFill/>
            <a:prstDash val="solid"/>
            <a:miter lim="800000"/>
          </a:ln>
          <a:effectLst>
            <a:outerShdw blurRad="2540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9" name="直角三角形 18"/>
          <p:cNvSpPr/>
          <p:nvPr/>
        </p:nvSpPr>
        <p:spPr>
          <a:xfrm>
            <a:off x="-4335" y="5050518"/>
            <a:ext cx="1860421" cy="1807482"/>
          </a:xfrm>
          <a:prstGeom prst="rtTriangle">
            <a:avLst/>
          </a:prstGeom>
          <a:solidFill>
            <a:srgbClr val="B9202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0" y="4279691"/>
            <a:ext cx="2193948" cy="2585803"/>
          </a:xfrm>
          <a:custGeom>
            <a:avLst/>
            <a:gdLst>
              <a:gd name="connsiteX0" fmla="*/ 0 w 2193948"/>
              <a:gd name="connsiteY0" fmla="*/ 0 h 2585803"/>
              <a:gd name="connsiteX1" fmla="*/ 2193948 w 2193948"/>
              <a:gd name="connsiteY1" fmla="*/ 2585803 h 2585803"/>
              <a:gd name="connsiteX2" fmla="*/ 1859213 w 2193948"/>
              <a:gd name="connsiteY2" fmla="*/ 2585803 h 2585803"/>
              <a:gd name="connsiteX3" fmla="*/ 0 w 2193948"/>
              <a:gd name="connsiteY3" fmla="*/ 779495 h 2585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3948" h="2585803">
                <a:moveTo>
                  <a:pt x="0" y="0"/>
                </a:moveTo>
                <a:lnTo>
                  <a:pt x="2193948" y="2585803"/>
                </a:lnTo>
                <a:lnTo>
                  <a:pt x="1859213" y="2585803"/>
                </a:lnTo>
                <a:lnTo>
                  <a:pt x="0" y="779495"/>
                </a:lnTo>
                <a:close/>
              </a:path>
            </a:pathLst>
          </a:custGeom>
          <a:solidFill>
            <a:srgbClr val="268D3A"/>
          </a:solidFill>
          <a:ln w="12700" cap="flat" cmpd="sng" algn="ctr">
            <a:noFill/>
            <a:prstDash val="solid"/>
            <a:miter lim="800000"/>
          </a:ln>
          <a:effectLst>
            <a:outerShdw blurRad="127000" dist="88900" dir="8100000" algn="tr" rotWithShape="0">
              <a:prstClr val="black">
                <a:alpha val="3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84143" y="2114909"/>
            <a:ext cx="46532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400" b="1" dirty="0">
                <a:solidFill>
                  <a:srgbClr val="000000">
                    <a:lumMod val="75000"/>
                    <a:lumOff val="25000"/>
                  </a:srgbClr>
                </a:solidFill>
                <a:latin typeface="Century Gothic" panose="020B0502020202020204"/>
                <a:cs typeface="+mn-ea"/>
                <a:sym typeface="+mn-lt"/>
              </a:rPr>
              <a:t>进制转换与位运算</a:t>
            </a:r>
            <a:endParaRPr lang="zh-CN" altLang="en-US" sz="4400" b="1" dirty="0">
              <a:solidFill>
                <a:srgbClr val="000000">
                  <a:lumMod val="75000"/>
                  <a:lumOff val="25000"/>
                </a:srgbClr>
              </a:solidFill>
              <a:latin typeface="Century Gothic" panose="020B0502020202020204"/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18010" y="3028890"/>
            <a:ext cx="24016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spc="3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-</a:t>
            </a:r>
            <a:r>
              <a:rPr lang="zh-CN" altLang="en-US" sz="2000" b="1" spc="3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爱心</a:t>
            </a:r>
            <a:r>
              <a:rPr lang="en-US" altLang="zh-CN" sz="2000" b="1" spc="3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-</a:t>
            </a:r>
            <a:r>
              <a:rPr lang="zh-CN" altLang="en-US" sz="2000" b="1" spc="3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创新</a:t>
            </a:r>
            <a:r>
              <a:rPr lang="en-US" altLang="zh-CN" sz="2000" b="1" spc="3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-</a:t>
            </a:r>
            <a:r>
              <a:rPr lang="zh-CN" altLang="en-US" sz="2000" b="1" spc="3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匠心</a:t>
            </a:r>
            <a:endParaRPr lang="zh-CN" altLang="en-US" sz="2000" b="1" spc="300" dirty="0">
              <a:solidFill>
                <a:srgbClr val="000000">
                  <a:lumMod val="65000"/>
                  <a:lumOff val="35000"/>
                </a:srgb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18010" y="3568000"/>
            <a:ext cx="24180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anose="020B0502020202020204"/>
                <a:cs typeface="+mn-ea"/>
                <a:sym typeface="+mn-lt"/>
              </a:rPr>
              <a:t>课程：</a:t>
            </a:r>
            <a:r>
              <a:rPr lang="en-US" altLang="zh-CN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C++</a:t>
            </a:r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anose="020B0502020202020204"/>
                <a:cs typeface="+mn-ea"/>
                <a:sym typeface="+mn-lt"/>
              </a:rPr>
              <a:t>    教师：</a:t>
            </a:r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程老师</a:t>
            </a:r>
            <a:endParaRPr lang="zh-CN" altLang="en-US" sz="1400" b="1" dirty="0">
              <a:solidFill>
                <a:srgbClr val="000000">
                  <a:lumMod val="65000"/>
                  <a:lumOff val="35000"/>
                </a:srgb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  <a:sym typeface="+mn-lt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33" y="374686"/>
            <a:ext cx="2269067" cy="5023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928" y="0"/>
            <a:ext cx="9339072" cy="6858000"/>
          </a:xfrm>
          <a:prstGeom prst="rect">
            <a:avLst/>
          </a:prstGeom>
        </p:spPr>
      </p:pic>
      <p:sp>
        <p:nvSpPr>
          <p:cNvPr id="14" name="任意多边形 13"/>
          <p:cNvSpPr/>
          <p:nvPr/>
        </p:nvSpPr>
        <p:spPr>
          <a:xfrm>
            <a:off x="2888168" y="0"/>
            <a:ext cx="7658962" cy="6858000"/>
          </a:xfrm>
          <a:custGeom>
            <a:avLst/>
            <a:gdLst>
              <a:gd name="connsiteX0" fmla="*/ 0 w 7658962"/>
              <a:gd name="connsiteY0" fmla="*/ 0 h 6858000"/>
              <a:gd name="connsiteX1" fmla="*/ 831578 w 7658962"/>
              <a:gd name="connsiteY1" fmla="*/ 0 h 6858000"/>
              <a:gd name="connsiteX2" fmla="*/ 7658962 w 7658962"/>
              <a:gd name="connsiteY2" fmla="*/ 6858000 h 6858000"/>
              <a:gd name="connsiteX3" fmla="*/ 6844042 w 76589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58962" h="6858000">
                <a:moveTo>
                  <a:pt x="0" y="0"/>
                </a:moveTo>
                <a:lnTo>
                  <a:pt x="831578" y="0"/>
                </a:lnTo>
                <a:lnTo>
                  <a:pt x="7658962" y="6858000"/>
                </a:lnTo>
                <a:lnTo>
                  <a:pt x="6844042" y="6858000"/>
                </a:lnTo>
                <a:close/>
              </a:path>
            </a:pathLst>
          </a:custGeom>
          <a:solidFill>
            <a:srgbClr val="E8671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2818516" y="0"/>
            <a:ext cx="7143810" cy="6858000"/>
          </a:xfrm>
          <a:custGeom>
            <a:avLst/>
            <a:gdLst>
              <a:gd name="connsiteX0" fmla="*/ 0 w 7143810"/>
              <a:gd name="connsiteY0" fmla="*/ 0 h 6858000"/>
              <a:gd name="connsiteX1" fmla="*/ 299769 w 7143810"/>
              <a:gd name="connsiteY1" fmla="*/ 0 h 6858000"/>
              <a:gd name="connsiteX2" fmla="*/ 7143810 w 7143810"/>
              <a:gd name="connsiteY2" fmla="*/ 6858000 h 6858000"/>
              <a:gd name="connsiteX3" fmla="*/ 6844041 w 71438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3810" h="6858000">
                <a:moveTo>
                  <a:pt x="0" y="0"/>
                </a:moveTo>
                <a:lnTo>
                  <a:pt x="299769" y="0"/>
                </a:lnTo>
                <a:lnTo>
                  <a:pt x="7143810" y="6858000"/>
                </a:lnTo>
                <a:lnTo>
                  <a:pt x="6844041" y="6858000"/>
                </a:lnTo>
                <a:close/>
              </a:path>
            </a:pathLst>
          </a:custGeom>
          <a:solidFill>
            <a:srgbClr val="1163AF"/>
          </a:solidFill>
          <a:ln>
            <a:noFill/>
          </a:ln>
          <a:effectLst>
            <a:outerShdw blurRad="127000" dist="381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2233712" y="1838638"/>
            <a:ext cx="1124026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500" dirty="0">
                <a:solidFill>
                  <a:srgbClr val="1163AF"/>
                </a:solidFill>
                <a:latin typeface="Agency FB" panose="020B0503020202020204" pitchFamily="34" charset="0"/>
                <a:cs typeface="+mn-ea"/>
                <a:sym typeface="+mn-lt"/>
              </a:rPr>
              <a:t>01</a:t>
            </a:r>
            <a:endParaRPr lang="zh-CN" altLang="en-US" sz="11500" dirty="0">
              <a:solidFill>
                <a:srgbClr val="1163AF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23362" y="2576343"/>
            <a:ext cx="145424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+mn-ea"/>
                <a:sym typeface="+mn-lt"/>
              </a:rPr>
              <a:t>Part</a:t>
            </a:r>
            <a:endParaRPr lang="zh-CN" altLang="en-US" sz="5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23361" y="3977314"/>
            <a:ext cx="3961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课程目录</a:t>
            </a:r>
            <a:endParaRPr lang="en-US" altLang="zh-CN" sz="36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813167" y="4638817"/>
            <a:ext cx="5940000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38" name="等腰三角形 37"/>
          <p:cNvSpPr/>
          <p:nvPr/>
        </p:nvSpPr>
        <p:spPr>
          <a:xfrm>
            <a:off x="5703858" y="4510413"/>
            <a:ext cx="498226" cy="126581"/>
          </a:xfrm>
          <a:prstGeom prst="triangle">
            <a:avLst/>
          </a:prstGeom>
          <a:solidFill>
            <a:srgbClr val="1163A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39" name="等腰三角形 38"/>
          <p:cNvSpPr/>
          <p:nvPr/>
        </p:nvSpPr>
        <p:spPr>
          <a:xfrm>
            <a:off x="5904129" y="4420994"/>
            <a:ext cx="498226" cy="216000"/>
          </a:xfrm>
          <a:prstGeom prst="triangle">
            <a:avLst/>
          </a:prstGeom>
          <a:solidFill>
            <a:srgbClr val="E8671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0" name="等腰三角形 39"/>
          <p:cNvSpPr/>
          <p:nvPr/>
        </p:nvSpPr>
        <p:spPr>
          <a:xfrm>
            <a:off x="6264272" y="4575287"/>
            <a:ext cx="498226" cy="61706"/>
          </a:xfrm>
          <a:prstGeom prst="triangle">
            <a:avLst/>
          </a:prstGeom>
          <a:solidFill>
            <a:srgbClr val="268D3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1" name="等腰三角形 40"/>
          <p:cNvSpPr/>
          <p:nvPr/>
        </p:nvSpPr>
        <p:spPr>
          <a:xfrm>
            <a:off x="6053307" y="4531697"/>
            <a:ext cx="498226" cy="105297"/>
          </a:xfrm>
          <a:prstGeom prst="triangle">
            <a:avLst/>
          </a:prstGeom>
          <a:solidFill>
            <a:srgbClr val="F1C51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318243"/>
            <a:ext cx="1749779" cy="387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目录</a:t>
            </a:r>
            <a:endParaRPr lang="zh-CN" altLang="en-US" sz="2000" dirty="0"/>
          </a:p>
        </p:txBody>
      </p:sp>
      <p:sp>
        <p:nvSpPr>
          <p:cNvPr id="3" name="流程图: 接点 2"/>
          <p:cNvSpPr/>
          <p:nvPr/>
        </p:nvSpPr>
        <p:spPr>
          <a:xfrm>
            <a:off x="3599469" y="1809911"/>
            <a:ext cx="369455" cy="378691"/>
          </a:xfrm>
          <a:prstGeom prst="flowChartConnector">
            <a:avLst/>
          </a:prstGeom>
          <a:solidFill>
            <a:srgbClr val="E8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4195445" y="1717675"/>
            <a:ext cx="4789170" cy="56324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能熟练进行二、十、十六进制互转；会算负数的补码；知道</a:t>
            </a:r>
            <a:r>
              <a:rPr lang="en-US" altLang="zh-CN" dirty="0"/>
              <a:t> ASCII </a:t>
            </a:r>
            <a:r>
              <a:rPr lang="zh-CN" altLang="en-US" dirty="0"/>
              <a:t>码规律</a:t>
            </a:r>
            <a:endParaRPr lang="zh-CN" altLang="en-US" dirty="0"/>
          </a:p>
        </p:txBody>
      </p:sp>
      <p:sp>
        <p:nvSpPr>
          <p:cNvPr id="8" name="流程图: 接点 7"/>
          <p:cNvSpPr/>
          <p:nvPr/>
        </p:nvSpPr>
        <p:spPr>
          <a:xfrm>
            <a:off x="3576382" y="2701215"/>
            <a:ext cx="369455" cy="378691"/>
          </a:xfrm>
          <a:prstGeom prst="flowChartConnector">
            <a:avLst/>
          </a:prstGeom>
          <a:solidFill>
            <a:srgbClr val="E8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4171950" y="2608580"/>
            <a:ext cx="4813300" cy="56324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能用</a:t>
            </a:r>
            <a:r>
              <a:rPr lang="en-US" altLang="zh-CN" dirty="0"/>
              <a:t> C++ </a:t>
            </a:r>
            <a:r>
              <a:rPr lang="zh-CN" altLang="en-US" dirty="0"/>
              <a:t>写</a:t>
            </a:r>
            <a:r>
              <a:rPr lang="en-US" altLang="zh-CN" dirty="0"/>
              <a:t> &amp;, |, ^, &lt;&lt;, &gt;&gt; </a:t>
            </a:r>
            <a:r>
              <a:rPr lang="zh-CN" altLang="en-US" dirty="0"/>
              <a:t>运算；掌握</a:t>
            </a:r>
            <a:r>
              <a:rPr lang="en-US" altLang="zh-CN" dirty="0"/>
              <a:t> 3 </a:t>
            </a:r>
            <a:r>
              <a:rPr lang="zh-CN" altLang="en-US" dirty="0"/>
              <a:t>个必背技巧</a:t>
            </a:r>
            <a:endParaRPr lang="zh-CN" altLang="en-US" dirty="0"/>
          </a:p>
        </p:txBody>
      </p:sp>
      <p:sp>
        <p:nvSpPr>
          <p:cNvPr id="12" name="流程图: 接点 11"/>
          <p:cNvSpPr/>
          <p:nvPr/>
        </p:nvSpPr>
        <p:spPr>
          <a:xfrm>
            <a:off x="3604086" y="3514018"/>
            <a:ext cx="369455" cy="378691"/>
          </a:xfrm>
          <a:prstGeom prst="flowChartConnector">
            <a:avLst/>
          </a:prstGeom>
          <a:solidFill>
            <a:srgbClr val="E8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/>
          <p:cNvSpPr/>
          <p:nvPr/>
        </p:nvSpPr>
        <p:spPr>
          <a:xfrm>
            <a:off x="4199890" y="3421380"/>
            <a:ext cx="4784725" cy="56324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能独立写出</a:t>
            </a:r>
            <a:r>
              <a:rPr lang="en-US" altLang="zh-CN" dirty="0"/>
              <a:t>“</a:t>
            </a:r>
            <a:r>
              <a:rPr lang="zh-CN" altLang="en-US" dirty="0"/>
              <a:t>十进制转任意进制</a:t>
            </a:r>
            <a:r>
              <a:rPr lang="en-US" altLang="zh-CN" dirty="0"/>
              <a:t>”</a:t>
            </a:r>
            <a:r>
              <a:rPr lang="zh-CN" altLang="en-US" dirty="0"/>
              <a:t>的程序，并正确处理文件读写</a:t>
            </a:r>
            <a:endParaRPr lang="zh-CN" altLang="en-US" dirty="0"/>
          </a:p>
        </p:txBody>
      </p:sp>
      <p:sp>
        <p:nvSpPr>
          <p:cNvPr id="4" name="流程图: 接点 11"/>
          <p:cNvSpPr/>
          <p:nvPr/>
        </p:nvSpPr>
        <p:spPr>
          <a:xfrm>
            <a:off x="3604721" y="4326818"/>
            <a:ext cx="369455" cy="378691"/>
          </a:xfrm>
          <a:prstGeom prst="flowChartConnector">
            <a:avLst/>
          </a:prstGeom>
          <a:solidFill>
            <a:srgbClr val="E8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12"/>
          <p:cNvSpPr/>
          <p:nvPr/>
        </p:nvSpPr>
        <p:spPr>
          <a:xfrm>
            <a:off x="4200525" y="4234180"/>
            <a:ext cx="4784725" cy="56324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对比普通算法和位运算算法，体会位运算为什么更快、更简洁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928" y="0"/>
            <a:ext cx="9339072" cy="6858000"/>
          </a:xfrm>
          <a:prstGeom prst="rect">
            <a:avLst/>
          </a:prstGeom>
        </p:spPr>
      </p:pic>
      <p:sp>
        <p:nvSpPr>
          <p:cNvPr id="14" name="任意多边形 13"/>
          <p:cNvSpPr/>
          <p:nvPr/>
        </p:nvSpPr>
        <p:spPr>
          <a:xfrm>
            <a:off x="2888168" y="0"/>
            <a:ext cx="7658962" cy="6858000"/>
          </a:xfrm>
          <a:custGeom>
            <a:avLst/>
            <a:gdLst>
              <a:gd name="connsiteX0" fmla="*/ 0 w 7658962"/>
              <a:gd name="connsiteY0" fmla="*/ 0 h 6858000"/>
              <a:gd name="connsiteX1" fmla="*/ 831578 w 7658962"/>
              <a:gd name="connsiteY1" fmla="*/ 0 h 6858000"/>
              <a:gd name="connsiteX2" fmla="*/ 7658962 w 7658962"/>
              <a:gd name="connsiteY2" fmla="*/ 6858000 h 6858000"/>
              <a:gd name="connsiteX3" fmla="*/ 6844042 w 76589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58962" h="6858000">
                <a:moveTo>
                  <a:pt x="0" y="0"/>
                </a:moveTo>
                <a:lnTo>
                  <a:pt x="831578" y="0"/>
                </a:lnTo>
                <a:lnTo>
                  <a:pt x="7658962" y="6858000"/>
                </a:lnTo>
                <a:lnTo>
                  <a:pt x="6844042" y="6858000"/>
                </a:lnTo>
                <a:close/>
              </a:path>
            </a:pathLst>
          </a:custGeom>
          <a:solidFill>
            <a:srgbClr val="E8671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2818516" y="0"/>
            <a:ext cx="7143810" cy="6858000"/>
          </a:xfrm>
          <a:custGeom>
            <a:avLst/>
            <a:gdLst>
              <a:gd name="connsiteX0" fmla="*/ 0 w 7143810"/>
              <a:gd name="connsiteY0" fmla="*/ 0 h 6858000"/>
              <a:gd name="connsiteX1" fmla="*/ 299769 w 7143810"/>
              <a:gd name="connsiteY1" fmla="*/ 0 h 6858000"/>
              <a:gd name="connsiteX2" fmla="*/ 7143810 w 7143810"/>
              <a:gd name="connsiteY2" fmla="*/ 6858000 h 6858000"/>
              <a:gd name="connsiteX3" fmla="*/ 6844041 w 71438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3810" h="6858000">
                <a:moveTo>
                  <a:pt x="0" y="0"/>
                </a:moveTo>
                <a:lnTo>
                  <a:pt x="299769" y="0"/>
                </a:lnTo>
                <a:lnTo>
                  <a:pt x="7143810" y="6858000"/>
                </a:lnTo>
                <a:lnTo>
                  <a:pt x="6844041" y="6858000"/>
                </a:lnTo>
                <a:close/>
              </a:path>
            </a:pathLst>
          </a:custGeom>
          <a:solidFill>
            <a:srgbClr val="1163AF"/>
          </a:solidFill>
          <a:ln>
            <a:noFill/>
          </a:ln>
          <a:effectLst>
            <a:outerShdw blurRad="127000" dist="381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2233712" y="1838638"/>
            <a:ext cx="1399742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500" dirty="0">
                <a:solidFill>
                  <a:srgbClr val="1163AF"/>
                </a:solidFill>
                <a:latin typeface="Agency FB" panose="020B0503020202020204" pitchFamily="34" charset="0"/>
                <a:cs typeface="+mn-ea"/>
                <a:sym typeface="+mn-lt"/>
              </a:rPr>
              <a:t>02</a:t>
            </a:r>
            <a:endParaRPr lang="zh-CN" altLang="en-US" sz="11500" dirty="0">
              <a:solidFill>
                <a:srgbClr val="1163AF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23362" y="2576343"/>
            <a:ext cx="145424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+mn-ea"/>
                <a:sym typeface="+mn-lt"/>
              </a:rPr>
              <a:t>Part</a:t>
            </a:r>
            <a:endParaRPr lang="zh-CN" altLang="en-US" sz="5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23362" y="3977455"/>
            <a:ext cx="396184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进制与编码</a:t>
            </a:r>
            <a:endParaRPr lang="zh-CN" altLang="en-US" sz="36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813167" y="4638817"/>
            <a:ext cx="5940000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38" name="等腰三角形 37"/>
          <p:cNvSpPr/>
          <p:nvPr/>
        </p:nvSpPr>
        <p:spPr>
          <a:xfrm>
            <a:off x="5703858" y="4510413"/>
            <a:ext cx="498226" cy="126581"/>
          </a:xfrm>
          <a:prstGeom prst="triangle">
            <a:avLst/>
          </a:prstGeom>
          <a:solidFill>
            <a:srgbClr val="1163A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39" name="等腰三角形 38"/>
          <p:cNvSpPr/>
          <p:nvPr/>
        </p:nvSpPr>
        <p:spPr>
          <a:xfrm>
            <a:off x="5904129" y="4420994"/>
            <a:ext cx="498226" cy="216000"/>
          </a:xfrm>
          <a:prstGeom prst="triangle">
            <a:avLst/>
          </a:prstGeom>
          <a:solidFill>
            <a:srgbClr val="E8671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0" name="等腰三角形 39"/>
          <p:cNvSpPr/>
          <p:nvPr/>
        </p:nvSpPr>
        <p:spPr>
          <a:xfrm>
            <a:off x="6264272" y="4575287"/>
            <a:ext cx="498226" cy="61706"/>
          </a:xfrm>
          <a:prstGeom prst="triangle">
            <a:avLst/>
          </a:prstGeom>
          <a:solidFill>
            <a:srgbClr val="268D3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1" name="等腰三角形 40"/>
          <p:cNvSpPr/>
          <p:nvPr/>
        </p:nvSpPr>
        <p:spPr>
          <a:xfrm>
            <a:off x="6053307" y="4531697"/>
            <a:ext cx="498226" cy="105297"/>
          </a:xfrm>
          <a:prstGeom prst="triangle">
            <a:avLst/>
          </a:prstGeom>
          <a:solidFill>
            <a:srgbClr val="F1C51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318243"/>
            <a:ext cx="1749779" cy="387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95151" y="1107786"/>
            <a:ext cx="2519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进制互转</a:t>
            </a:r>
            <a:r>
              <a:rPr lang="en-US" altLang="zh-CN" sz="2400" dirty="0"/>
              <a:t>“</a:t>
            </a:r>
            <a:r>
              <a:rPr lang="zh-CN" altLang="en-US" sz="2400" dirty="0"/>
              <a:t>三板斧</a:t>
            </a:r>
            <a:r>
              <a:rPr lang="en-US" altLang="zh-CN" sz="2400" dirty="0"/>
              <a:t>”</a:t>
            </a:r>
            <a:endParaRPr lang="en-US" altLang="zh-CN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307975" y="1822450"/>
            <a:ext cx="377507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其他进制 </a:t>
            </a:r>
            <a:r>
              <a:rPr lang="en-US" altLang="zh-CN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 </a:t>
            </a:r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十进制：按权展开法</a:t>
            </a:r>
            <a:endParaRPr lang="zh-CN" altLang="en-US" b="0" i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69950" y="2673350"/>
            <a:ext cx="96342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（</a:t>
            </a:r>
            <a:r>
              <a:rPr lang="en-US" altLang="zh-CN" sz="2800"/>
              <a:t>1011</a:t>
            </a:r>
            <a:r>
              <a:rPr lang="zh-CN" altLang="en-US" sz="2800"/>
              <a:t>）</a:t>
            </a:r>
            <a:r>
              <a:rPr lang="en-US" altLang="zh-CN" sz="2800" baseline="-25000"/>
              <a:t>2  </a:t>
            </a:r>
            <a:r>
              <a:rPr lang="en-US" altLang="zh-CN" sz="2800"/>
              <a:t>=  1*2</a:t>
            </a:r>
            <a:r>
              <a:rPr lang="en-US" altLang="zh-CN" sz="2800" baseline="30000"/>
              <a:t>3  </a:t>
            </a:r>
            <a:r>
              <a:rPr lang="en-US" altLang="zh-CN" sz="2800"/>
              <a:t>+ 0*2</a:t>
            </a:r>
            <a:r>
              <a:rPr lang="en-US" altLang="zh-CN" sz="2800" baseline="30000"/>
              <a:t>2  </a:t>
            </a:r>
            <a:r>
              <a:rPr lang="en-US" altLang="zh-CN" sz="2800"/>
              <a:t>+ 1</a:t>
            </a:r>
            <a:r>
              <a:rPr lang="en-US" altLang="zh-CN" sz="2800">
                <a:sym typeface="+mn-ea"/>
              </a:rPr>
              <a:t>*2</a:t>
            </a:r>
            <a:r>
              <a:rPr lang="en-US" altLang="zh-CN" sz="2800" baseline="30000">
                <a:sym typeface="+mn-ea"/>
              </a:rPr>
              <a:t>1</a:t>
            </a:r>
            <a:r>
              <a:rPr lang="en-US" altLang="zh-CN" sz="2800">
                <a:sym typeface="+mn-ea"/>
              </a:rPr>
              <a:t> + 1*2</a:t>
            </a:r>
            <a:r>
              <a:rPr lang="en-US" altLang="zh-CN" sz="2800" baseline="30000">
                <a:sym typeface="+mn-ea"/>
              </a:rPr>
              <a:t>0   </a:t>
            </a:r>
            <a:r>
              <a:rPr lang="en-US" altLang="zh-CN" sz="2800">
                <a:sym typeface="+mn-ea"/>
              </a:rPr>
              <a:t>= 8 + 2 + 1 = 11 </a:t>
            </a:r>
            <a:endParaRPr lang="en-US" altLang="zh-CN" sz="280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98525" y="3543935"/>
            <a:ext cx="90728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（</a:t>
            </a:r>
            <a:r>
              <a:rPr lang="en-US" altLang="zh-CN" sz="2800"/>
              <a:t>1A</a:t>
            </a:r>
            <a:r>
              <a:rPr lang="zh-CN" altLang="en-US" sz="2800"/>
              <a:t>）</a:t>
            </a:r>
            <a:r>
              <a:rPr lang="en-US" altLang="zh-CN" sz="2800" baseline="-25000"/>
              <a:t>16    </a:t>
            </a:r>
            <a:r>
              <a:rPr lang="en-US" altLang="zh-CN" sz="2800"/>
              <a:t>=  1*16</a:t>
            </a:r>
            <a:r>
              <a:rPr lang="en-US" altLang="zh-CN" sz="2800" baseline="30000"/>
              <a:t>1  </a:t>
            </a:r>
            <a:r>
              <a:rPr lang="en-US" altLang="zh-CN" sz="2800"/>
              <a:t>+ 10 * 16</a:t>
            </a:r>
            <a:r>
              <a:rPr lang="en-US" altLang="zh-CN" sz="2800" baseline="30000"/>
              <a:t>0</a:t>
            </a:r>
            <a:r>
              <a:rPr lang="en-US" altLang="zh-CN" sz="2800" baseline="30000">
                <a:sym typeface="+mn-ea"/>
              </a:rPr>
              <a:t>   </a:t>
            </a:r>
            <a:r>
              <a:rPr lang="en-US" altLang="zh-CN" sz="2800">
                <a:sym typeface="+mn-ea"/>
              </a:rPr>
              <a:t>= 26 </a:t>
            </a:r>
            <a:endParaRPr lang="en-US" altLang="zh-CN" sz="2800">
              <a:sym typeface="+mn-ea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1403350" y="4475480"/>
          <a:ext cx="7934960" cy="133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360"/>
                <a:gridCol w="721360"/>
                <a:gridCol w="721360"/>
                <a:gridCol w="721360"/>
                <a:gridCol w="721360"/>
                <a:gridCol w="721360"/>
                <a:gridCol w="721360"/>
                <a:gridCol w="721360"/>
                <a:gridCol w="721360"/>
                <a:gridCol w="721360"/>
                <a:gridCol w="721360"/>
              </a:tblGrid>
              <a:tr h="6667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6667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256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512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1024</a:t>
                      </a:r>
                      <a:endParaRPr lang="en-US" altLang="zh-CN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95151" y="1107786"/>
            <a:ext cx="2519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进制互转</a:t>
            </a:r>
            <a:r>
              <a:rPr lang="en-US" altLang="zh-CN" sz="2400" dirty="0"/>
              <a:t>“</a:t>
            </a:r>
            <a:r>
              <a:rPr lang="zh-CN" altLang="en-US" sz="2400" dirty="0"/>
              <a:t>三板斧</a:t>
            </a:r>
            <a:r>
              <a:rPr lang="en-US" altLang="zh-CN" sz="2400" dirty="0"/>
              <a:t>”</a:t>
            </a:r>
            <a:endParaRPr lang="en-US" altLang="zh-CN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307975" y="1822450"/>
            <a:ext cx="645096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十进制</a:t>
            </a:r>
            <a:r>
              <a:rPr lang="en-US" altLang="zh-CN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r>
              <a:rPr lang="en-US" altLang="zh-CN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其他进制：除基取余法（倒序排列）</a:t>
            </a:r>
            <a:endParaRPr lang="zh-CN" altLang="en-US" b="0" i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8935" y="2328545"/>
            <a:ext cx="30619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ym typeface="+mn-ea"/>
              </a:rPr>
              <a:t>将</a:t>
            </a:r>
            <a:r>
              <a:rPr lang="en-US" altLang="zh-CN" sz="2800">
                <a:sym typeface="+mn-ea"/>
              </a:rPr>
              <a:t> 13 </a:t>
            </a:r>
            <a:r>
              <a:rPr lang="zh-CN" altLang="en-US" sz="2800">
                <a:sym typeface="+mn-ea"/>
              </a:rPr>
              <a:t>转为二进制</a:t>
            </a:r>
            <a:endParaRPr lang="zh-CN" altLang="en-US" sz="280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45230" y="2808605"/>
            <a:ext cx="36055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13 </a:t>
            </a:r>
            <a:r>
              <a:rPr lang="zh-CN" altLang="en-US" sz="2800" b="1"/>
              <a:t>➗</a:t>
            </a:r>
            <a:r>
              <a:rPr lang="en-US" altLang="zh-CN" sz="2800" b="1"/>
              <a:t>  2  = 6 .......... 1</a:t>
            </a:r>
            <a:endParaRPr lang="en-US" altLang="zh-CN" sz="2800" b="1"/>
          </a:p>
        </p:txBody>
      </p:sp>
      <p:sp>
        <p:nvSpPr>
          <p:cNvPr id="8" name="文本框 7"/>
          <p:cNvSpPr txBox="1"/>
          <p:nvPr/>
        </p:nvSpPr>
        <p:spPr>
          <a:xfrm>
            <a:off x="3745230" y="3467735"/>
            <a:ext cx="36055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6   </a:t>
            </a:r>
            <a:r>
              <a:rPr lang="zh-CN" altLang="en-US" sz="2800" b="1"/>
              <a:t>➗</a:t>
            </a:r>
            <a:r>
              <a:rPr lang="en-US" altLang="zh-CN" sz="2800" b="1"/>
              <a:t>  2  = 3 .......... 0</a:t>
            </a:r>
            <a:endParaRPr lang="en-US" altLang="zh-CN" sz="2800" b="1"/>
          </a:p>
        </p:txBody>
      </p:sp>
      <p:sp>
        <p:nvSpPr>
          <p:cNvPr id="9" name="文本框 8"/>
          <p:cNvSpPr txBox="1"/>
          <p:nvPr/>
        </p:nvSpPr>
        <p:spPr>
          <a:xfrm>
            <a:off x="3740150" y="4133215"/>
            <a:ext cx="36055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3   </a:t>
            </a:r>
            <a:r>
              <a:rPr lang="zh-CN" altLang="en-US" sz="2800" b="1"/>
              <a:t>➗</a:t>
            </a:r>
            <a:r>
              <a:rPr lang="en-US" altLang="zh-CN" sz="2800" b="1"/>
              <a:t>  2  = 1 .......... 1</a:t>
            </a:r>
            <a:endParaRPr lang="en-US" altLang="zh-CN" sz="2800" b="1"/>
          </a:p>
        </p:txBody>
      </p:sp>
      <p:sp>
        <p:nvSpPr>
          <p:cNvPr id="12" name="文本框 11"/>
          <p:cNvSpPr txBox="1"/>
          <p:nvPr/>
        </p:nvSpPr>
        <p:spPr>
          <a:xfrm>
            <a:off x="3765550" y="4778375"/>
            <a:ext cx="36055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1   </a:t>
            </a:r>
            <a:r>
              <a:rPr lang="zh-CN" altLang="en-US" sz="2800" b="1"/>
              <a:t>➗</a:t>
            </a:r>
            <a:r>
              <a:rPr lang="en-US" altLang="zh-CN" sz="2800" b="1"/>
              <a:t>  2  = 0 .......... 1</a:t>
            </a:r>
            <a:endParaRPr lang="en-US" altLang="zh-CN" sz="2800" b="1"/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7907655" y="3012440"/>
            <a:ext cx="0" cy="2214880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8961755" y="3456305"/>
            <a:ext cx="216662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1101</a:t>
            </a:r>
            <a:endParaRPr lang="en-US" altLang="zh-CN" sz="7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95151" y="1107786"/>
            <a:ext cx="2519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进制互转</a:t>
            </a:r>
            <a:r>
              <a:rPr lang="en-US" altLang="zh-CN" sz="2400" dirty="0"/>
              <a:t>“</a:t>
            </a:r>
            <a:r>
              <a:rPr lang="zh-CN" altLang="en-US" sz="2400" dirty="0"/>
              <a:t>三板斧</a:t>
            </a:r>
            <a:r>
              <a:rPr lang="en-US" altLang="zh-CN" sz="2400" dirty="0"/>
              <a:t>”</a:t>
            </a:r>
            <a:endParaRPr lang="en-US" altLang="zh-CN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307975" y="1822450"/>
            <a:ext cx="751649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二进制</a:t>
            </a:r>
            <a:r>
              <a:rPr lang="en-US" altLang="zh-CN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↔</a:t>
            </a:r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八</a:t>
            </a:r>
            <a:r>
              <a:rPr lang="en-US" altLang="zh-CN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十六进制：分组法</a:t>
            </a:r>
            <a:endParaRPr lang="zh-CN" altLang="en-US" b="0" i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61770" y="2611120"/>
            <a:ext cx="228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二转八：</a:t>
            </a:r>
            <a:r>
              <a:rPr lang="en-US" altLang="zh-CN"/>
              <a:t>3 </a:t>
            </a:r>
            <a:r>
              <a:rPr lang="zh-CN" altLang="en-US"/>
              <a:t>位一组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876415" y="2611120"/>
            <a:ext cx="228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二转十六：</a:t>
            </a:r>
            <a:r>
              <a:rPr lang="en-US" altLang="zh-CN"/>
              <a:t>4 </a:t>
            </a:r>
            <a:r>
              <a:rPr lang="zh-CN" altLang="en-US"/>
              <a:t>位一组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334250" y="3399790"/>
            <a:ext cx="1370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1011110</a:t>
            </a:r>
            <a:endParaRPr lang="en-US" altLang="zh-CN" sz="2400"/>
          </a:p>
        </p:txBody>
      </p:sp>
      <p:sp>
        <p:nvSpPr>
          <p:cNvPr id="5" name="文本框 4"/>
          <p:cNvSpPr txBox="1"/>
          <p:nvPr/>
        </p:nvSpPr>
        <p:spPr>
          <a:xfrm>
            <a:off x="7205345" y="4168140"/>
            <a:ext cx="18834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accent6"/>
                </a:solidFill>
              </a:rPr>
              <a:t>0101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rgbClr val="FF0000"/>
                </a:solidFill>
              </a:rPr>
              <a:t>1110</a:t>
            </a:r>
            <a:endParaRPr lang="en-US" altLang="zh-CN" sz="240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46365" y="5069205"/>
            <a:ext cx="8013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accent6"/>
                </a:solidFill>
              </a:rPr>
              <a:t>5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rgbClr val="FF0000"/>
                </a:solidFill>
              </a:rPr>
              <a:t>D</a:t>
            </a:r>
            <a:endParaRPr lang="en-US" altLang="zh-CN" sz="240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04340" y="3353435"/>
            <a:ext cx="1370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1011110</a:t>
            </a:r>
            <a:endParaRPr lang="en-US" altLang="zh-CN" sz="2400"/>
          </a:p>
        </p:txBody>
      </p:sp>
      <p:sp>
        <p:nvSpPr>
          <p:cNvPr id="9" name="文本框 8"/>
          <p:cNvSpPr txBox="1"/>
          <p:nvPr/>
        </p:nvSpPr>
        <p:spPr>
          <a:xfrm>
            <a:off x="1466215" y="4168140"/>
            <a:ext cx="22961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accent1"/>
                </a:solidFill>
              </a:rPr>
              <a:t>001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chemeClr val="accent6"/>
                </a:solidFill>
              </a:rPr>
              <a:t>011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rgbClr val="FF0000"/>
                </a:solidFill>
              </a:rPr>
              <a:t>110</a:t>
            </a:r>
            <a:endParaRPr lang="en-US" altLang="zh-CN" sz="240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69390" y="4971415"/>
            <a:ext cx="22961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accent1"/>
                </a:solidFill>
              </a:rPr>
              <a:t>  1</a:t>
            </a:r>
            <a:r>
              <a:rPr lang="en-US" altLang="zh-CN" sz="2400"/>
              <a:t>     </a:t>
            </a:r>
            <a:r>
              <a:rPr lang="en-US" altLang="zh-CN" sz="2400">
                <a:solidFill>
                  <a:schemeClr val="accent6"/>
                </a:solidFill>
              </a:rPr>
              <a:t>3</a:t>
            </a:r>
            <a:r>
              <a:rPr lang="en-US" altLang="zh-CN" sz="2400"/>
              <a:t>     </a:t>
            </a:r>
            <a:r>
              <a:rPr lang="en-US" altLang="zh-CN" sz="2400">
                <a:solidFill>
                  <a:srgbClr val="FF0000"/>
                </a:solidFill>
              </a:rPr>
              <a:t>6</a:t>
            </a:r>
            <a:endParaRPr lang="en-US" altLang="zh-CN"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95151" y="1107786"/>
            <a:ext cx="2519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进制互转</a:t>
            </a:r>
            <a:r>
              <a:rPr lang="en-US" altLang="zh-CN" sz="2400" dirty="0"/>
              <a:t>“</a:t>
            </a:r>
            <a:r>
              <a:rPr lang="zh-CN" altLang="en-US" sz="2400" dirty="0"/>
              <a:t>三板斧</a:t>
            </a:r>
            <a:r>
              <a:rPr lang="en-US" altLang="zh-CN" sz="2400" dirty="0"/>
              <a:t>”</a:t>
            </a:r>
            <a:endParaRPr lang="en-US" altLang="zh-CN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307975" y="1822450"/>
            <a:ext cx="133540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小数</a:t>
            </a:r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部分</a:t>
            </a:r>
            <a:endParaRPr lang="zh-CN" altLang="en-US" b="0" i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7975" y="2263140"/>
            <a:ext cx="4358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十进制小数</a:t>
            </a:r>
            <a:r>
              <a:rPr lang="en-US" altLang="zh-CN" b="1"/>
              <a:t> </a:t>
            </a:r>
            <a:r>
              <a:rPr lang="en-US" altLang="en-US" b="1"/>
              <a:t>→</a:t>
            </a:r>
            <a:r>
              <a:rPr lang="en-US" altLang="zh-CN" b="1"/>
              <a:t> </a:t>
            </a:r>
            <a:r>
              <a:rPr lang="zh-CN" altLang="en-US" b="1"/>
              <a:t>二进制</a:t>
            </a:r>
            <a:r>
              <a:rPr lang="en-US" altLang="zh-CN" b="1"/>
              <a:t> / </a:t>
            </a:r>
            <a:r>
              <a:rPr lang="zh-CN" altLang="en-US" b="1"/>
              <a:t>八进制</a:t>
            </a:r>
            <a:r>
              <a:rPr lang="en-US" altLang="zh-CN" b="1"/>
              <a:t> / </a:t>
            </a:r>
            <a:r>
              <a:rPr lang="zh-CN" altLang="en-US" b="1"/>
              <a:t>十六进制</a:t>
            </a:r>
            <a:endParaRPr lang="zh-CN" altLang="en-US" b="1"/>
          </a:p>
        </p:txBody>
      </p:sp>
      <p:sp>
        <p:nvSpPr>
          <p:cNvPr id="8" name="文本框 7"/>
          <p:cNvSpPr txBox="1"/>
          <p:nvPr/>
        </p:nvSpPr>
        <p:spPr>
          <a:xfrm>
            <a:off x="3821430" y="3914775"/>
            <a:ext cx="34544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0.625</a:t>
            </a:r>
            <a:r>
              <a:rPr lang="zh-CN" altLang="en-US" sz="2400" baseline="-25000"/>
              <a:t>（</a:t>
            </a:r>
            <a:r>
              <a:rPr lang="en-US" altLang="zh-CN" sz="2400" baseline="-25000"/>
              <a:t>10</a:t>
            </a:r>
            <a:r>
              <a:rPr lang="zh-CN" altLang="en-US" sz="2400" baseline="-25000"/>
              <a:t>）</a:t>
            </a:r>
            <a:r>
              <a:rPr lang="en-US" altLang="zh-CN" sz="2400"/>
              <a:t> </a:t>
            </a:r>
            <a:r>
              <a:rPr lang="en-US" altLang="en-US" sz="2400"/>
              <a:t>→</a:t>
            </a:r>
            <a:r>
              <a:rPr lang="en-US" altLang="zh-CN" sz="2400"/>
              <a:t>    </a:t>
            </a:r>
            <a:r>
              <a:rPr lang="zh-CN" altLang="en-US" sz="2400"/>
              <a:t>二进制</a:t>
            </a:r>
            <a:endParaRPr lang="zh-CN" altLang="en-US" sz="2400"/>
          </a:p>
        </p:txBody>
      </p:sp>
      <p:sp>
        <p:nvSpPr>
          <p:cNvPr id="13" name="文本框 12"/>
          <p:cNvSpPr txBox="1"/>
          <p:nvPr/>
        </p:nvSpPr>
        <p:spPr>
          <a:xfrm>
            <a:off x="307975" y="2771775"/>
            <a:ext cx="83000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乘以目标进制的</a:t>
            </a:r>
            <a:r>
              <a:rPr lang="zh-CN" altLang="en-US">
                <a:solidFill>
                  <a:srgbClr val="FF0000"/>
                </a:solidFill>
              </a:rPr>
              <a:t>基数</a:t>
            </a:r>
            <a:r>
              <a:rPr lang="zh-CN" altLang="en-US"/>
              <a:t>（二进制</a:t>
            </a:r>
            <a:r>
              <a:rPr lang="en-US" altLang="zh-CN"/>
              <a:t> </a:t>
            </a:r>
            <a:r>
              <a:rPr lang="en-US" altLang="en-US"/>
              <a:t>×</a:t>
            </a:r>
            <a:r>
              <a:rPr lang="en-US" altLang="zh-CN"/>
              <a:t>2</a:t>
            </a:r>
            <a:r>
              <a:rPr lang="zh-CN" altLang="en-US"/>
              <a:t>，八进制</a:t>
            </a:r>
            <a:r>
              <a:rPr lang="en-US" altLang="zh-CN"/>
              <a:t> </a:t>
            </a:r>
            <a:r>
              <a:rPr lang="en-US" altLang="en-US"/>
              <a:t>×</a:t>
            </a:r>
            <a:r>
              <a:rPr lang="en-US" altLang="zh-CN"/>
              <a:t>8</a:t>
            </a:r>
            <a:r>
              <a:rPr lang="zh-CN" altLang="en-US"/>
              <a:t>，十六进制</a:t>
            </a:r>
            <a:r>
              <a:rPr lang="en-US" altLang="zh-CN"/>
              <a:t> </a:t>
            </a:r>
            <a:r>
              <a:rPr lang="en-US" altLang="en-US"/>
              <a:t>×</a:t>
            </a:r>
            <a:r>
              <a:rPr lang="en-US" altLang="zh-CN"/>
              <a:t>16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取</a:t>
            </a:r>
            <a:r>
              <a:rPr lang="zh-CN" altLang="en-US">
                <a:solidFill>
                  <a:srgbClr val="FF0000"/>
                </a:solidFill>
              </a:rPr>
              <a:t>整数部分</a:t>
            </a:r>
            <a:r>
              <a:rPr lang="zh-CN" altLang="en-US"/>
              <a:t>作为一位结果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剩下的</a:t>
            </a:r>
            <a:r>
              <a:rPr lang="zh-CN" altLang="en-US">
                <a:solidFill>
                  <a:srgbClr val="FF0000"/>
                </a:solidFill>
              </a:rPr>
              <a:t>小数部分</a:t>
            </a:r>
            <a:r>
              <a:rPr lang="zh-CN" altLang="en-US"/>
              <a:t>继续重复，直到小数为</a:t>
            </a:r>
            <a:r>
              <a:rPr lang="en-US" altLang="zh-CN"/>
              <a:t> 0 </a:t>
            </a:r>
            <a:r>
              <a:rPr lang="zh-CN" altLang="en-US"/>
              <a:t>或达到要求精度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769360" y="4595495"/>
            <a:ext cx="42246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1.0.625 </a:t>
            </a:r>
            <a:r>
              <a:rPr lang="en-US" altLang="en-US"/>
              <a:t>×</a:t>
            </a:r>
            <a:r>
              <a:rPr lang="en-US" altLang="zh-CN"/>
              <a:t> 2 = 1.25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取整</a:t>
            </a:r>
            <a:r>
              <a:rPr lang="en-US" altLang="zh-CN"/>
              <a:t> 1</a:t>
            </a:r>
            <a:r>
              <a:rPr lang="zh-CN" altLang="en-US"/>
              <a:t>，剩</a:t>
            </a:r>
            <a:r>
              <a:rPr lang="en-US" altLang="zh-CN"/>
              <a:t> 0.25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2.0.25 </a:t>
            </a:r>
            <a:r>
              <a:rPr lang="en-US" altLang="en-US"/>
              <a:t>×</a:t>
            </a:r>
            <a:r>
              <a:rPr lang="en-US" altLang="zh-CN"/>
              <a:t> 2 = 0.5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取整</a:t>
            </a:r>
            <a:r>
              <a:rPr lang="en-US" altLang="zh-CN"/>
              <a:t> 0</a:t>
            </a:r>
            <a:r>
              <a:rPr lang="zh-CN" altLang="en-US"/>
              <a:t>，剩</a:t>
            </a:r>
            <a:r>
              <a:rPr lang="en-US" altLang="zh-CN"/>
              <a:t> 0.5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3.0.5 </a:t>
            </a:r>
            <a:r>
              <a:rPr lang="en-US" altLang="en-US"/>
              <a:t>×</a:t>
            </a:r>
            <a:r>
              <a:rPr lang="en-US" altLang="zh-CN"/>
              <a:t> 2 = 1.0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取整</a:t>
            </a:r>
            <a:r>
              <a:rPr lang="en-US" altLang="zh-CN"/>
              <a:t> 1</a:t>
            </a:r>
            <a:r>
              <a:rPr lang="zh-CN" altLang="en-US"/>
              <a:t>，剩</a:t>
            </a:r>
            <a:r>
              <a:rPr lang="en-US" altLang="zh-CN"/>
              <a:t> 0.0</a:t>
            </a:r>
            <a:endParaRPr lang="en-US" altLang="zh-CN"/>
          </a:p>
        </p:txBody>
      </p:sp>
      <p:sp>
        <p:nvSpPr>
          <p:cNvPr id="17" name="矩形 16"/>
          <p:cNvSpPr/>
          <p:nvPr/>
        </p:nvSpPr>
        <p:spPr>
          <a:xfrm>
            <a:off x="8483283" y="4202430"/>
            <a:ext cx="319849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0.101</a:t>
            </a:r>
            <a:r>
              <a:rPr lang="en-US" altLang="zh-CN" sz="7200" b="1" baseline="-25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(2)</a:t>
            </a:r>
            <a:endParaRPr lang="en-US" altLang="zh-CN" sz="7200" b="1" baseline="-25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95151" y="1107786"/>
            <a:ext cx="2519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进制互转</a:t>
            </a:r>
            <a:r>
              <a:rPr lang="en-US" altLang="zh-CN" sz="2400" dirty="0"/>
              <a:t>“</a:t>
            </a:r>
            <a:r>
              <a:rPr lang="zh-CN" altLang="en-US" sz="2400" dirty="0"/>
              <a:t>三板斧</a:t>
            </a:r>
            <a:r>
              <a:rPr lang="en-US" altLang="zh-CN" sz="2400" dirty="0"/>
              <a:t>”</a:t>
            </a:r>
            <a:endParaRPr lang="en-US" altLang="zh-CN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307975" y="1822450"/>
            <a:ext cx="133540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小数</a:t>
            </a:r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部分</a:t>
            </a:r>
            <a:endParaRPr lang="zh-CN" altLang="en-US" b="0" i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7975" y="2263140"/>
            <a:ext cx="4358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二进制</a:t>
            </a:r>
            <a:r>
              <a:rPr lang="en-US" altLang="zh-CN" b="1"/>
              <a:t> / </a:t>
            </a:r>
            <a:r>
              <a:rPr lang="zh-CN" altLang="en-US" b="1"/>
              <a:t>八进制</a:t>
            </a:r>
            <a:r>
              <a:rPr lang="en-US" altLang="zh-CN" b="1"/>
              <a:t> / </a:t>
            </a:r>
            <a:r>
              <a:rPr lang="zh-CN" altLang="en-US" b="1"/>
              <a:t>十六进制小数</a:t>
            </a:r>
            <a:r>
              <a:rPr lang="en-US" altLang="zh-CN" b="1"/>
              <a:t> </a:t>
            </a:r>
            <a:r>
              <a:rPr lang="en-US" altLang="en-US" b="1"/>
              <a:t>→</a:t>
            </a:r>
            <a:r>
              <a:rPr lang="en-US" altLang="zh-CN" b="1"/>
              <a:t> </a:t>
            </a:r>
            <a:r>
              <a:rPr lang="zh-CN" altLang="en-US" b="1"/>
              <a:t>十进制</a:t>
            </a:r>
            <a:endParaRPr lang="zh-CN" altLang="en-US" b="1"/>
          </a:p>
        </p:txBody>
      </p:sp>
      <p:sp>
        <p:nvSpPr>
          <p:cNvPr id="8" name="文本框 7"/>
          <p:cNvSpPr txBox="1"/>
          <p:nvPr/>
        </p:nvSpPr>
        <p:spPr>
          <a:xfrm>
            <a:off x="3481070" y="3534410"/>
            <a:ext cx="34544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0.101</a:t>
            </a:r>
            <a:r>
              <a:rPr lang="en-US" altLang="zh-CN" sz="2400" baseline="-25000"/>
              <a:t>(2)</a:t>
            </a:r>
            <a:r>
              <a:rPr lang="en-US" altLang="zh-CN" sz="2400"/>
              <a:t> </a:t>
            </a:r>
            <a:r>
              <a:rPr lang="en-US" altLang="en-US" sz="2400"/>
              <a:t>→</a:t>
            </a:r>
            <a:r>
              <a:rPr lang="en-US" altLang="zh-CN" sz="2400"/>
              <a:t> </a:t>
            </a:r>
            <a:r>
              <a:rPr lang="zh-CN" altLang="en-US" sz="2400"/>
              <a:t>十进制</a:t>
            </a:r>
            <a:endParaRPr lang="zh-CN" altLang="en-US" sz="2400"/>
          </a:p>
        </p:txBody>
      </p:sp>
      <p:sp>
        <p:nvSpPr>
          <p:cNvPr id="13" name="文本框 12"/>
          <p:cNvSpPr txBox="1"/>
          <p:nvPr/>
        </p:nvSpPr>
        <p:spPr>
          <a:xfrm>
            <a:off x="307975" y="2771775"/>
            <a:ext cx="5364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每一位</a:t>
            </a:r>
            <a:r>
              <a:rPr lang="en-US" altLang="zh-CN"/>
              <a:t> </a:t>
            </a:r>
            <a:r>
              <a:rPr lang="en-US" altLang="en-US"/>
              <a:t>×</a:t>
            </a:r>
            <a:r>
              <a:rPr lang="en-US" altLang="zh-CN"/>
              <a:t> </a:t>
            </a:r>
            <a:r>
              <a:rPr lang="zh-CN" altLang="en-US"/>
              <a:t>基数</a:t>
            </a:r>
            <a:r>
              <a:rPr lang="en-US" altLang="zh-CN" baseline="30000"/>
              <a:t>-1</a:t>
            </a:r>
            <a:r>
              <a:rPr lang="zh-CN" altLang="en-US"/>
              <a:t>、基数</a:t>
            </a:r>
            <a:r>
              <a:rPr lang="en-US" altLang="zh-CN" baseline="30000"/>
              <a:t>-2</a:t>
            </a:r>
            <a:r>
              <a:rPr lang="zh-CN" altLang="en-US"/>
              <a:t>、基数</a:t>
            </a:r>
            <a:r>
              <a:rPr lang="en-US" altLang="zh-CN" baseline="30000"/>
              <a:t>-3</a:t>
            </a:r>
            <a:r>
              <a:rPr lang="en-US" altLang="zh-CN"/>
              <a:t>…… </a:t>
            </a:r>
            <a:r>
              <a:rPr lang="zh-CN" altLang="en-US"/>
              <a:t>再相加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658870" y="4234815"/>
            <a:ext cx="42246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=1*2</a:t>
            </a:r>
            <a:r>
              <a:rPr lang="en-US" altLang="zh-CN" baseline="30000"/>
              <a:t>-1</a:t>
            </a:r>
            <a:r>
              <a:rPr lang="en-US" altLang="zh-CN"/>
              <a:t>+0*2</a:t>
            </a:r>
            <a:r>
              <a:rPr lang="en-US" altLang="zh-CN" baseline="30000"/>
              <a:t>-2</a:t>
            </a:r>
            <a:r>
              <a:rPr lang="en-US" altLang="zh-CN"/>
              <a:t>+1*2</a:t>
            </a:r>
            <a:r>
              <a:rPr lang="en-US" altLang="zh-CN" baseline="30000"/>
              <a:t>-3</a:t>
            </a:r>
            <a:endParaRPr lang="en-US" altLang="zh-CN" baseline="30000"/>
          </a:p>
          <a:p>
            <a:endParaRPr lang="en-US" altLang="zh-CN"/>
          </a:p>
          <a:p>
            <a:r>
              <a:rPr lang="en-US" altLang="zh-CN"/>
              <a:t>=0.5 + 0 + 0.125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=0.625</a:t>
            </a:r>
            <a:r>
              <a:rPr lang="en-US" altLang="zh-CN" baseline="-25000"/>
              <a:t>(10)</a:t>
            </a:r>
            <a:endParaRPr lang="en-US" altLang="zh-CN" baseline="-25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5151" y="1107786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真题</a:t>
            </a:r>
            <a:r>
              <a:rPr lang="zh-CN" altLang="en-US" sz="2400" dirty="0"/>
              <a:t>训练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536575" y="1765935"/>
            <a:ext cx="111937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八进制数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32.1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对应的十进制数是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？（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2022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真题）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A. 24.125      B. 24.250      C. 26.125     D. 26.250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99110" y="2885440"/>
            <a:ext cx="111937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⼋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进制数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123456708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076543218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的和为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2023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真题）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A. 222222218           B.  211111118          C.  221111118           D.  222222118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99110" y="4004945"/>
            <a:ext cx="111937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(14</a:t>
            </a:r>
            <a:r>
              <a:rPr lang="en-US" altLang="zh-CN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− 1010</a:t>
            </a:r>
            <a:r>
              <a:rPr lang="en-US" altLang="zh-CN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)∗ D</a:t>
            </a:r>
            <a:r>
              <a:rPr lang="en-US" altLang="zh-CN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− 1101</a:t>
            </a:r>
            <a:r>
              <a:rPr lang="en-US" altLang="zh-CN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的结果，并选择答案的十进制值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（）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2024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真题）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A. 13         B.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14</a:t>
            </a:r>
            <a:r>
              <a:rPr lang="en-US" altLang="zh-CN" baseline="30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C. 15         D.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16</a:t>
            </a:r>
            <a:endParaRPr lang="en-US" altLang="zh-CN" baseline="30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6575" y="5124450"/>
            <a:ext cx="111937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十进制数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720</a:t>
            </a:r>
            <a:r>
              <a:rPr lang="en-US" altLang="zh-CN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和八进制数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270</a:t>
            </a:r>
            <a:r>
              <a:rPr lang="en-US" altLang="zh-CN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的和用十六进制表示是多少？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（）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2025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真题）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A. 388</a:t>
            </a:r>
            <a:r>
              <a:rPr lang="en-US" altLang="zh-CN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B.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3DE</a:t>
            </a:r>
            <a:r>
              <a:rPr lang="en-US" altLang="zh-CN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16</a:t>
            </a:r>
            <a:r>
              <a:rPr lang="en-US" altLang="zh-CN" baseline="30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C. 288</a:t>
            </a:r>
            <a:r>
              <a:rPr lang="en-US" altLang="zh-CN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D.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990</a:t>
            </a:r>
            <a:r>
              <a:rPr lang="en-US" altLang="zh-CN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16</a:t>
            </a:r>
            <a:endParaRPr lang="en-US" altLang="zh-CN" baseline="-25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95151" y="1107786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原码、反码、补码</a:t>
            </a:r>
            <a:endParaRPr lang="zh-CN" altLang="en-US" sz="2400" dirty="0"/>
          </a:p>
        </p:txBody>
      </p:sp>
      <p:sp>
        <p:nvSpPr>
          <p:cNvPr id="13" name="文本框 12"/>
          <p:cNvSpPr txBox="1"/>
          <p:nvPr/>
        </p:nvSpPr>
        <p:spPr>
          <a:xfrm>
            <a:off x="302895" y="1754505"/>
            <a:ext cx="79883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为了让计算机只用</a:t>
            </a:r>
            <a:r>
              <a:rPr lang="en-US" altLang="zh-CN">
                <a:solidFill>
                  <a:srgbClr val="FF0000"/>
                </a:solidFill>
              </a:rPr>
              <a:t> “</a:t>
            </a:r>
            <a:r>
              <a:rPr lang="zh-CN" altLang="en-US">
                <a:solidFill>
                  <a:srgbClr val="FF0000"/>
                </a:solidFill>
              </a:rPr>
              <a:t>加法</a:t>
            </a:r>
            <a:r>
              <a:rPr lang="en-US" altLang="zh-CN">
                <a:solidFill>
                  <a:srgbClr val="FF0000"/>
                </a:solidFill>
              </a:rPr>
              <a:t>” </a:t>
            </a:r>
            <a:r>
              <a:rPr lang="zh-CN" altLang="en-US">
                <a:solidFill>
                  <a:srgbClr val="FF0000"/>
                </a:solidFill>
              </a:rPr>
              <a:t>就能做减法，简化硬件电路，提高运算速度</a:t>
            </a:r>
            <a:r>
              <a:rPr lang="zh-CN" altLang="en-US"/>
              <a:t>。</a:t>
            </a:r>
            <a:endParaRPr lang="zh-CN" altLang="en-US"/>
          </a:p>
        </p:txBody>
      </p:sp>
      <p:graphicFrame>
        <p:nvGraphicFramePr>
          <p:cNvPr id="14" name="表格 13"/>
          <p:cNvGraphicFramePr/>
          <p:nvPr/>
        </p:nvGraphicFramePr>
        <p:xfrm>
          <a:off x="926465" y="3088005"/>
          <a:ext cx="373380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725"/>
                <a:gridCol w="466725"/>
                <a:gridCol w="466725"/>
                <a:gridCol w="466725"/>
                <a:gridCol w="466725"/>
                <a:gridCol w="466725"/>
                <a:gridCol w="466725"/>
                <a:gridCol w="466725"/>
              </a:tblGrid>
              <a:tr h="4876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</a:tr>
            </a:tbl>
          </a:graphicData>
        </a:graphic>
      </p:graphicFrame>
      <p:graphicFrame>
        <p:nvGraphicFramePr>
          <p:cNvPr id="16" name="表格 15"/>
          <p:cNvGraphicFramePr/>
          <p:nvPr/>
        </p:nvGraphicFramePr>
        <p:xfrm>
          <a:off x="926465" y="3855720"/>
          <a:ext cx="373380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725"/>
                <a:gridCol w="466725"/>
                <a:gridCol w="466725"/>
                <a:gridCol w="466725"/>
                <a:gridCol w="466725"/>
                <a:gridCol w="466725"/>
                <a:gridCol w="466725"/>
                <a:gridCol w="466725"/>
              </a:tblGrid>
              <a:tr h="4876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414020" y="3162300"/>
            <a:ext cx="478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+3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414020" y="3917950"/>
            <a:ext cx="478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-3</a:t>
            </a:r>
            <a:endParaRPr lang="en-US" altLang="zh-CN"/>
          </a:p>
        </p:txBody>
      </p:sp>
      <p:graphicFrame>
        <p:nvGraphicFramePr>
          <p:cNvPr id="20" name="表格 19"/>
          <p:cNvGraphicFramePr/>
          <p:nvPr/>
        </p:nvGraphicFramePr>
        <p:xfrm>
          <a:off x="939800" y="4709795"/>
          <a:ext cx="373380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725"/>
                <a:gridCol w="466725"/>
                <a:gridCol w="466725"/>
                <a:gridCol w="466725"/>
                <a:gridCol w="466725"/>
                <a:gridCol w="466725"/>
                <a:gridCol w="466725"/>
                <a:gridCol w="466725"/>
              </a:tblGrid>
              <a:tr h="4876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cxnSp>
        <p:nvCxnSpPr>
          <p:cNvPr id="21" name="直接连接符 20"/>
          <p:cNvCxnSpPr/>
          <p:nvPr/>
        </p:nvCxnSpPr>
        <p:spPr>
          <a:xfrm>
            <a:off x="479425" y="4485005"/>
            <a:ext cx="4387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409575" y="4747895"/>
            <a:ext cx="478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-6</a:t>
            </a:r>
            <a:endParaRPr lang="en-US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605790" y="2388235"/>
            <a:ext cx="41636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原码：最高位</a:t>
            </a:r>
            <a:r>
              <a:rPr lang="en-US" altLang="zh-CN"/>
              <a:t> = </a:t>
            </a:r>
            <a:r>
              <a:rPr lang="zh-CN" altLang="en-US"/>
              <a:t>符号位、剩下</a:t>
            </a:r>
            <a:r>
              <a:rPr lang="en-US" altLang="zh-CN"/>
              <a:t> = </a:t>
            </a:r>
            <a:r>
              <a:rPr lang="zh-CN" altLang="en-US"/>
              <a:t>数值</a:t>
            </a:r>
            <a:endParaRPr lang="zh-CN" altLang="en-US"/>
          </a:p>
        </p:txBody>
      </p:sp>
      <p:graphicFrame>
        <p:nvGraphicFramePr>
          <p:cNvPr id="24" name="表格 23"/>
          <p:cNvGraphicFramePr/>
          <p:nvPr/>
        </p:nvGraphicFramePr>
        <p:xfrm>
          <a:off x="6482715" y="3110230"/>
          <a:ext cx="373380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725"/>
                <a:gridCol w="466725"/>
                <a:gridCol w="466725"/>
                <a:gridCol w="466725"/>
                <a:gridCol w="466725"/>
                <a:gridCol w="466725"/>
                <a:gridCol w="466725"/>
                <a:gridCol w="466725"/>
              </a:tblGrid>
              <a:tr h="4876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</a:tr>
            </a:tbl>
          </a:graphicData>
        </a:graphic>
      </p:graphicFrame>
      <p:graphicFrame>
        <p:nvGraphicFramePr>
          <p:cNvPr id="25" name="表格 24"/>
          <p:cNvGraphicFramePr/>
          <p:nvPr/>
        </p:nvGraphicFramePr>
        <p:xfrm>
          <a:off x="6482715" y="3877945"/>
          <a:ext cx="373380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725"/>
                <a:gridCol w="466725"/>
                <a:gridCol w="466725"/>
                <a:gridCol w="466725"/>
                <a:gridCol w="466725"/>
                <a:gridCol w="466725"/>
                <a:gridCol w="466725"/>
                <a:gridCol w="466725"/>
              </a:tblGrid>
              <a:tr h="4876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5970270" y="3184525"/>
            <a:ext cx="478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+3</a:t>
            </a:r>
            <a:endParaRPr lang="en-US" altLang="zh-CN"/>
          </a:p>
        </p:txBody>
      </p:sp>
      <p:sp>
        <p:nvSpPr>
          <p:cNvPr id="27" name="文本框 26"/>
          <p:cNvSpPr txBox="1"/>
          <p:nvPr/>
        </p:nvSpPr>
        <p:spPr>
          <a:xfrm>
            <a:off x="5970270" y="3940175"/>
            <a:ext cx="478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-3</a:t>
            </a:r>
            <a:endParaRPr lang="en-US" altLang="zh-CN"/>
          </a:p>
        </p:txBody>
      </p:sp>
      <p:graphicFrame>
        <p:nvGraphicFramePr>
          <p:cNvPr id="28" name="表格 27"/>
          <p:cNvGraphicFramePr/>
          <p:nvPr/>
        </p:nvGraphicFramePr>
        <p:xfrm>
          <a:off x="6496050" y="4732020"/>
          <a:ext cx="373380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725"/>
                <a:gridCol w="466725"/>
                <a:gridCol w="466725"/>
                <a:gridCol w="466725"/>
                <a:gridCol w="466725"/>
                <a:gridCol w="466725"/>
                <a:gridCol w="466725"/>
                <a:gridCol w="466725"/>
              </a:tblGrid>
              <a:tr h="4876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cxnSp>
        <p:nvCxnSpPr>
          <p:cNvPr id="29" name="直接连接符 28"/>
          <p:cNvCxnSpPr/>
          <p:nvPr/>
        </p:nvCxnSpPr>
        <p:spPr>
          <a:xfrm>
            <a:off x="6035675" y="4507230"/>
            <a:ext cx="4387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5965825" y="4770120"/>
            <a:ext cx="478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-0</a:t>
            </a:r>
            <a:endParaRPr lang="en-US" altLang="zh-CN"/>
          </a:p>
        </p:txBody>
      </p:sp>
      <p:sp>
        <p:nvSpPr>
          <p:cNvPr id="31" name="文本框 30"/>
          <p:cNvSpPr txBox="1"/>
          <p:nvPr/>
        </p:nvSpPr>
        <p:spPr>
          <a:xfrm>
            <a:off x="6196330" y="242887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反码：正数：原码</a:t>
            </a:r>
            <a:r>
              <a:rPr lang="en-US" altLang="zh-CN"/>
              <a:t> = </a:t>
            </a:r>
            <a:r>
              <a:rPr lang="zh-CN" altLang="en-US"/>
              <a:t>反码</a:t>
            </a:r>
            <a:r>
              <a:rPr lang="zh-CN" altLang="en-US"/>
              <a:t>、负数：符号位不变，其余按位取反</a:t>
            </a:r>
            <a:endParaRPr lang="zh-CN" altLang="en-US"/>
          </a:p>
        </p:txBody>
      </p:sp>
      <p:graphicFrame>
        <p:nvGraphicFramePr>
          <p:cNvPr id="32" name="表格 31"/>
          <p:cNvGraphicFramePr/>
          <p:nvPr/>
        </p:nvGraphicFramePr>
        <p:xfrm>
          <a:off x="6480175" y="5449570"/>
          <a:ext cx="373380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725"/>
                <a:gridCol w="466725"/>
                <a:gridCol w="466725"/>
                <a:gridCol w="466725"/>
                <a:gridCol w="466725"/>
                <a:gridCol w="466725"/>
                <a:gridCol w="466725"/>
                <a:gridCol w="466725"/>
              </a:tblGrid>
              <a:tr h="4876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33" name="文本框 32"/>
          <p:cNvSpPr txBox="1"/>
          <p:nvPr/>
        </p:nvSpPr>
        <p:spPr>
          <a:xfrm>
            <a:off x="5949950" y="5487670"/>
            <a:ext cx="478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+0</a:t>
            </a:r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95151" y="1107786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原码、反码、补码</a:t>
            </a:r>
            <a:endParaRPr lang="zh-CN" altLang="en-US" sz="2400" dirty="0"/>
          </a:p>
        </p:txBody>
      </p:sp>
      <p:sp>
        <p:nvSpPr>
          <p:cNvPr id="13" name="文本框 12"/>
          <p:cNvSpPr txBox="1"/>
          <p:nvPr/>
        </p:nvSpPr>
        <p:spPr>
          <a:xfrm>
            <a:off x="302895" y="1754505"/>
            <a:ext cx="79883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为了让计算机只用</a:t>
            </a:r>
            <a:r>
              <a:rPr lang="en-US" altLang="zh-CN">
                <a:solidFill>
                  <a:srgbClr val="FF0000"/>
                </a:solidFill>
              </a:rPr>
              <a:t> “</a:t>
            </a:r>
            <a:r>
              <a:rPr lang="zh-CN" altLang="en-US">
                <a:solidFill>
                  <a:srgbClr val="FF0000"/>
                </a:solidFill>
              </a:rPr>
              <a:t>加法</a:t>
            </a:r>
            <a:r>
              <a:rPr lang="en-US" altLang="zh-CN">
                <a:solidFill>
                  <a:srgbClr val="FF0000"/>
                </a:solidFill>
              </a:rPr>
              <a:t>” </a:t>
            </a:r>
            <a:r>
              <a:rPr lang="zh-CN" altLang="en-US">
                <a:solidFill>
                  <a:srgbClr val="FF0000"/>
                </a:solidFill>
              </a:rPr>
              <a:t>就能做减法，简化硬件电路，提高运算速度</a:t>
            </a:r>
            <a:r>
              <a:rPr lang="zh-CN" altLang="en-US"/>
              <a:t>。</a:t>
            </a:r>
            <a:endParaRPr lang="zh-CN" altLang="en-US"/>
          </a:p>
        </p:txBody>
      </p:sp>
      <p:graphicFrame>
        <p:nvGraphicFramePr>
          <p:cNvPr id="14" name="表格 13"/>
          <p:cNvGraphicFramePr/>
          <p:nvPr/>
        </p:nvGraphicFramePr>
        <p:xfrm>
          <a:off x="850265" y="3326130"/>
          <a:ext cx="373380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725"/>
                <a:gridCol w="466725"/>
                <a:gridCol w="466725"/>
                <a:gridCol w="466725"/>
                <a:gridCol w="466725"/>
                <a:gridCol w="466725"/>
                <a:gridCol w="466725"/>
                <a:gridCol w="466725"/>
              </a:tblGrid>
              <a:tr h="4876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</a:tr>
            </a:tbl>
          </a:graphicData>
        </a:graphic>
      </p:graphicFrame>
      <p:graphicFrame>
        <p:nvGraphicFramePr>
          <p:cNvPr id="16" name="表格 15"/>
          <p:cNvGraphicFramePr/>
          <p:nvPr/>
        </p:nvGraphicFramePr>
        <p:xfrm>
          <a:off x="850265" y="4093845"/>
          <a:ext cx="373380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725"/>
                <a:gridCol w="466725"/>
                <a:gridCol w="466725"/>
                <a:gridCol w="466725"/>
                <a:gridCol w="466725"/>
                <a:gridCol w="466725"/>
                <a:gridCol w="466725"/>
                <a:gridCol w="466725"/>
              </a:tblGrid>
              <a:tr h="4876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337820" y="3400425"/>
            <a:ext cx="478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+3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337820" y="4156075"/>
            <a:ext cx="478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-3</a:t>
            </a:r>
            <a:endParaRPr lang="en-US" altLang="zh-CN"/>
          </a:p>
        </p:txBody>
      </p:sp>
      <p:graphicFrame>
        <p:nvGraphicFramePr>
          <p:cNvPr id="20" name="表格 19"/>
          <p:cNvGraphicFramePr/>
          <p:nvPr/>
        </p:nvGraphicFramePr>
        <p:xfrm>
          <a:off x="863600" y="4947920"/>
          <a:ext cx="373380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725"/>
                <a:gridCol w="466725"/>
                <a:gridCol w="466725"/>
                <a:gridCol w="466725"/>
                <a:gridCol w="466725"/>
                <a:gridCol w="466725"/>
                <a:gridCol w="466725"/>
                <a:gridCol w="466725"/>
              </a:tblGrid>
              <a:tr h="4876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cxnSp>
        <p:nvCxnSpPr>
          <p:cNvPr id="21" name="直接连接符 20"/>
          <p:cNvCxnSpPr/>
          <p:nvPr/>
        </p:nvCxnSpPr>
        <p:spPr>
          <a:xfrm>
            <a:off x="403225" y="4723130"/>
            <a:ext cx="4387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333375" y="4986020"/>
            <a:ext cx="478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529590" y="2626360"/>
            <a:ext cx="53460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补码：正数：原码</a:t>
            </a:r>
            <a:r>
              <a:rPr lang="en-US" altLang="zh-CN"/>
              <a:t> = </a:t>
            </a:r>
            <a:r>
              <a:rPr lang="zh-CN" altLang="en-US"/>
              <a:t>反码</a:t>
            </a:r>
            <a:r>
              <a:rPr lang="en-US" altLang="zh-CN"/>
              <a:t> = </a:t>
            </a:r>
            <a:r>
              <a:rPr lang="zh-CN" altLang="en-US"/>
              <a:t>补码、负数：反码</a:t>
            </a:r>
            <a:r>
              <a:rPr lang="en-US" altLang="zh-CN"/>
              <a:t> + 1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6794500" y="3524250"/>
            <a:ext cx="341122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正数三码同一形</a:t>
            </a:r>
            <a:endParaRPr lang="zh-CN" altLang="en-US" sz="28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zh-CN" altLang="en-US" sz="28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负数符号永不改</a:t>
            </a:r>
            <a:endParaRPr lang="zh-CN" altLang="en-US" sz="28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zh-CN" altLang="en-US" sz="28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反码只把数值反</a:t>
            </a:r>
            <a:endParaRPr lang="zh-CN" altLang="en-US" sz="28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zh-CN" altLang="en-US" sz="28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补码反码再加一</a:t>
            </a:r>
            <a:endParaRPr lang="zh-CN" altLang="en-US" sz="28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95151" y="1107786"/>
            <a:ext cx="19773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dirty="0"/>
              <a:t>ASCII </a:t>
            </a:r>
            <a:r>
              <a:rPr lang="zh-CN" altLang="en-US" sz="2400" dirty="0"/>
              <a:t>码规律</a:t>
            </a:r>
            <a:endParaRPr lang="zh-CN" altLang="en-US" sz="2400" dirty="0"/>
          </a:p>
        </p:txBody>
      </p:sp>
      <p:sp>
        <p:nvSpPr>
          <p:cNvPr id="13" name="文本框 12"/>
          <p:cNvSpPr txBox="1"/>
          <p:nvPr/>
        </p:nvSpPr>
        <p:spPr>
          <a:xfrm>
            <a:off x="3062605" y="2065655"/>
            <a:ext cx="536448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'0' - '9'</a:t>
            </a:r>
            <a:r>
              <a:rPr lang="zh-CN" altLang="en-US" b="1"/>
              <a:t>：连续，值</a:t>
            </a:r>
            <a:r>
              <a:rPr lang="en-US" altLang="zh-CN" b="1"/>
              <a:t> 48-57</a:t>
            </a:r>
            <a:r>
              <a:rPr lang="zh-CN" altLang="en-US"/>
              <a:t>。</a:t>
            </a:r>
            <a:r>
              <a:rPr lang="en-US" altLang="zh-CN"/>
              <a:t>    </a:t>
            </a:r>
            <a:r>
              <a:rPr lang="en-US" altLang="zh-CN">
                <a:solidFill>
                  <a:srgbClr val="FF0000"/>
                </a:solidFill>
              </a:rPr>
              <a:t>'5' - '0' = 5</a:t>
            </a:r>
            <a:endParaRPr lang="en-US" alt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r>
              <a:rPr lang="en-US" altLang="zh-CN" b="1">
                <a:solidFill>
                  <a:schemeClr val="tx1"/>
                </a:solidFill>
              </a:rPr>
              <a:t>'A' - 'Z'</a:t>
            </a:r>
            <a:r>
              <a:rPr lang="zh-CN" altLang="en-US" b="1">
                <a:solidFill>
                  <a:schemeClr val="tx1"/>
                </a:solidFill>
              </a:rPr>
              <a:t>：连续，值</a:t>
            </a:r>
            <a:r>
              <a:rPr lang="en-US" altLang="zh-CN" b="1">
                <a:solidFill>
                  <a:schemeClr val="tx1"/>
                </a:solidFill>
              </a:rPr>
              <a:t> 65-90</a:t>
            </a:r>
            <a:endParaRPr lang="en-US" altLang="zh-CN" b="1">
              <a:solidFill>
                <a:schemeClr val="tx1"/>
              </a:solidFill>
            </a:endParaRPr>
          </a:p>
          <a:p>
            <a:endParaRPr lang="en-US" altLang="zh-CN" b="1">
              <a:solidFill>
                <a:schemeClr val="tx1"/>
              </a:solidFill>
            </a:endParaRPr>
          </a:p>
          <a:p>
            <a:r>
              <a:rPr lang="en-US" altLang="zh-CN" b="1">
                <a:solidFill>
                  <a:schemeClr val="tx1"/>
                </a:solidFill>
              </a:rPr>
              <a:t>'a' - 'z'</a:t>
            </a:r>
            <a:r>
              <a:rPr lang="zh-CN" altLang="en-US" b="1">
                <a:solidFill>
                  <a:schemeClr val="tx1"/>
                </a:solidFill>
              </a:rPr>
              <a:t>：连续，值</a:t>
            </a:r>
            <a:r>
              <a:rPr lang="en-US" altLang="zh-CN" b="1">
                <a:solidFill>
                  <a:schemeClr val="tx1"/>
                </a:solidFill>
              </a:rPr>
              <a:t> 97-122</a:t>
            </a:r>
            <a:endParaRPr lang="en-US" altLang="zh-CN" b="1">
              <a:solidFill>
                <a:schemeClr val="tx1"/>
              </a:solidFill>
            </a:endParaRPr>
          </a:p>
          <a:p>
            <a:endParaRPr lang="en-US" altLang="zh-CN" b="1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大小写转换：相差</a:t>
            </a:r>
            <a:r>
              <a:rPr lang="en-US" altLang="zh-CN" b="1">
                <a:solidFill>
                  <a:schemeClr val="tx1"/>
                </a:solidFill>
              </a:rPr>
              <a:t> 32 </a:t>
            </a:r>
            <a:r>
              <a:rPr lang="en-US" altLang="zh-CN" b="1">
                <a:solidFill>
                  <a:srgbClr val="FF0000"/>
                </a:solidFill>
              </a:rPr>
              <a:t>('a' - 'A' = 32)</a:t>
            </a:r>
            <a:endParaRPr lang="en-US" altLang="zh-CN" b="1">
              <a:solidFill>
                <a:srgbClr val="FF0000"/>
              </a:solidFill>
            </a:endParaRPr>
          </a:p>
          <a:p>
            <a:endParaRPr lang="en-US" altLang="zh-CN" b="1">
              <a:solidFill>
                <a:srgbClr val="FF0000"/>
              </a:solidFill>
            </a:endParaRPr>
          </a:p>
          <a:p>
            <a:pPr indent="457200"/>
            <a:r>
              <a:rPr lang="zh-CN" altLang="en-US" b="1">
                <a:solidFill>
                  <a:schemeClr val="accent1"/>
                </a:solidFill>
              </a:rPr>
              <a:t>大写转小写：</a:t>
            </a:r>
            <a:r>
              <a:rPr lang="en-US" altLang="zh-CN" b="1">
                <a:solidFill>
                  <a:schemeClr val="accent1"/>
                </a:solidFill>
              </a:rPr>
              <a:t>c + 32 </a:t>
            </a:r>
            <a:r>
              <a:rPr lang="zh-CN" altLang="en-US" b="1">
                <a:solidFill>
                  <a:schemeClr val="accent1"/>
                </a:solidFill>
              </a:rPr>
              <a:t>或</a:t>
            </a:r>
            <a:r>
              <a:rPr lang="en-US" altLang="zh-CN" b="1">
                <a:solidFill>
                  <a:schemeClr val="accent1"/>
                </a:solidFill>
              </a:rPr>
              <a:t> c | 32</a:t>
            </a:r>
            <a:endParaRPr lang="en-US" altLang="zh-CN" b="1">
              <a:solidFill>
                <a:schemeClr val="accent1"/>
              </a:solidFill>
            </a:endParaRPr>
          </a:p>
          <a:p>
            <a:pPr indent="457200"/>
            <a:endParaRPr lang="en-US" altLang="zh-CN" b="1">
              <a:solidFill>
                <a:schemeClr val="tx1"/>
              </a:solidFill>
            </a:endParaRPr>
          </a:p>
          <a:p>
            <a:pPr indent="457200"/>
            <a:r>
              <a:rPr lang="zh-CN" altLang="en-US" b="1">
                <a:solidFill>
                  <a:schemeClr val="accent1"/>
                </a:solidFill>
              </a:rPr>
              <a:t>小写转大写：</a:t>
            </a:r>
            <a:r>
              <a:rPr lang="en-US" altLang="zh-CN" b="1">
                <a:solidFill>
                  <a:schemeClr val="accent1"/>
                </a:solidFill>
              </a:rPr>
              <a:t>c - 32 </a:t>
            </a:r>
            <a:r>
              <a:rPr lang="zh-CN" altLang="en-US" b="1">
                <a:solidFill>
                  <a:schemeClr val="accent1"/>
                </a:solidFill>
              </a:rPr>
              <a:t>或</a:t>
            </a:r>
            <a:r>
              <a:rPr lang="en-US" altLang="zh-CN" b="1">
                <a:solidFill>
                  <a:schemeClr val="accent1"/>
                </a:solidFill>
              </a:rPr>
              <a:t> c &amp; ~32</a:t>
            </a:r>
            <a:endParaRPr lang="en-US" altLang="zh-CN" b="1">
              <a:solidFill>
                <a:schemeClr val="accent1"/>
              </a:solidFill>
            </a:endParaRPr>
          </a:p>
          <a:p>
            <a:pPr indent="457200"/>
            <a:endParaRPr lang="en-US" altLang="zh-CN"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928" y="0"/>
            <a:ext cx="9339072" cy="6858000"/>
          </a:xfrm>
          <a:prstGeom prst="rect">
            <a:avLst/>
          </a:prstGeom>
        </p:spPr>
      </p:pic>
      <p:sp>
        <p:nvSpPr>
          <p:cNvPr id="14" name="任意多边形 13"/>
          <p:cNvSpPr/>
          <p:nvPr/>
        </p:nvSpPr>
        <p:spPr>
          <a:xfrm>
            <a:off x="2888168" y="0"/>
            <a:ext cx="7658962" cy="6858000"/>
          </a:xfrm>
          <a:custGeom>
            <a:avLst/>
            <a:gdLst>
              <a:gd name="connsiteX0" fmla="*/ 0 w 7658962"/>
              <a:gd name="connsiteY0" fmla="*/ 0 h 6858000"/>
              <a:gd name="connsiteX1" fmla="*/ 831578 w 7658962"/>
              <a:gd name="connsiteY1" fmla="*/ 0 h 6858000"/>
              <a:gd name="connsiteX2" fmla="*/ 7658962 w 7658962"/>
              <a:gd name="connsiteY2" fmla="*/ 6858000 h 6858000"/>
              <a:gd name="connsiteX3" fmla="*/ 6844042 w 76589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58962" h="6858000">
                <a:moveTo>
                  <a:pt x="0" y="0"/>
                </a:moveTo>
                <a:lnTo>
                  <a:pt x="831578" y="0"/>
                </a:lnTo>
                <a:lnTo>
                  <a:pt x="7658962" y="6858000"/>
                </a:lnTo>
                <a:lnTo>
                  <a:pt x="6844042" y="6858000"/>
                </a:lnTo>
                <a:close/>
              </a:path>
            </a:pathLst>
          </a:custGeom>
          <a:solidFill>
            <a:srgbClr val="E8671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2818516" y="0"/>
            <a:ext cx="7143810" cy="6858000"/>
          </a:xfrm>
          <a:custGeom>
            <a:avLst/>
            <a:gdLst>
              <a:gd name="connsiteX0" fmla="*/ 0 w 7143810"/>
              <a:gd name="connsiteY0" fmla="*/ 0 h 6858000"/>
              <a:gd name="connsiteX1" fmla="*/ 299769 w 7143810"/>
              <a:gd name="connsiteY1" fmla="*/ 0 h 6858000"/>
              <a:gd name="connsiteX2" fmla="*/ 7143810 w 7143810"/>
              <a:gd name="connsiteY2" fmla="*/ 6858000 h 6858000"/>
              <a:gd name="connsiteX3" fmla="*/ 6844041 w 71438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3810" h="6858000">
                <a:moveTo>
                  <a:pt x="0" y="0"/>
                </a:moveTo>
                <a:lnTo>
                  <a:pt x="299769" y="0"/>
                </a:lnTo>
                <a:lnTo>
                  <a:pt x="7143810" y="6858000"/>
                </a:lnTo>
                <a:lnTo>
                  <a:pt x="6844041" y="6858000"/>
                </a:lnTo>
                <a:close/>
              </a:path>
            </a:pathLst>
          </a:custGeom>
          <a:solidFill>
            <a:srgbClr val="1163AF"/>
          </a:solidFill>
          <a:ln>
            <a:noFill/>
          </a:ln>
          <a:effectLst>
            <a:outerShdw blurRad="127000" dist="381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2233712" y="1838638"/>
            <a:ext cx="1432560" cy="1861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500" dirty="0">
                <a:solidFill>
                  <a:srgbClr val="1163AF"/>
                </a:solidFill>
                <a:latin typeface="Agency FB" panose="020B0503020202020204" pitchFamily="34" charset="0"/>
                <a:cs typeface="+mn-ea"/>
                <a:sym typeface="+mn-lt"/>
              </a:rPr>
              <a:t>03</a:t>
            </a:r>
            <a:endParaRPr lang="zh-CN" altLang="en-US" sz="11500" dirty="0">
              <a:solidFill>
                <a:srgbClr val="1163AF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23362" y="2576343"/>
            <a:ext cx="145424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+mn-ea"/>
                <a:sym typeface="+mn-lt"/>
              </a:rPr>
              <a:t>Part</a:t>
            </a:r>
            <a:endParaRPr lang="zh-CN" altLang="en-US" sz="5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23265" y="3977640"/>
            <a:ext cx="5181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复赛专题</a:t>
            </a:r>
            <a:r>
              <a:rPr lang="en-US" altLang="zh-CN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位运算实战</a:t>
            </a:r>
            <a:endParaRPr lang="zh-CN" altLang="en-US" sz="36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813167" y="4638817"/>
            <a:ext cx="5940000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38" name="等腰三角形 37"/>
          <p:cNvSpPr/>
          <p:nvPr/>
        </p:nvSpPr>
        <p:spPr>
          <a:xfrm>
            <a:off x="5703858" y="4510413"/>
            <a:ext cx="498226" cy="126581"/>
          </a:xfrm>
          <a:prstGeom prst="triangle">
            <a:avLst/>
          </a:prstGeom>
          <a:solidFill>
            <a:srgbClr val="1163A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39" name="等腰三角形 38"/>
          <p:cNvSpPr/>
          <p:nvPr/>
        </p:nvSpPr>
        <p:spPr>
          <a:xfrm>
            <a:off x="5904129" y="4420994"/>
            <a:ext cx="498226" cy="216000"/>
          </a:xfrm>
          <a:prstGeom prst="triangle">
            <a:avLst/>
          </a:prstGeom>
          <a:solidFill>
            <a:srgbClr val="E8671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0" name="等腰三角形 39"/>
          <p:cNvSpPr/>
          <p:nvPr/>
        </p:nvSpPr>
        <p:spPr>
          <a:xfrm>
            <a:off x="6264272" y="4575287"/>
            <a:ext cx="498226" cy="61706"/>
          </a:xfrm>
          <a:prstGeom prst="triangle">
            <a:avLst/>
          </a:prstGeom>
          <a:solidFill>
            <a:srgbClr val="268D3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1" name="等腰三角形 40"/>
          <p:cNvSpPr/>
          <p:nvPr/>
        </p:nvSpPr>
        <p:spPr>
          <a:xfrm>
            <a:off x="6053307" y="4531697"/>
            <a:ext cx="498226" cy="105297"/>
          </a:xfrm>
          <a:prstGeom prst="triangle">
            <a:avLst/>
          </a:prstGeom>
          <a:solidFill>
            <a:srgbClr val="F1C51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318243"/>
            <a:ext cx="1749779" cy="387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95151" y="1107786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六大位运算符</a:t>
            </a:r>
            <a:endParaRPr lang="zh-CN" altLang="en-US" sz="2400" dirty="0"/>
          </a:p>
        </p:txBody>
      </p:sp>
      <p:graphicFrame>
        <p:nvGraphicFramePr>
          <p:cNvPr id="6" name="表格 5"/>
          <p:cNvGraphicFramePr/>
          <p:nvPr/>
        </p:nvGraphicFramePr>
        <p:xfrm>
          <a:off x="822325" y="1855470"/>
          <a:ext cx="10195560" cy="4290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5660"/>
                <a:gridCol w="2105660"/>
                <a:gridCol w="2105660"/>
                <a:gridCol w="3878580"/>
              </a:tblGrid>
              <a:tr h="601980"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运算符</a:t>
                      </a:r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规则</a:t>
                      </a:r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示例 </a:t>
                      </a:r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(A=5 (0101), B=3 (0011))</a:t>
                      </a:r>
                      <a:endParaRPr lang="en-US" altLang="zh-CN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</a:tr>
              <a:tr h="601980">
                <a:tc>
                  <a:txBody>
                    <a:bodyPr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</a:t>
                      </a:r>
                      <a:endParaRPr lang="en-US" altLang="zh-CN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按位与</a:t>
                      </a:r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全 </a:t>
                      </a:r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 </a:t>
                      </a:r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则 </a:t>
                      </a:r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endParaRPr lang="en-US" altLang="zh-CN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&amp; B = 0001 (1)</a:t>
                      </a:r>
                      <a:endParaRPr lang="en-US" altLang="zh-CN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</a:tr>
              <a:tr h="601980">
                <a:tc>
                  <a:txBody>
                    <a:bodyPr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|</a:t>
                      </a:r>
                      <a:endParaRPr lang="en-US" altLang="zh-CN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按位或</a:t>
                      </a:r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 </a:t>
                      </a:r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 </a:t>
                      </a:r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则 </a:t>
                      </a:r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endParaRPr lang="en-US" altLang="zh-CN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| B = 0111 (7)</a:t>
                      </a:r>
                      <a:endParaRPr lang="en-US" altLang="zh-CN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</a:tr>
              <a:tr h="601980">
                <a:tc>
                  <a:txBody>
                    <a:bodyPr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</a:t>
                      </a:r>
                      <a:endParaRPr lang="en-US" altLang="zh-CN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按位异或</a:t>
                      </a:r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不同则 </a:t>
                      </a:r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endParaRPr lang="en-US" altLang="zh-CN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^ B = 0110 (6)</a:t>
                      </a:r>
                      <a:endParaRPr lang="en-US" altLang="zh-CN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</a:tr>
              <a:tr h="601980">
                <a:tc>
                  <a:txBody>
                    <a:bodyPr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~</a:t>
                      </a:r>
                      <a:endParaRPr lang="en-US" altLang="zh-CN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按位取反</a:t>
                      </a:r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 </a:t>
                      </a:r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变 </a:t>
                      </a:r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1, 1 </a:t>
                      </a:r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变 </a:t>
                      </a:r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</a:t>
                      </a:r>
                      <a:endParaRPr lang="en-US" altLang="zh-CN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~A = ...11111010 (-6)</a:t>
                      </a:r>
                      <a:endParaRPr lang="en-US" altLang="zh-CN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</a:tr>
              <a:tr h="601980">
                <a:tc>
                  <a:txBody>
                    <a:bodyPr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&lt;&lt;</a:t>
                      </a:r>
                      <a:endParaRPr lang="en-US" altLang="zh-CN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左移</a:t>
                      </a:r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左边丢弃，右边补 </a:t>
                      </a:r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</a:t>
                      </a:r>
                      <a:endParaRPr lang="en-US" altLang="zh-CN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&lt;&lt; 1 = 1010 (10)</a:t>
                      </a:r>
                      <a:endParaRPr lang="en-US" altLang="zh-CN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</a:tr>
              <a:tr h="6019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1" i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&gt;&gt;</a:t>
                      </a:r>
                      <a:endParaRPr lang="en-US" altLang="zh-CN" sz="1600" b="1" i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3667" marR="133667" marT="95567" marB="95567"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1" i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右移</a:t>
                      </a:r>
                      <a:endParaRPr lang="en-US" altLang="zh-CN" sz="1600" b="1" i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3667" marR="133667" marT="95567" marB="95567"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1" i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右边丢弃，左边补符号位</a:t>
                      </a:r>
                      <a:endParaRPr lang="en-US" altLang="zh-CN" sz="1600" b="1" i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3667" marR="133667" marT="95567" marB="95567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1" i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&gt;&gt; 1 = 0010 (2)</a:t>
                      </a:r>
                      <a:endParaRPr lang="en-US" altLang="zh-CN" sz="1600" b="1" i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3667" marR="133667" marT="95567" marB="95567" anchor="ctr" anchorCtr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95151" y="1107786"/>
            <a:ext cx="2519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竞赛中的</a:t>
            </a:r>
            <a:r>
              <a:rPr lang="en-US" altLang="zh-CN" sz="2400" dirty="0"/>
              <a:t>“</a:t>
            </a:r>
            <a:r>
              <a:rPr lang="zh-CN" altLang="en-US" sz="2400" dirty="0"/>
              <a:t>骚操作</a:t>
            </a:r>
            <a:r>
              <a:rPr lang="en-US" altLang="zh-CN" sz="2400" dirty="0"/>
              <a:t>”</a:t>
            </a:r>
            <a:endParaRPr lang="en-US" altLang="zh-CN" sz="2400" dirty="0"/>
          </a:p>
        </p:txBody>
      </p:sp>
      <p:sp>
        <p:nvSpPr>
          <p:cNvPr id="3" name="矩形 2"/>
          <p:cNvSpPr/>
          <p:nvPr/>
        </p:nvSpPr>
        <p:spPr>
          <a:xfrm>
            <a:off x="4377690" y="2143760"/>
            <a:ext cx="2519680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乘除</a:t>
            </a:r>
            <a:r>
              <a:rPr lang="en-US" altLang="zh-CN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2 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的幂</a:t>
            </a:r>
            <a:endParaRPr lang="zh-CN" altLang="en-US" sz="3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95325" y="2143760"/>
            <a:ext cx="2011680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判断奇偶</a:t>
            </a:r>
            <a:endParaRPr lang="zh-CN" altLang="en-US" sz="3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8103870" y="2143760"/>
            <a:ext cx="3307080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清除最低位的</a:t>
            </a:r>
            <a:r>
              <a:rPr lang="en-US" altLang="zh-CN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</a:t>
            </a:r>
            <a:endParaRPr lang="en-US" altLang="zh-CN" sz="3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54050" y="3429000"/>
            <a:ext cx="27432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普通：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 (n % 2 == 1)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位运算：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 (n &amp; 1) 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4528185" y="3429000"/>
            <a:ext cx="243014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n * 2^k  </a:t>
            </a:r>
            <a:r>
              <a:rPr lang="en-US" altLang="en-US"/>
              <a:t>→   </a:t>
            </a:r>
            <a:r>
              <a:rPr lang="en-US" altLang="zh-CN"/>
              <a:t>n &lt;&lt; k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n / 2^k  </a:t>
            </a:r>
            <a:r>
              <a:rPr lang="en-US" altLang="en-US"/>
              <a:t>→</a:t>
            </a:r>
            <a:r>
              <a:rPr lang="en-US" altLang="zh-CN"/>
              <a:t>     n &gt;&gt; k</a:t>
            </a:r>
            <a:endParaRPr lang="zh-CN" altLang="en-US"/>
          </a:p>
        </p:txBody>
      </p:sp>
      <p:sp>
        <p:nvSpPr>
          <p:cNvPr id="73" name="文本框 72"/>
          <p:cNvSpPr txBox="1"/>
          <p:nvPr/>
        </p:nvSpPr>
        <p:spPr>
          <a:xfrm>
            <a:off x="8303895" y="3421380"/>
            <a:ext cx="32600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公式：</a:t>
            </a:r>
            <a:r>
              <a:rPr lang="en-US" altLang="zh-CN"/>
              <a:t>n = n &amp; (n - 1)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作用：统计二进制中</a:t>
            </a:r>
            <a:r>
              <a:rPr lang="en-US" altLang="zh-CN"/>
              <a:t> 1 </a:t>
            </a:r>
            <a:r>
              <a:rPr lang="zh-CN" altLang="en-US"/>
              <a:t>的个数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5151" y="1107786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真题</a:t>
            </a:r>
            <a:r>
              <a:rPr lang="zh-CN" altLang="en-US" sz="2400" dirty="0"/>
              <a:t>训练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2907665" y="917575"/>
            <a:ext cx="7634605" cy="50774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b="0" i="0">
                <a:solidFill>
                  <a:srgbClr val="708090"/>
                </a:solidFill>
                <a:latin typeface="Consolas" panose="020B0609020204030204"/>
                <a:ea typeface="Consolas" panose="020B0609020204030204"/>
              </a:rPr>
              <a:t>#include &lt;iostream&gt;</a:t>
            </a:r>
            <a:endParaRPr lang="en-US" altLang="zh-CN" b="0" i="0">
              <a:solidFill>
                <a:srgbClr val="70809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using namespace std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zh-CN" altLang="en-US" b="0" i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countOnes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n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count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b="0" i="0">
                <a:solidFill>
                  <a:srgbClr val="0077AA"/>
                </a:solidFill>
                <a:latin typeface="Consolas" panose="020B0609020204030204"/>
                <a:ea typeface="Consolas" panose="020B0609020204030204"/>
              </a:rPr>
              <a:t>while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n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n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n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n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核心技巧</a:t>
            </a:r>
            <a:endParaRPr lang="zh-CN" altLang="en-US" b="0" i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count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++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b="0" i="0">
                <a:solidFill>
                  <a:srgbClr val="0077AA"/>
                </a:solidFill>
                <a:latin typeface="Consolas" panose="020B0609020204030204"/>
                <a:ea typeface="Consolas" panose="020B0609020204030204"/>
              </a:rPr>
              <a:t>return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count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main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()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zh-CN" altLang="en-US" b="0" i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freopen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"bit.in"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"r"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stdin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);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freopen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"bit.out"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"w"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stdout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);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n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cin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&gt;&gt;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n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cout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countOnes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n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endl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b="0" i="0">
                <a:solidFill>
                  <a:srgbClr val="0077AA"/>
                </a:solidFill>
                <a:latin typeface="Consolas" panose="020B0609020204030204"/>
                <a:ea typeface="Consolas" panose="020B0609020204030204"/>
              </a:rPr>
              <a:t>return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5151" y="1107786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综合实战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382905" y="1911985"/>
            <a:ext cx="28200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任务</a:t>
            </a:r>
            <a:r>
              <a:rPr lang="en-US" altLang="zh-CN"/>
              <a:t> A</a:t>
            </a:r>
            <a:r>
              <a:rPr lang="zh-CN" altLang="en-US"/>
              <a:t>：通用进制转换器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63855" y="2547620"/>
            <a:ext cx="87503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题目：输入一个十进制整数</a:t>
            </a:r>
            <a:r>
              <a:rPr lang="en-US" altLang="zh-CN"/>
              <a:t> </a:t>
            </a:r>
            <a:r>
              <a:rPr lang="zh-CN" altLang="en-US"/>
              <a:t>𝑁和目标进制</a:t>
            </a:r>
            <a:r>
              <a:rPr lang="en-US" altLang="zh-CN"/>
              <a:t> </a:t>
            </a:r>
            <a:r>
              <a:rPr lang="zh-CN" altLang="en-US"/>
              <a:t>𝑀，</a:t>
            </a:r>
            <a:r>
              <a:rPr lang="en-US" altLang="zh-CN"/>
              <a:t>N </a:t>
            </a:r>
            <a:r>
              <a:rPr lang="zh-CN" altLang="en-US"/>
              <a:t>对</a:t>
            </a:r>
            <a:r>
              <a:rPr lang="en-US" altLang="zh-CN"/>
              <a:t>M  </a:t>
            </a:r>
            <a:r>
              <a:rPr lang="zh-CN" altLang="en-US"/>
              <a:t>进制表示（</a:t>
            </a:r>
            <a:r>
              <a:rPr lang="en-US" altLang="zh-CN"/>
              <a:t>A-F </a:t>
            </a:r>
            <a:r>
              <a:rPr lang="zh-CN" altLang="en-US"/>
              <a:t>用大写字母）。</a:t>
            </a:r>
            <a:endParaRPr lang="zh-CN" altLang="en-US"/>
          </a:p>
          <a:p>
            <a:r>
              <a:rPr lang="zh-CN" altLang="en-US"/>
              <a:t>要求：</a:t>
            </a:r>
            <a:endParaRPr lang="zh-CN" altLang="en-US"/>
          </a:p>
          <a:p>
            <a:pPr lvl="1"/>
            <a:r>
              <a:rPr lang="zh-CN" altLang="en-US"/>
              <a:t>使用文件读写</a:t>
            </a:r>
            <a:r>
              <a:rPr lang="en-US" altLang="zh-CN"/>
              <a:t> (base.in / base.out)</a:t>
            </a:r>
            <a:r>
              <a:rPr lang="zh-CN" altLang="en-US"/>
              <a:t>。</a:t>
            </a:r>
            <a:endParaRPr lang="zh-CN" altLang="en-US"/>
          </a:p>
          <a:p>
            <a:pPr lvl="1"/>
            <a:r>
              <a:rPr lang="zh-CN" altLang="en-US"/>
              <a:t>利用栈或数组存储余数，逆序输出。</a:t>
            </a:r>
            <a:endParaRPr lang="zh-CN" altLang="en-US"/>
          </a:p>
          <a:p>
            <a:pPr lvl="1"/>
            <a:r>
              <a:rPr lang="zh-CN" altLang="en-US"/>
              <a:t>处理</a:t>
            </a:r>
            <a:r>
              <a:rPr lang="en-US" altLang="zh-CN"/>
              <a:t> </a:t>
            </a:r>
            <a:r>
              <a:rPr lang="zh-CN" altLang="en-US"/>
              <a:t>𝑁</a:t>
            </a:r>
            <a:r>
              <a:rPr lang="en-US" altLang="zh-CN"/>
              <a:t>=0</a:t>
            </a:r>
            <a:r>
              <a:rPr lang="zh-CN" altLang="en-US"/>
              <a:t>的边界情况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5151" y="1107786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综合实战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363855" y="1896110"/>
            <a:ext cx="87503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任务</a:t>
            </a:r>
            <a:r>
              <a:rPr lang="en-US" altLang="zh-CN"/>
              <a:t> B</a:t>
            </a:r>
            <a:r>
              <a:rPr lang="zh-CN" altLang="en-US"/>
              <a:t>：位运算谜题（初赛</a:t>
            </a:r>
            <a:r>
              <a:rPr lang="en-US" altLang="zh-CN"/>
              <a:t>/</a:t>
            </a:r>
            <a:r>
              <a:rPr lang="zh-CN" altLang="en-US"/>
              <a:t>复赛结合）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题目：输入两个整数</a:t>
            </a:r>
            <a:r>
              <a:rPr lang="en-US" altLang="zh-CN"/>
              <a:t> A,BA,B </a:t>
            </a:r>
            <a:r>
              <a:rPr lang="zh-CN" altLang="en-US"/>
              <a:t>，不使用</a:t>
            </a:r>
            <a:r>
              <a:rPr lang="en-US" altLang="zh-CN"/>
              <a:t> + </a:t>
            </a:r>
            <a:r>
              <a:rPr lang="zh-CN" altLang="en-US"/>
              <a:t>运算符，计算</a:t>
            </a:r>
            <a:r>
              <a:rPr lang="en-US" altLang="zh-CN"/>
              <a:t> A+BA+B 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提示：利用异或</a:t>
            </a:r>
            <a:r>
              <a:rPr lang="en-US" altLang="zh-CN"/>
              <a:t> ^ </a:t>
            </a:r>
            <a:r>
              <a:rPr lang="zh-CN" altLang="en-US"/>
              <a:t>模拟无进位加法，利用</a:t>
            </a:r>
            <a:r>
              <a:rPr lang="en-US" altLang="zh-CN"/>
              <a:t> &amp; </a:t>
            </a:r>
            <a:r>
              <a:rPr lang="zh-CN" altLang="en-US"/>
              <a:t>和</a:t>
            </a:r>
            <a:r>
              <a:rPr lang="en-US" altLang="zh-CN"/>
              <a:t> &lt;&lt; </a:t>
            </a:r>
            <a:r>
              <a:rPr lang="zh-CN" altLang="en-US"/>
              <a:t>模拟进位。</a:t>
            </a:r>
            <a:endParaRPr lang="zh-CN" altLang="en-US"/>
          </a:p>
          <a:p>
            <a:pPr lvl="1"/>
            <a:r>
              <a:rPr lang="en-US" altLang="zh-CN"/>
              <a:t>sum = A ^ B (</a:t>
            </a:r>
            <a:r>
              <a:rPr lang="zh-CN" altLang="en-US"/>
              <a:t>无进位和</a:t>
            </a:r>
            <a:r>
              <a:rPr lang="en-US" altLang="zh-CN"/>
              <a:t>)</a:t>
            </a:r>
            <a:endParaRPr lang="en-US" altLang="zh-CN"/>
          </a:p>
          <a:p>
            <a:pPr lvl="1"/>
            <a:r>
              <a:rPr lang="en-US" altLang="zh-CN"/>
              <a:t>carry = (A &amp; B) &lt;&lt; 1 (</a:t>
            </a:r>
            <a:r>
              <a:rPr lang="zh-CN" altLang="en-US"/>
              <a:t>进位</a:t>
            </a:r>
            <a:r>
              <a:rPr lang="en-US" altLang="zh-CN"/>
              <a:t>)</a:t>
            </a:r>
            <a:endParaRPr lang="en-US" altLang="zh-CN"/>
          </a:p>
          <a:p>
            <a:pPr lvl="1"/>
            <a:r>
              <a:rPr lang="zh-CN" altLang="en-US"/>
              <a:t>循环直到进位为</a:t>
            </a:r>
            <a:r>
              <a:rPr lang="en-US" altLang="zh-CN"/>
              <a:t> 0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928" y="0"/>
            <a:ext cx="9339072" cy="6858000"/>
          </a:xfrm>
          <a:prstGeom prst="rect">
            <a:avLst/>
          </a:prstGeom>
        </p:spPr>
      </p:pic>
      <p:sp>
        <p:nvSpPr>
          <p:cNvPr id="14" name="任意多边形 13"/>
          <p:cNvSpPr/>
          <p:nvPr/>
        </p:nvSpPr>
        <p:spPr>
          <a:xfrm>
            <a:off x="2888168" y="0"/>
            <a:ext cx="7658962" cy="6858000"/>
          </a:xfrm>
          <a:custGeom>
            <a:avLst/>
            <a:gdLst>
              <a:gd name="connsiteX0" fmla="*/ 0 w 7658962"/>
              <a:gd name="connsiteY0" fmla="*/ 0 h 6858000"/>
              <a:gd name="connsiteX1" fmla="*/ 831578 w 7658962"/>
              <a:gd name="connsiteY1" fmla="*/ 0 h 6858000"/>
              <a:gd name="connsiteX2" fmla="*/ 7658962 w 7658962"/>
              <a:gd name="connsiteY2" fmla="*/ 6858000 h 6858000"/>
              <a:gd name="connsiteX3" fmla="*/ 6844042 w 76589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58962" h="6858000">
                <a:moveTo>
                  <a:pt x="0" y="0"/>
                </a:moveTo>
                <a:lnTo>
                  <a:pt x="831578" y="0"/>
                </a:lnTo>
                <a:lnTo>
                  <a:pt x="7658962" y="6858000"/>
                </a:lnTo>
                <a:lnTo>
                  <a:pt x="6844042" y="6858000"/>
                </a:lnTo>
                <a:close/>
              </a:path>
            </a:pathLst>
          </a:custGeom>
          <a:solidFill>
            <a:srgbClr val="E8671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2818516" y="0"/>
            <a:ext cx="7143810" cy="6858000"/>
          </a:xfrm>
          <a:custGeom>
            <a:avLst/>
            <a:gdLst>
              <a:gd name="connsiteX0" fmla="*/ 0 w 7143810"/>
              <a:gd name="connsiteY0" fmla="*/ 0 h 6858000"/>
              <a:gd name="connsiteX1" fmla="*/ 299769 w 7143810"/>
              <a:gd name="connsiteY1" fmla="*/ 0 h 6858000"/>
              <a:gd name="connsiteX2" fmla="*/ 7143810 w 7143810"/>
              <a:gd name="connsiteY2" fmla="*/ 6858000 h 6858000"/>
              <a:gd name="connsiteX3" fmla="*/ 6844041 w 71438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3810" h="6858000">
                <a:moveTo>
                  <a:pt x="0" y="0"/>
                </a:moveTo>
                <a:lnTo>
                  <a:pt x="299769" y="0"/>
                </a:lnTo>
                <a:lnTo>
                  <a:pt x="7143810" y="6858000"/>
                </a:lnTo>
                <a:lnTo>
                  <a:pt x="6844041" y="6858000"/>
                </a:lnTo>
                <a:close/>
              </a:path>
            </a:pathLst>
          </a:custGeom>
          <a:solidFill>
            <a:srgbClr val="1163AF"/>
          </a:solidFill>
          <a:ln>
            <a:noFill/>
          </a:ln>
          <a:effectLst>
            <a:outerShdw blurRad="127000" dist="381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2233712" y="1838638"/>
            <a:ext cx="1375410" cy="1861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500" dirty="0">
                <a:solidFill>
                  <a:srgbClr val="1163AF"/>
                </a:solidFill>
                <a:latin typeface="Agency FB" panose="020B0503020202020204" pitchFamily="34" charset="0"/>
                <a:cs typeface="+mn-ea"/>
                <a:sym typeface="+mn-lt"/>
              </a:rPr>
              <a:t>04</a:t>
            </a:r>
            <a:endParaRPr lang="zh-CN" altLang="en-US" sz="11500" dirty="0">
              <a:solidFill>
                <a:srgbClr val="1163AF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23362" y="2576343"/>
            <a:ext cx="145424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+mn-ea"/>
                <a:sym typeface="+mn-lt"/>
              </a:rPr>
              <a:t>Part</a:t>
            </a:r>
            <a:endParaRPr lang="zh-CN" altLang="en-US" sz="5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23361" y="3977314"/>
            <a:ext cx="3961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拓展与延续</a:t>
            </a:r>
            <a:endParaRPr lang="en-US" altLang="zh-CN" sz="36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813167" y="4638817"/>
            <a:ext cx="5940000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38" name="等腰三角形 37"/>
          <p:cNvSpPr/>
          <p:nvPr/>
        </p:nvSpPr>
        <p:spPr>
          <a:xfrm>
            <a:off x="5703858" y="4510413"/>
            <a:ext cx="498226" cy="126581"/>
          </a:xfrm>
          <a:prstGeom prst="triangle">
            <a:avLst/>
          </a:prstGeom>
          <a:solidFill>
            <a:srgbClr val="1163A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39" name="等腰三角形 38"/>
          <p:cNvSpPr/>
          <p:nvPr/>
        </p:nvSpPr>
        <p:spPr>
          <a:xfrm>
            <a:off x="5904129" y="4420994"/>
            <a:ext cx="498226" cy="216000"/>
          </a:xfrm>
          <a:prstGeom prst="triangle">
            <a:avLst/>
          </a:prstGeom>
          <a:solidFill>
            <a:srgbClr val="E8671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0" name="等腰三角形 39"/>
          <p:cNvSpPr/>
          <p:nvPr/>
        </p:nvSpPr>
        <p:spPr>
          <a:xfrm>
            <a:off x="6264272" y="4575287"/>
            <a:ext cx="498226" cy="61706"/>
          </a:xfrm>
          <a:prstGeom prst="triangle">
            <a:avLst/>
          </a:prstGeom>
          <a:solidFill>
            <a:srgbClr val="268D3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1" name="等腰三角形 40"/>
          <p:cNvSpPr/>
          <p:nvPr/>
        </p:nvSpPr>
        <p:spPr>
          <a:xfrm>
            <a:off x="6053307" y="4531697"/>
            <a:ext cx="498226" cy="105297"/>
          </a:xfrm>
          <a:prstGeom prst="triangle">
            <a:avLst/>
          </a:prstGeom>
          <a:solidFill>
            <a:srgbClr val="F1C51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318243"/>
            <a:ext cx="1749779" cy="387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3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5151" y="1107786"/>
            <a:ext cx="1706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优先级</a:t>
            </a:r>
            <a:r>
              <a:rPr lang="zh-CN" altLang="en-US" sz="2400" dirty="0"/>
              <a:t>陷阱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393065" y="2193290"/>
            <a:ext cx="31610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6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if (n &amp; 1 == 1) </a:t>
            </a:r>
            <a:endParaRPr lang="en-US" altLang="zh-CN" sz="360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04280" y="2101215"/>
            <a:ext cx="427228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8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if (n &amp; (1 == 1))</a:t>
            </a:r>
            <a:endParaRPr lang="en-US" altLang="zh-CN" sz="480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93065" y="387985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/>
              <a:t>大小写转换为什么相差</a:t>
            </a:r>
            <a:r>
              <a:rPr lang="en-US" altLang="zh-CN" sz="3200" b="1">
                <a:solidFill>
                  <a:srgbClr val="FF0000"/>
                </a:solidFill>
              </a:rPr>
              <a:t>32</a:t>
            </a:r>
            <a:endParaRPr lang="en-US" altLang="zh-CN" sz="32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65" y="2863684"/>
            <a:ext cx="11506807" cy="21281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393" y="621101"/>
            <a:ext cx="5719156" cy="118373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547" y="0"/>
            <a:ext cx="9339072" cy="6858000"/>
          </a:xfrm>
          <a:prstGeom prst="rect">
            <a:avLst/>
          </a:prstGeom>
        </p:spPr>
      </p:pic>
      <p:sp>
        <p:nvSpPr>
          <p:cNvPr id="25" name="任意多边形 24"/>
          <p:cNvSpPr/>
          <p:nvPr/>
        </p:nvSpPr>
        <p:spPr>
          <a:xfrm>
            <a:off x="495302" y="0"/>
            <a:ext cx="10745217" cy="6913756"/>
          </a:xfrm>
          <a:custGeom>
            <a:avLst/>
            <a:gdLst>
              <a:gd name="connsiteX0" fmla="*/ 0 w 10745217"/>
              <a:gd name="connsiteY0" fmla="*/ 0 h 6913756"/>
              <a:gd name="connsiteX1" fmla="*/ 3779986 w 10745217"/>
              <a:gd name="connsiteY1" fmla="*/ 0 h 6913756"/>
              <a:gd name="connsiteX2" fmla="*/ 10745217 w 10745217"/>
              <a:gd name="connsiteY2" fmla="*/ 6913756 h 6913756"/>
              <a:gd name="connsiteX3" fmla="*/ 2912848 w 10745217"/>
              <a:gd name="connsiteY3" fmla="*/ 6913756 h 6913756"/>
              <a:gd name="connsiteX4" fmla="*/ 0 w 10745217"/>
              <a:gd name="connsiteY4" fmla="*/ 4022434 h 691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45217" h="6913756">
                <a:moveTo>
                  <a:pt x="0" y="0"/>
                </a:moveTo>
                <a:lnTo>
                  <a:pt x="3779986" y="0"/>
                </a:lnTo>
                <a:lnTo>
                  <a:pt x="10745217" y="6913756"/>
                </a:lnTo>
                <a:lnTo>
                  <a:pt x="2912848" y="6913756"/>
                </a:lnTo>
                <a:lnTo>
                  <a:pt x="0" y="4022434"/>
                </a:lnTo>
                <a:close/>
              </a:path>
            </a:pathLst>
          </a:custGeom>
          <a:solidFill>
            <a:srgbClr val="F1C51E"/>
          </a:solidFill>
          <a:ln>
            <a:noFill/>
          </a:ln>
          <a:effectLst>
            <a:outerShdw blurRad="1270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/>
        </p:nvSpPr>
        <p:spPr>
          <a:xfrm>
            <a:off x="2" y="0"/>
            <a:ext cx="10745217" cy="6913756"/>
          </a:xfrm>
          <a:custGeom>
            <a:avLst/>
            <a:gdLst>
              <a:gd name="connsiteX0" fmla="*/ 0 w 10745217"/>
              <a:gd name="connsiteY0" fmla="*/ 0 h 6913756"/>
              <a:gd name="connsiteX1" fmla="*/ 3779986 w 10745217"/>
              <a:gd name="connsiteY1" fmla="*/ 0 h 6913756"/>
              <a:gd name="connsiteX2" fmla="*/ 10745217 w 10745217"/>
              <a:gd name="connsiteY2" fmla="*/ 6913756 h 6913756"/>
              <a:gd name="connsiteX3" fmla="*/ 2484587 w 10745217"/>
              <a:gd name="connsiteY3" fmla="*/ 6913756 h 6913756"/>
              <a:gd name="connsiteX4" fmla="*/ 0 w 10745217"/>
              <a:gd name="connsiteY4" fmla="*/ 4447531 h 691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45217" h="6913756">
                <a:moveTo>
                  <a:pt x="0" y="0"/>
                </a:moveTo>
                <a:lnTo>
                  <a:pt x="3779986" y="0"/>
                </a:lnTo>
                <a:lnTo>
                  <a:pt x="10745217" y="6913756"/>
                </a:lnTo>
                <a:lnTo>
                  <a:pt x="2484587" y="6913756"/>
                </a:lnTo>
                <a:lnTo>
                  <a:pt x="0" y="4447531"/>
                </a:lnTo>
                <a:close/>
              </a:path>
            </a:pathLst>
          </a:custGeom>
          <a:solidFill>
            <a:srgbClr val="B92022"/>
          </a:solidFill>
          <a:ln>
            <a:noFill/>
          </a:ln>
          <a:effectLst>
            <a:outerShdw blurRad="1270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>
            <a:off x="2" y="0"/>
            <a:ext cx="10976713" cy="6913756"/>
          </a:xfrm>
          <a:custGeom>
            <a:avLst/>
            <a:gdLst>
              <a:gd name="connsiteX0" fmla="*/ 0 w 10976713"/>
              <a:gd name="connsiteY0" fmla="*/ 0 h 6913756"/>
              <a:gd name="connsiteX1" fmla="*/ 4011482 w 10976713"/>
              <a:gd name="connsiteY1" fmla="*/ 0 h 6913756"/>
              <a:gd name="connsiteX2" fmla="*/ 10976713 w 10976713"/>
              <a:gd name="connsiteY2" fmla="*/ 6913756 h 6913756"/>
              <a:gd name="connsiteX3" fmla="*/ 2912848 w 10976713"/>
              <a:gd name="connsiteY3" fmla="*/ 6913756 h 6913756"/>
              <a:gd name="connsiteX4" fmla="*/ 0 w 10976713"/>
              <a:gd name="connsiteY4" fmla="*/ 4022434 h 691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6713" h="6913756">
                <a:moveTo>
                  <a:pt x="0" y="0"/>
                </a:moveTo>
                <a:lnTo>
                  <a:pt x="4011482" y="0"/>
                </a:lnTo>
                <a:lnTo>
                  <a:pt x="10976713" y="6913756"/>
                </a:lnTo>
                <a:lnTo>
                  <a:pt x="2912848" y="6913756"/>
                </a:lnTo>
                <a:lnTo>
                  <a:pt x="0" y="4022434"/>
                </a:lnTo>
                <a:close/>
              </a:path>
            </a:pathLst>
          </a:custGeom>
          <a:solidFill>
            <a:srgbClr val="E86713"/>
          </a:solidFill>
          <a:ln>
            <a:noFill/>
          </a:ln>
          <a:effectLst>
            <a:outerShdw blurRad="1270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2" y="-16626"/>
            <a:ext cx="10745217" cy="6913756"/>
          </a:xfrm>
          <a:custGeom>
            <a:avLst/>
            <a:gdLst>
              <a:gd name="connsiteX0" fmla="*/ 0 w 10745217"/>
              <a:gd name="connsiteY0" fmla="*/ 0 h 6913756"/>
              <a:gd name="connsiteX1" fmla="*/ 3779986 w 10745217"/>
              <a:gd name="connsiteY1" fmla="*/ 0 h 6913756"/>
              <a:gd name="connsiteX2" fmla="*/ 10745217 w 10745217"/>
              <a:gd name="connsiteY2" fmla="*/ 6913756 h 6913756"/>
              <a:gd name="connsiteX3" fmla="*/ 2912848 w 10745217"/>
              <a:gd name="connsiteY3" fmla="*/ 6913756 h 6913756"/>
              <a:gd name="connsiteX4" fmla="*/ 0 w 10745217"/>
              <a:gd name="connsiteY4" fmla="*/ 4022434 h 691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45217" h="6913756">
                <a:moveTo>
                  <a:pt x="0" y="0"/>
                </a:moveTo>
                <a:lnTo>
                  <a:pt x="3779986" y="0"/>
                </a:lnTo>
                <a:lnTo>
                  <a:pt x="10745217" y="6913756"/>
                </a:lnTo>
                <a:lnTo>
                  <a:pt x="2912848" y="6913756"/>
                </a:lnTo>
                <a:lnTo>
                  <a:pt x="0" y="40224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836759" y="2361669"/>
            <a:ext cx="489589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b="1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  <a:cs typeface="+mn-ea"/>
                <a:sym typeface="+mn-lt"/>
              </a:rPr>
              <a:t>THANK </a:t>
            </a:r>
            <a:r>
              <a:rPr lang="en-US" altLang="zh-CN" sz="9600" b="1">
                <a:solidFill>
                  <a:srgbClr val="1163AF"/>
                </a:solidFill>
                <a:latin typeface="Agency FB" panose="020B0503020202020204" pitchFamily="34" charset="0"/>
                <a:cs typeface="+mn-ea"/>
                <a:sym typeface="+mn-lt"/>
              </a:rPr>
              <a:t>YOU</a:t>
            </a:r>
            <a:endParaRPr lang="zh-CN" altLang="en-US" sz="9600" b="1">
              <a:solidFill>
                <a:srgbClr val="1163AF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778488" y="3936013"/>
            <a:ext cx="2621915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课程：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C++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   教师：程老师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318243"/>
            <a:ext cx="2393245" cy="5298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tags/tag1.xml><?xml version="1.0" encoding="utf-8"?>
<p:tagLst xmlns:p="http://schemas.openxmlformats.org/presentationml/2006/main">
  <p:tag name="TABLE_ENDDRAG_ORIGIN_RECT" val="624*105"/>
  <p:tag name="TABLE_ENDDRAG_RECT" val="110*374*624*105"/>
</p:tagLst>
</file>

<file path=ppt/tags/tag2.xml><?xml version="1.0" encoding="utf-8"?>
<p:tagLst xmlns:p="http://schemas.openxmlformats.org/presentationml/2006/main">
  <p:tag name="KSO_WPP_MARK_KEY" val="21e91ba9-f2b3-4783-be8d-b49cccea8aa1"/>
  <p:tag name="COMMONDATA" val="eyJoZGlkIjoiZDEyNDEwMTY1OGFmODFiODdlZDM1NmY0MmZiN2E3NDAifQ=="/>
  <p:tag name="resource_record_key" val="{&quot;29&quot;:[50053368,50053044]}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rjklhbba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2921</Words>
  <Application>WPS 演示</Application>
  <PresentationFormat>宽屏</PresentationFormat>
  <Paragraphs>557</Paragraphs>
  <Slides>23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Century Gothic</vt:lpstr>
      <vt:lpstr>微软雅黑 Light</vt:lpstr>
      <vt:lpstr>Agency FB</vt:lpstr>
      <vt:lpstr>华文细黑</vt:lpstr>
      <vt:lpstr>Arial Unicode MS</vt:lpstr>
      <vt:lpstr>Calibri</vt:lpstr>
      <vt:lpstr>Consolas</vt:lpstr>
      <vt:lpstr>黑体</vt:lpstr>
      <vt:lpstr>BatangChe</vt:lpstr>
      <vt:lpstr>ZWSimpleStroke</vt:lpstr>
      <vt:lpstr>ui-monospace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 R 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 鹏君</dc:creator>
  <cp:lastModifiedBy>Ms蒗</cp:lastModifiedBy>
  <cp:revision>251</cp:revision>
  <dcterms:created xsi:type="dcterms:W3CDTF">2020-10-06T11:46:00Z</dcterms:created>
  <dcterms:modified xsi:type="dcterms:W3CDTF">2026-03-05T03:37:15Z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D862EBA602A246009BA12BD46D0BB4A6_12</vt:lpwstr>
  </property>
  <property fmtid="{D5CDD505-2E9C-101B-9397-08002B2CF9AE}" pid="3" name="KSOProductBuildVer">
    <vt:lpwstr>2052-12.1.0.25225</vt:lpwstr>
  </property>
</Properties>
</file>