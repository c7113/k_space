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70" r:id="rId3"/>
    <p:sldId id="271" r:id="rId4"/>
    <p:sldId id="401" r:id="rId6"/>
    <p:sldId id="397" r:id="rId7"/>
    <p:sldId id="494" r:id="rId8"/>
    <p:sldId id="493" r:id="rId9"/>
    <p:sldId id="586" r:id="rId10"/>
    <p:sldId id="561" r:id="rId11"/>
    <p:sldId id="587" r:id="rId12"/>
    <p:sldId id="529" r:id="rId13"/>
    <p:sldId id="498" r:id="rId14"/>
    <p:sldId id="588" r:id="rId15"/>
    <p:sldId id="563" r:id="rId16"/>
    <p:sldId id="589" r:id="rId17"/>
    <p:sldId id="576" r:id="rId18"/>
    <p:sldId id="590" r:id="rId19"/>
    <p:sldId id="405" r:id="rId20"/>
    <p:sldId id="272" r:id="rId21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8D3A"/>
    <a:srgbClr val="5B9BD5"/>
    <a:srgbClr val="B92022"/>
    <a:srgbClr val="E86713"/>
    <a:srgbClr val="FBEFC1"/>
    <a:srgbClr val="FFD687"/>
    <a:srgbClr val="F1C51E"/>
    <a:srgbClr val="1163AF"/>
    <a:srgbClr val="DE9596"/>
    <a:srgbClr val="653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68F48CB-B3E4-4AC4-B9B0-83364689537C}" styleName="{d81a1682-f6d3-453d-a0b4-2df6d50f48b8}">
    <a:wholeTbl>
      <a:tcTxStyle>
        <a:fontRef idx="none">
          <a:prstClr val="black"/>
        </a:fontRef>
      </a:tcTxStyle>
      <a:tcStyle>
        <a:tcBdr>
          <a:left>
            <a:ln w="6350" cmpd="sng">
              <a:solidFill>
                <a:srgbClr val="B8D6BA"/>
              </a:solidFill>
            </a:ln>
          </a:left>
          <a:right>
            <a:ln w="6350" cmpd="sng">
              <a:solidFill>
                <a:srgbClr val="B8D6BA"/>
              </a:solidFill>
            </a:ln>
          </a:right>
          <a:top>
            <a:ln w="6350" cmpd="sng">
              <a:solidFill>
                <a:srgbClr val="B8D6BA"/>
              </a:solidFill>
            </a:ln>
          </a:top>
          <a:bottom>
            <a:ln w="6350" cmpd="sng">
              <a:solidFill>
                <a:srgbClr val="B8D6BA"/>
              </a:solidFill>
            </a:ln>
          </a:bottom>
          <a:insideH>
            <a:ln w="6350" cmpd="sng">
              <a:solidFill>
                <a:srgbClr val="B8D6BA"/>
              </a:solidFill>
            </a:ln>
          </a:insideH>
          <a:insideV>
            <a:ln w="6350" cmpd="sng">
              <a:solidFill>
                <a:srgbClr val="B8D6BA"/>
              </a:solidFill>
            </a:ln>
          </a:insideV>
        </a:tcBdr>
        <a:fill>
          <a:solidFill>
            <a:srgbClr val="FFFFFF"/>
          </a:solidFill>
        </a:fill>
      </a:tcStyle>
    </a:wholeTbl>
    <a:firstRow>
      <a:tcTxStyle>
        <a:fontRef idx="none">
          <a:prstClr val="black"/>
        </a:fontRef>
      </a:tcTxStyle>
      <a:tcStyle>
        <a:tcBdr>
          <a:left>
            <a:ln w="6350" cmpd="sng">
              <a:solidFill>
                <a:srgbClr val="FFFFFF"/>
              </a:solidFill>
            </a:ln>
          </a:left>
          <a:right>
            <a:ln w="6350" cmpd="sng">
              <a:solidFill>
                <a:srgbClr val="FFFFFF"/>
              </a:solidFill>
            </a:ln>
          </a:right>
          <a:top>
            <a:ln w="6350" cmpd="sng">
              <a:solidFill>
                <a:srgbClr val="FFFFFF"/>
              </a:solidFill>
            </a:ln>
          </a:top>
          <a:bottom>
            <a:ln w="6350" cmpd="sng">
              <a:solidFill>
                <a:srgbClr val="FFFFFF"/>
              </a:solidFill>
            </a:ln>
          </a:bottom>
          <a:insideV>
            <a:ln w="6350" cmpd="sng">
              <a:solidFill>
                <a:srgbClr val="FFFFFF"/>
              </a:solidFill>
            </a:ln>
          </a:insideV>
        </a:tcBdr>
        <a:fill>
          <a:solidFill>
            <a:srgbClr val="B8D6BA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1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780" y="114"/>
      </p:cViewPr>
      <p:guideLst>
        <p:guide orient="horz" pos="2160"/>
        <p:guide pos="383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2" d="100"/>
        <a:sy n="122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043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gs" Target="tags/tag11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14CAAC-3D94-4303-A1AA-E3CA422E04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9A600-3198-444F-940B-8127AA78170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9C9A1-17AB-4961-91FD-5CCCE29CF5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9C9A1-17AB-4961-91FD-5CCCE29CF5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9C9A1-17AB-4961-91FD-5CCCE29CF5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9C9A1-17AB-4961-91FD-5CCCE29CF5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鲁班创客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619"/>
          <a:stretch>
            <a:fillRect/>
          </a:stretch>
        </p:blipFill>
        <p:spPr>
          <a:xfrm>
            <a:off x="177431" y="102032"/>
            <a:ext cx="1185204" cy="117247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鲁班创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" y="1"/>
            <a:ext cx="12191999" cy="85142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910830" y="179455"/>
            <a:ext cx="4880665" cy="480131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>
            <a:lvl1pPr marL="0" indent="0">
              <a:buFontTx/>
              <a:buNone/>
              <a:defRPr lang="zh-CN" altLang="en-US" sz="28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/>
            <a:r>
              <a:rPr lang="zh-CN" altLang="en-US"/>
              <a:t>单击此处添加您的标题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619"/>
          <a:stretch>
            <a:fillRect/>
          </a:stretch>
        </p:blipFill>
        <p:spPr>
          <a:xfrm>
            <a:off x="177431" y="102032"/>
            <a:ext cx="641874" cy="634979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" y="6539757"/>
            <a:ext cx="12191999" cy="31824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Picture" descr="Picture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-1" y="6507497"/>
            <a:ext cx="12191999" cy="4571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008" y="7495"/>
            <a:ext cx="7936992" cy="6858000"/>
          </a:xfrm>
          <a:prstGeom prst="rect">
            <a:avLst/>
          </a:prstGeom>
        </p:spPr>
      </p:pic>
      <p:sp>
        <p:nvSpPr>
          <p:cNvPr id="17" name="任意多边形 16"/>
          <p:cNvSpPr/>
          <p:nvPr/>
        </p:nvSpPr>
        <p:spPr>
          <a:xfrm flipH="1">
            <a:off x="3907971" y="0"/>
            <a:ext cx="8284027" cy="6877853"/>
          </a:xfrm>
          <a:custGeom>
            <a:avLst/>
            <a:gdLst>
              <a:gd name="connsiteX0" fmla="*/ 1125974 w 8135527"/>
              <a:gd name="connsiteY0" fmla="*/ 0 h 6877853"/>
              <a:gd name="connsiteX1" fmla="*/ 0 w 8135527"/>
              <a:gd name="connsiteY1" fmla="*/ 0 h 6877853"/>
              <a:gd name="connsiteX2" fmla="*/ 0 w 8135527"/>
              <a:gd name="connsiteY2" fmla="*/ 1128318 h 6877853"/>
              <a:gd name="connsiteX3" fmla="*/ 7402440 w 8135527"/>
              <a:gd name="connsiteY3" fmla="*/ 6877853 h 6877853"/>
              <a:gd name="connsiteX4" fmla="*/ 8135527 w 8135527"/>
              <a:gd name="connsiteY4" fmla="*/ 6877853 h 6877853"/>
              <a:gd name="connsiteX5" fmla="*/ 8135526 w 8135527"/>
              <a:gd name="connsiteY5" fmla="*/ 6877852 h 6877853"/>
              <a:gd name="connsiteX6" fmla="*/ 7966908 w 8135527"/>
              <a:gd name="connsiteY6" fmla="*/ 6877852 h 6877853"/>
              <a:gd name="connsiteX7" fmla="*/ 7954628 w 8135527"/>
              <a:gd name="connsiteY7" fmla="*/ 6865494 h 6877853"/>
              <a:gd name="connsiteX8" fmla="*/ 7922558 w 8135527"/>
              <a:gd name="connsiteY8" fmla="*/ 6865494 h 6877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35527" h="6877853">
                <a:moveTo>
                  <a:pt x="1125974" y="0"/>
                </a:moveTo>
                <a:lnTo>
                  <a:pt x="0" y="0"/>
                </a:lnTo>
                <a:lnTo>
                  <a:pt x="0" y="1128318"/>
                </a:lnTo>
                <a:lnTo>
                  <a:pt x="7402440" y="6877853"/>
                </a:lnTo>
                <a:lnTo>
                  <a:pt x="8135527" y="6877853"/>
                </a:lnTo>
                <a:lnTo>
                  <a:pt x="8135526" y="6877852"/>
                </a:lnTo>
                <a:lnTo>
                  <a:pt x="7966908" y="6877852"/>
                </a:lnTo>
                <a:lnTo>
                  <a:pt x="7954628" y="6865494"/>
                </a:lnTo>
                <a:lnTo>
                  <a:pt x="7922558" y="6865494"/>
                </a:lnTo>
                <a:close/>
              </a:path>
            </a:pathLst>
          </a:custGeom>
          <a:solidFill>
            <a:srgbClr val="F1C51E"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2540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8" name="任意多边形 17"/>
          <p:cNvSpPr/>
          <p:nvPr/>
        </p:nvSpPr>
        <p:spPr>
          <a:xfrm flipH="1">
            <a:off x="4047343" y="-1"/>
            <a:ext cx="7003692" cy="6865495"/>
          </a:xfrm>
          <a:custGeom>
            <a:avLst/>
            <a:gdLst>
              <a:gd name="connsiteX0" fmla="*/ 1065557 w 7003692"/>
              <a:gd name="connsiteY0" fmla="*/ 0 h 6865495"/>
              <a:gd name="connsiteX1" fmla="*/ 0 w 7003692"/>
              <a:gd name="connsiteY1" fmla="*/ 0 h 6865495"/>
              <a:gd name="connsiteX2" fmla="*/ 6796585 w 7003692"/>
              <a:gd name="connsiteY2" fmla="*/ 6865495 h 6865495"/>
              <a:gd name="connsiteX3" fmla="*/ 7003692 w 7003692"/>
              <a:gd name="connsiteY3" fmla="*/ 6865495 h 6865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03692" h="6865495">
                <a:moveTo>
                  <a:pt x="1065557" y="0"/>
                </a:moveTo>
                <a:lnTo>
                  <a:pt x="0" y="0"/>
                </a:lnTo>
                <a:lnTo>
                  <a:pt x="6796585" y="6865495"/>
                </a:lnTo>
                <a:lnTo>
                  <a:pt x="7003692" y="6865495"/>
                </a:lnTo>
                <a:close/>
              </a:path>
            </a:pathLst>
          </a:custGeom>
          <a:solidFill>
            <a:srgbClr val="1163AF"/>
          </a:solidFill>
          <a:ln w="12700" cap="flat" cmpd="sng" algn="ctr">
            <a:noFill/>
            <a:prstDash val="solid"/>
            <a:miter lim="800000"/>
          </a:ln>
          <a:effectLst>
            <a:outerShdw blurRad="2540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9" name="直角三角形 18"/>
          <p:cNvSpPr/>
          <p:nvPr/>
        </p:nvSpPr>
        <p:spPr>
          <a:xfrm>
            <a:off x="-4335" y="5050518"/>
            <a:ext cx="1860421" cy="1807482"/>
          </a:xfrm>
          <a:prstGeom prst="rtTriangle">
            <a:avLst/>
          </a:prstGeom>
          <a:solidFill>
            <a:srgbClr val="B9202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0" y="4279691"/>
            <a:ext cx="2193948" cy="2585803"/>
          </a:xfrm>
          <a:custGeom>
            <a:avLst/>
            <a:gdLst>
              <a:gd name="connsiteX0" fmla="*/ 0 w 2193948"/>
              <a:gd name="connsiteY0" fmla="*/ 0 h 2585803"/>
              <a:gd name="connsiteX1" fmla="*/ 2193948 w 2193948"/>
              <a:gd name="connsiteY1" fmla="*/ 2585803 h 2585803"/>
              <a:gd name="connsiteX2" fmla="*/ 1859213 w 2193948"/>
              <a:gd name="connsiteY2" fmla="*/ 2585803 h 2585803"/>
              <a:gd name="connsiteX3" fmla="*/ 0 w 2193948"/>
              <a:gd name="connsiteY3" fmla="*/ 779495 h 2585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3948" h="2585803">
                <a:moveTo>
                  <a:pt x="0" y="0"/>
                </a:moveTo>
                <a:lnTo>
                  <a:pt x="2193948" y="2585803"/>
                </a:lnTo>
                <a:lnTo>
                  <a:pt x="1859213" y="2585803"/>
                </a:lnTo>
                <a:lnTo>
                  <a:pt x="0" y="779495"/>
                </a:lnTo>
                <a:close/>
              </a:path>
            </a:pathLst>
          </a:custGeom>
          <a:solidFill>
            <a:srgbClr val="268D3A"/>
          </a:solidFill>
          <a:ln w="12700" cap="flat" cmpd="sng" algn="ctr">
            <a:noFill/>
            <a:prstDash val="solid"/>
            <a:miter lim="800000"/>
          </a:ln>
          <a:effectLst>
            <a:outerShdw blurRad="127000" dist="88900" dir="8100000" algn="tr" rotWithShape="0">
              <a:prstClr val="black">
                <a:alpha val="3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84143" y="2114909"/>
            <a:ext cx="201208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rgbClr val="000000">
                    <a:lumMod val="75000"/>
                    <a:lumOff val="25000"/>
                  </a:srgbClr>
                </a:solidFill>
                <a:latin typeface="Century Gothic" panose="020B0502020202020204"/>
                <a:cs typeface="+mn-ea"/>
                <a:sym typeface="+mn-lt"/>
              </a:rPr>
              <a:t>Vector</a:t>
            </a:r>
            <a:endParaRPr lang="zh-CN" altLang="en-US" sz="4400" b="1" dirty="0">
              <a:solidFill>
                <a:srgbClr val="000000">
                  <a:lumMod val="75000"/>
                  <a:lumOff val="25000"/>
                </a:srgbClr>
              </a:solidFill>
              <a:latin typeface="Century Gothic" panose="020B0502020202020204"/>
              <a:cs typeface="+mn-ea"/>
              <a:sym typeface="+mn-lt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18010" y="3028890"/>
            <a:ext cx="24016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spc="3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-</a:t>
            </a:r>
            <a:r>
              <a:rPr lang="zh-CN" altLang="en-US" sz="2000" b="1" spc="3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爱心</a:t>
            </a:r>
            <a:r>
              <a:rPr lang="en-US" altLang="zh-CN" sz="2000" b="1" spc="3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-</a:t>
            </a:r>
            <a:r>
              <a:rPr lang="zh-CN" altLang="en-US" sz="2000" b="1" spc="3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创新</a:t>
            </a:r>
            <a:r>
              <a:rPr lang="en-US" altLang="zh-CN" sz="2000" b="1" spc="3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-</a:t>
            </a:r>
            <a:r>
              <a:rPr lang="zh-CN" altLang="en-US" sz="2000" b="1" spc="3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匠心</a:t>
            </a:r>
            <a:endParaRPr lang="zh-CN" altLang="en-US" sz="2000" b="1" spc="300" dirty="0">
              <a:solidFill>
                <a:srgbClr val="000000">
                  <a:lumMod val="65000"/>
                  <a:lumOff val="35000"/>
                </a:srgb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  <a:sym typeface="+mn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18010" y="3568000"/>
            <a:ext cx="24180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Century Gothic" panose="020B0502020202020204"/>
                <a:cs typeface="+mn-ea"/>
                <a:sym typeface="+mn-lt"/>
              </a:rPr>
              <a:t>课程：</a:t>
            </a:r>
            <a:r>
              <a:rPr lang="en-US" altLang="zh-CN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C++</a:t>
            </a:r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Century Gothic" panose="020B0502020202020204"/>
                <a:cs typeface="+mn-ea"/>
                <a:sym typeface="+mn-lt"/>
              </a:rPr>
              <a:t>    教师：</a:t>
            </a:r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程老师</a:t>
            </a:r>
            <a:endParaRPr lang="zh-CN" altLang="en-US" sz="1400" b="1" dirty="0">
              <a:solidFill>
                <a:srgbClr val="000000">
                  <a:lumMod val="65000"/>
                  <a:lumOff val="35000"/>
                </a:srgb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  <a:sym typeface="+mn-lt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33" y="374686"/>
            <a:ext cx="2269067" cy="5023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928" y="0"/>
            <a:ext cx="9339072" cy="6858000"/>
          </a:xfrm>
          <a:prstGeom prst="rect">
            <a:avLst/>
          </a:prstGeom>
        </p:spPr>
      </p:pic>
      <p:sp>
        <p:nvSpPr>
          <p:cNvPr id="14" name="任意多边形 13"/>
          <p:cNvSpPr/>
          <p:nvPr/>
        </p:nvSpPr>
        <p:spPr>
          <a:xfrm>
            <a:off x="2888168" y="0"/>
            <a:ext cx="7658962" cy="6858000"/>
          </a:xfrm>
          <a:custGeom>
            <a:avLst/>
            <a:gdLst>
              <a:gd name="connsiteX0" fmla="*/ 0 w 7658962"/>
              <a:gd name="connsiteY0" fmla="*/ 0 h 6858000"/>
              <a:gd name="connsiteX1" fmla="*/ 831578 w 7658962"/>
              <a:gd name="connsiteY1" fmla="*/ 0 h 6858000"/>
              <a:gd name="connsiteX2" fmla="*/ 7658962 w 7658962"/>
              <a:gd name="connsiteY2" fmla="*/ 6858000 h 6858000"/>
              <a:gd name="connsiteX3" fmla="*/ 6844042 w 76589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58962" h="6858000">
                <a:moveTo>
                  <a:pt x="0" y="0"/>
                </a:moveTo>
                <a:lnTo>
                  <a:pt x="831578" y="0"/>
                </a:lnTo>
                <a:lnTo>
                  <a:pt x="7658962" y="6858000"/>
                </a:lnTo>
                <a:lnTo>
                  <a:pt x="6844042" y="6858000"/>
                </a:lnTo>
                <a:close/>
              </a:path>
            </a:pathLst>
          </a:custGeom>
          <a:solidFill>
            <a:srgbClr val="E8671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>
            <a:off x="2818516" y="0"/>
            <a:ext cx="7143810" cy="6858000"/>
          </a:xfrm>
          <a:custGeom>
            <a:avLst/>
            <a:gdLst>
              <a:gd name="connsiteX0" fmla="*/ 0 w 7143810"/>
              <a:gd name="connsiteY0" fmla="*/ 0 h 6858000"/>
              <a:gd name="connsiteX1" fmla="*/ 299769 w 7143810"/>
              <a:gd name="connsiteY1" fmla="*/ 0 h 6858000"/>
              <a:gd name="connsiteX2" fmla="*/ 7143810 w 7143810"/>
              <a:gd name="connsiteY2" fmla="*/ 6858000 h 6858000"/>
              <a:gd name="connsiteX3" fmla="*/ 6844041 w 71438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3810" h="6858000">
                <a:moveTo>
                  <a:pt x="0" y="0"/>
                </a:moveTo>
                <a:lnTo>
                  <a:pt x="299769" y="0"/>
                </a:lnTo>
                <a:lnTo>
                  <a:pt x="7143810" y="6858000"/>
                </a:lnTo>
                <a:lnTo>
                  <a:pt x="6844041" y="6858000"/>
                </a:lnTo>
                <a:close/>
              </a:path>
            </a:pathLst>
          </a:custGeom>
          <a:solidFill>
            <a:srgbClr val="1163AF"/>
          </a:solidFill>
          <a:ln>
            <a:noFill/>
          </a:ln>
          <a:effectLst>
            <a:outerShdw blurRad="127000" dist="381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2233712" y="1838638"/>
            <a:ext cx="1124026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500" dirty="0">
                <a:solidFill>
                  <a:srgbClr val="1163AF"/>
                </a:solidFill>
                <a:latin typeface="Agency FB" panose="020B0503020202020204" pitchFamily="34" charset="0"/>
                <a:cs typeface="+mn-ea"/>
                <a:sym typeface="+mn-lt"/>
              </a:rPr>
              <a:t>01</a:t>
            </a:r>
            <a:endParaRPr lang="zh-CN" altLang="en-US" sz="11500" dirty="0">
              <a:solidFill>
                <a:srgbClr val="1163AF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23362" y="2576343"/>
            <a:ext cx="145424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+mn-ea"/>
                <a:sym typeface="+mn-lt"/>
              </a:rPr>
              <a:t>Part</a:t>
            </a:r>
            <a:endParaRPr lang="zh-CN" altLang="en-US" sz="5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23361" y="3977314"/>
            <a:ext cx="3961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课程目录</a:t>
            </a:r>
            <a:endParaRPr lang="en-US" altLang="zh-CN" sz="36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813167" y="4638817"/>
            <a:ext cx="5940000" cy="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38" name="等腰三角形 37"/>
          <p:cNvSpPr/>
          <p:nvPr/>
        </p:nvSpPr>
        <p:spPr>
          <a:xfrm>
            <a:off x="5703858" y="4510413"/>
            <a:ext cx="498226" cy="126581"/>
          </a:xfrm>
          <a:prstGeom prst="triangle">
            <a:avLst/>
          </a:prstGeom>
          <a:solidFill>
            <a:srgbClr val="1163A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39" name="等腰三角形 38"/>
          <p:cNvSpPr/>
          <p:nvPr/>
        </p:nvSpPr>
        <p:spPr>
          <a:xfrm>
            <a:off x="5904129" y="4420994"/>
            <a:ext cx="498226" cy="216000"/>
          </a:xfrm>
          <a:prstGeom prst="triangle">
            <a:avLst/>
          </a:prstGeom>
          <a:solidFill>
            <a:srgbClr val="E8671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40" name="等腰三角形 39"/>
          <p:cNvSpPr/>
          <p:nvPr/>
        </p:nvSpPr>
        <p:spPr>
          <a:xfrm>
            <a:off x="6264272" y="4575287"/>
            <a:ext cx="498226" cy="61706"/>
          </a:xfrm>
          <a:prstGeom prst="triangle">
            <a:avLst/>
          </a:prstGeom>
          <a:solidFill>
            <a:srgbClr val="268D3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41" name="等腰三角形 40"/>
          <p:cNvSpPr/>
          <p:nvPr/>
        </p:nvSpPr>
        <p:spPr>
          <a:xfrm>
            <a:off x="6053307" y="4531697"/>
            <a:ext cx="498226" cy="105297"/>
          </a:xfrm>
          <a:prstGeom prst="triangle">
            <a:avLst/>
          </a:prstGeom>
          <a:solidFill>
            <a:srgbClr val="F1C51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318243"/>
            <a:ext cx="1749779" cy="387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目录</a:t>
            </a:r>
            <a:endParaRPr lang="zh-CN" altLang="en-US" sz="2000" dirty="0"/>
          </a:p>
        </p:txBody>
      </p:sp>
      <p:sp>
        <p:nvSpPr>
          <p:cNvPr id="3" name="流程图: 接点 2"/>
          <p:cNvSpPr/>
          <p:nvPr>
            <p:custDataLst>
              <p:tags r:id="rId1"/>
            </p:custDataLst>
          </p:nvPr>
        </p:nvSpPr>
        <p:spPr>
          <a:xfrm>
            <a:off x="3622964" y="2540161"/>
            <a:ext cx="369455" cy="378691"/>
          </a:xfrm>
          <a:prstGeom prst="flowChartConnector">
            <a:avLst/>
          </a:prstGeom>
          <a:solidFill>
            <a:srgbClr val="E8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2"/>
            </p:custDataLst>
          </p:nvPr>
        </p:nvSpPr>
        <p:spPr>
          <a:xfrm>
            <a:off x="4218708" y="2447797"/>
            <a:ext cx="3906983" cy="56341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巩固一维数组的</a:t>
            </a:r>
            <a:r>
              <a:rPr lang="zh-CN" altLang="en-US" dirty="0"/>
              <a:t>概念</a:t>
            </a:r>
            <a:endParaRPr lang="zh-CN" altLang="en-US" dirty="0"/>
          </a:p>
        </p:txBody>
      </p:sp>
      <p:sp>
        <p:nvSpPr>
          <p:cNvPr id="8" name="流程图: 接点 7"/>
          <p:cNvSpPr/>
          <p:nvPr>
            <p:custDataLst>
              <p:tags r:id="rId3"/>
            </p:custDataLst>
          </p:nvPr>
        </p:nvSpPr>
        <p:spPr>
          <a:xfrm>
            <a:off x="3599877" y="3431465"/>
            <a:ext cx="369455" cy="378691"/>
          </a:xfrm>
          <a:prstGeom prst="flowChartConnector">
            <a:avLst/>
          </a:prstGeom>
          <a:solidFill>
            <a:srgbClr val="E8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>
            <p:custDataLst>
              <p:tags r:id="rId4"/>
            </p:custDataLst>
          </p:nvPr>
        </p:nvSpPr>
        <p:spPr>
          <a:xfrm>
            <a:off x="4195621" y="3339101"/>
            <a:ext cx="3906983" cy="56341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学习向量的</a:t>
            </a:r>
            <a:r>
              <a:rPr lang="zh-CN" altLang="en-US" dirty="0"/>
              <a:t>概念</a:t>
            </a:r>
            <a:endParaRPr lang="zh-CN" altLang="en-US" dirty="0"/>
          </a:p>
        </p:txBody>
      </p:sp>
      <p:sp>
        <p:nvSpPr>
          <p:cNvPr id="12" name="流程图: 接点 11"/>
          <p:cNvSpPr/>
          <p:nvPr>
            <p:custDataLst>
              <p:tags r:id="rId5"/>
            </p:custDataLst>
          </p:nvPr>
        </p:nvSpPr>
        <p:spPr>
          <a:xfrm>
            <a:off x="3627581" y="4244268"/>
            <a:ext cx="369455" cy="378691"/>
          </a:xfrm>
          <a:prstGeom prst="flowChartConnector">
            <a:avLst/>
          </a:prstGeom>
          <a:solidFill>
            <a:srgbClr val="E8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/>
          <p:cNvSpPr/>
          <p:nvPr>
            <p:custDataLst>
              <p:tags r:id="rId6"/>
            </p:custDataLst>
          </p:nvPr>
        </p:nvSpPr>
        <p:spPr>
          <a:xfrm>
            <a:off x="4223325" y="4151904"/>
            <a:ext cx="3906983" cy="56341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学习向量的基本</a:t>
            </a:r>
            <a:r>
              <a:rPr lang="zh-CN" altLang="en-US" dirty="0"/>
              <a:t>语法使用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928" y="0"/>
            <a:ext cx="9339072" cy="6858000"/>
          </a:xfrm>
          <a:prstGeom prst="rect">
            <a:avLst/>
          </a:prstGeom>
        </p:spPr>
      </p:pic>
      <p:sp>
        <p:nvSpPr>
          <p:cNvPr id="14" name="任意多边形 13"/>
          <p:cNvSpPr/>
          <p:nvPr/>
        </p:nvSpPr>
        <p:spPr>
          <a:xfrm>
            <a:off x="2888168" y="0"/>
            <a:ext cx="7658962" cy="6858000"/>
          </a:xfrm>
          <a:custGeom>
            <a:avLst/>
            <a:gdLst>
              <a:gd name="connsiteX0" fmla="*/ 0 w 7658962"/>
              <a:gd name="connsiteY0" fmla="*/ 0 h 6858000"/>
              <a:gd name="connsiteX1" fmla="*/ 831578 w 7658962"/>
              <a:gd name="connsiteY1" fmla="*/ 0 h 6858000"/>
              <a:gd name="connsiteX2" fmla="*/ 7658962 w 7658962"/>
              <a:gd name="connsiteY2" fmla="*/ 6858000 h 6858000"/>
              <a:gd name="connsiteX3" fmla="*/ 6844042 w 76589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58962" h="6858000">
                <a:moveTo>
                  <a:pt x="0" y="0"/>
                </a:moveTo>
                <a:lnTo>
                  <a:pt x="831578" y="0"/>
                </a:lnTo>
                <a:lnTo>
                  <a:pt x="7658962" y="6858000"/>
                </a:lnTo>
                <a:lnTo>
                  <a:pt x="6844042" y="6858000"/>
                </a:lnTo>
                <a:close/>
              </a:path>
            </a:pathLst>
          </a:custGeom>
          <a:solidFill>
            <a:srgbClr val="E8671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>
            <a:off x="2818516" y="0"/>
            <a:ext cx="7143810" cy="6858000"/>
          </a:xfrm>
          <a:custGeom>
            <a:avLst/>
            <a:gdLst>
              <a:gd name="connsiteX0" fmla="*/ 0 w 7143810"/>
              <a:gd name="connsiteY0" fmla="*/ 0 h 6858000"/>
              <a:gd name="connsiteX1" fmla="*/ 299769 w 7143810"/>
              <a:gd name="connsiteY1" fmla="*/ 0 h 6858000"/>
              <a:gd name="connsiteX2" fmla="*/ 7143810 w 7143810"/>
              <a:gd name="connsiteY2" fmla="*/ 6858000 h 6858000"/>
              <a:gd name="connsiteX3" fmla="*/ 6844041 w 71438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3810" h="6858000">
                <a:moveTo>
                  <a:pt x="0" y="0"/>
                </a:moveTo>
                <a:lnTo>
                  <a:pt x="299769" y="0"/>
                </a:lnTo>
                <a:lnTo>
                  <a:pt x="7143810" y="6858000"/>
                </a:lnTo>
                <a:lnTo>
                  <a:pt x="6844041" y="6858000"/>
                </a:lnTo>
                <a:close/>
              </a:path>
            </a:pathLst>
          </a:custGeom>
          <a:solidFill>
            <a:srgbClr val="1163AF"/>
          </a:solidFill>
          <a:ln>
            <a:noFill/>
          </a:ln>
          <a:effectLst>
            <a:outerShdw blurRad="127000" dist="381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2233712" y="1838638"/>
            <a:ext cx="1399742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500" dirty="0">
                <a:solidFill>
                  <a:srgbClr val="1163AF"/>
                </a:solidFill>
                <a:latin typeface="Agency FB" panose="020B0503020202020204" pitchFamily="34" charset="0"/>
                <a:cs typeface="+mn-ea"/>
                <a:sym typeface="+mn-lt"/>
              </a:rPr>
              <a:t>02</a:t>
            </a:r>
            <a:endParaRPr lang="zh-CN" altLang="en-US" sz="11500" dirty="0">
              <a:solidFill>
                <a:srgbClr val="1163AF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23362" y="2576343"/>
            <a:ext cx="145424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+mn-ea"/>
                <a:sym typeface="+mn-lt"/>
              </a:rPr>
              <a:t>Part</a:t>
            </a:r>
            <a:endParaRPr lang="zh-CN" altLang="en-US" sz="5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23362" y="3977455"/>
            <a:ext cx="396184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课程导入</a:t>
            </a:r>
            <a:endParaRPr lang="zh-CN" altLang="en-US" sz="36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813167" y="4638817"/>
            <a:ext cx="5940000" cy="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38" name="等腰三角形 37"/>
          <p:cNvSpPr/>
          <p:nvPr/>
        </p:nvSpPr>
        <p:spPr>
          <a:xfrm>
            <a:off x="5703858" y="4510413"/>
            <a:ext cx="498226" cy="126581"/>
          </a:xfrm>
          <a:prstGeom prst="triangle">
            <a:avLst/>
          </a:prstGeom>
          <a:solidFill>
            <a:srgbClr val="1163A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39" name="等腰三角形 38"/>
          <p:cNvSpPr/>
          <p:nvPr/>
        </p:nvSpPr>
        <p:spPr>
          <a:xfrm>
            <a:off x="5904129" y="4420994"/>
            <a:ext cx="498226" cy="216000"/>
          </a:xfrm>
          <a:prstGeom prst="triangle">
            <a:avLst/>
          </a:prstGeom>
          <a:solidFill>
            <a:srgbClr val="E8671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40" name="等腰三角形 39"/>
          <p:cNvSpPr/>
          <p:nvPr/>
        </p:nvSpPr>
        <p:spPr>
          <a:xfrm>
            <a:off x="6264272" y="4575287"/>
            <a:ext cx="498226" cy="61706"/>
          </a:xfrm>
          <a:prstGeom prst="triangle">
            <a:avLst/>
          </a:prstGeom>
          <a:solidFill>
            <a:srgbClr val="268D3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41" name="等腰三角形 40"/>
          <p:cNvSpPr/>
          <p:nvPr/>
        </p:nvSpPr>
        <p:spPr>
          <a:xfrm>
            <a:off x="6053307" y="4531697"/>
            <a:ext cx="498226" cy="105297"/>
          </a:xfrm>
          <a:prstGeom prst="triangle">
            <a:avLst/>
          </a:prstGeom>
          <a:solidFill>
            <a:srgbClr val="F1C51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318243"/>
            <a:ext cx="1749779" cy="387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10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58981" y="1088736"/>
            <a:ext cx="8717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/>
              <a:t>如果我们想要在数组中插入一个元素怎么实现</a:t>
            </a:r>
            <a:r>
              <a:rPr lang="zh-CN" altLang="en-US" sz="3200" dirty="0"/>
              <a:t>呢</a:t>
            </a:r>
            <a:endParaRPr lang="zh-CN" altLang="en-US" sz="32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405" y="2007870"/>
            <a:ext cx="10029825" cy="31337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6255" y="3994785"/>
            <a:ext cx="2355850" cy="2355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10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59155" y="1089025"/>
            <a:ext cx="23143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标准库模版</a:t>
            </a:r>
            <a:endParaRPr lang="zh-CN" altLang="en-US" sz="3200" dirty="0"/>
          </a:p>
          <a:p>
            <a:endParaRPr lang="zh-CN" altLang="en-US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202466" y="2042096"/>
            <a:ext cx="5977356" cy="1540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800" dirty="0">
                <a:solidFill>
                  <a:srgbClr val="268D3A"/>
                </a:solidFill>
              </a:rPr>
              <a:t> C++</a:t>
            </a:r>
            <a:r>
              <a:rPr lang="zh-CN" altLang="en-US" sz="1800" dirty="0">
                <a:solidFill>
                  <a:srgbClr val="268D3A"/>
                </a:solidFill>
              </a:rPr>
              <a:t>功能强大，为开发者提供了标准模板库，其中封装了很多实用的容器。容器可以理解成能够实现很多功能的系统函数，或者说用来存放数据的对象，开发者可以根据接口规范（调用格式）直接调用，而不用关心其内部实现的原理和具体代码，十分方便快捷。</a:t>
            </a:r>
            <a:endParaRPr lang="en-US" altLang="zh-CN" sz="1800" dirty="0">
              <a:solidFill>
                <a:srgbClr val="268D3A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1800" dirty="0">
                <a:solidFill>
                  <a:srgbClr val="268D3A"/>
                </a:solidFill>
              </a:rPr>
              <a:t>        </a:t>
            </a:r>
            <a:r>
              <a:rPr lang="zh-CN" altLang="en-US" sz="1800" dirty="0">
                <a:solidFill>
                  <a:srgbClr val="268D3A"/>
                </a:solidFill>
              </a:rPr>
              <a:t>常见的容器有</a:t>
            </a:r>
            <a:r>
              <a:rPr lang="en-US" altLang="zh-CN" sz="1800" dirty="0">
                <a:solidFill>
                  <a:srgbClr val="268D3A"/>
                </a:solidFill>
              </a:rPr>
              <a:t>vector</a:t>
            </a:r>
            <a:r>
              <a:rPr lang="zh-CN" altLang="en-US" sz="1800" dirty="0">
                <a:solidFill>
                  <a:srgbClr val="268D3A"/>
                </a:solidFill>
              </a:rPr>
              <a:t>、</a:t>
            </a:r>
            <a:r>
              <a:rPr lang="en-US" altLang="zh-CN" sz="1800" dirty="0">
                <a:solidFill>
                  <a:srgbClr val="268D3A"/>
                </a:solidFill>
              </a:rPr>
              <a:t>stack</a:t>
            </a:r>
            <a:r>
              <a:rPr lang="zh-CN" altLang="en-US" sz="1800" dirty="0">
                <a:solidFill>
                  <a:srgbClr val="268D3A"/>
                </a:solidFill>
              </a:rPr>
              <a:t>、</a:t>
            </a:r>
            <a:r>
              <a:rPr lang="en-US" altLang="zh-CN" sz="1800" dirty="0">
                <a:solidFill>
                  <a:srgbClr val="268D3A"/>
                </a:solidFill>
              </a:rPr>
              <a:t>queue</a:t>
            </a:r>
            <a:r>
              <a:rPr lang="zh-CN" altLang="en-US" sz="1800" dirty="0">
                <a:solidFill>
                  <a:srgbClr val="268D3A"/>
                </a:solidFill>
              </a:rPr>
              <a:t>、</a:t>
            </a:r>
            <a:r>
              <a:rPr lang="en-US" altLang="zh-CN" sz="1800" dirty="0">
                <a:solidFill>
                  <a:srgbClr val="268D3A"/>
                </a:solidFill>
              </a:rPr>
              <a:t>map</a:t>
            </a:r>
            <a:r>
              <a:rPr lang="zh-CN" altLang="en-US" sz="1800" dirty="0">
                <a:solidFill>
                  <a:srgbClr val="268D3A"/>
                </a:solidFill>
              </a:rPr>
              <a:t>、</a:t>
            </a:r>
            <a:r>
              <a:rPr lang="en-US" altLang="zh-CN" sz="1800" dirty="0">
                <a:solidFill>
                  <a:srgbClr val="268D3A"/>
                </a:solidFill>
              </a:rPr>
              <a:t>set</a:t>
            </a:r>
            <a:r>
              <a:rPr lang="zh-CN" altLang="en-US" sz="1800" dirty="0">
                <a:solidFill>
                  <a:srgbClr val="268D3A"/>
                </a:solidFill>
              </a:rPr>
              <a:t>等。</a:t>
            </a:r>
            <a:endParaRPr dirty="0">
              <a:solidFill>
                <a:srgbClr val="268D3A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7193" y="2119250"/>
            <a:ext cx="4235360" cy="2619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10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59155" y="1089025"/>
            <a:ext cx="23143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标准库模版</a:t>
            </a:r>
            <a:endParaRPr lang="zh-CN" altLang="en-US" sz="3200" dirty="0"/>
          </a:p>
          <a:p>
            <a:endParaRPr lang="zh-CN" altLang="en-US" sz="32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7730" y="2531110"/>
            <a:ext cx="8908415" cy="23577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59155" y="2800350"/>
            <a:ext cx="10217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数组</a:t>
            </a:r>
            <a:endParaRPr lang="zh-CN" altLang="en-US" sz="2800" b="1"/>
          </a:p>
        </p:txBody>
      </p:sp>
      <p:sp>
        <p:nvSpPr>
          <p:cNvPr id="7" name="文本框 6"/>
          <p:cNvSpPr txBox="1"/>
          <p:nvPr/>
        </p:nvSpPr>
        <p:spPr>
          <a:xfrm>
            <a:off x="910590" y="3956685"/>
            <a:ext cx="15741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vector</a:t>
            </a:r>
            <a:endParaRPr lang="en-US" altLang="zh-CN" sz="28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10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59155" y="1089025"/>
            <a:ext cx="212280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vector</a:t>
            </a:r>
            <a:endParaRPr lang="zh-CN" altLang="en-US" sz="3200" dirty="0"/>
          </a:p>
          <a:p>
            <a:endParaRPr lang="zh-CN" altLang="en-US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485775" y="2311400"/>
            <a:ext cx="3931285" cy="15906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向量(Vector)是一个封装了动态大小数组的顺序容器。 跟任意其它类型容器一样,它能够存放各种类型的对象。 可以简单的认为,向量是一个能够存放任意类型的</a:t>
            </a:r>
            <a:r>
              <a:rPr lang="zh-CN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动态数组</a:t>
            </a:r>
            <a:endParaRPr 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endParaRPr 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6075" y="2023745"/>
            <a:ext cx="2497455" cy="236410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2105" y="1924685"/>
            <a:ext cx="3333750" cy="25628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4747895" y="836930"/>
            <a:ext cx="3063240" cy="640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b="1" dirty="0"/>
              <a:t>vector</a:t>
            </a:r>
            <a:r>
              <a:rPr lang="zh-CN" altLang="en-US" sz="3200" b="1" dirty="0"/>
              <a:t>常用语法</a:t>
            </a:r>
            <a:endParaRPr lang="zh-CN" altLang="en-US" sz="3200" b="1" dirty="0"/>
          </a:p>
          <a:p>
            <a:endParaRPr lang="zh-CN" altLang="en-US" sz="3200" b="1" dirty="0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1158240" y="1365885"/>
          <a:ext cx="9875520" cy="4859655"/>
        </p:xfrm>
        <a:graphic>
          <a:graphicData uri="http://schemas.openxmlformats.org/drawingml/2006/table">
            <a:tbl>
              <a:tblPr firstRow="1">
                <a:tableStyleId>{968F48CB-B3E4-4AC4-B9B0-83364689537C}</a:tableStyleId>
              </a:tblPr>
              <a:tblGrid>
                <a:gridCol w="3151505"/>
                <a:gridCol w="6724015"/>
              </a:tblGrid>
              <a:tr h="3663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语法</a:t>
                      </a: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说明</a:t>
                      </a:r>
                      <a:endParaRPr lang="zh-CN" altLang="en-US" b="1"/>
                    </a:p>
                  </a:txBody>
                  <a:tcPr anchor="ctr" anchorCtr="0"/>
                </a:tc>
              </a:tr>
              <a:tr h="3721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vector&lt;int&gt; v;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创建空</a:t>
                      </a:r>
                      <a:r>
                        <a:rPr lang="en-US" altLang="zh-CN"/>
                        <a:t>vector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3867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v.push_back(x)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向尾部增加一个元素</a:t>
                      </a:r>
                      <a:r>
                        <a:rPr lang="en-US" altLang="zh-CN"/>
                        <a:t>x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3867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v.insert(pos,x)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向</a:t>
                      </a:r>
                      <a:r>
                        <a:rPr lang="en-US" altLang="zh-CN"/>
                        <a:t>pos</a:t>
                      </a:r>
                      <a:r>
                        <a:rPr lang="zh-CN" altLang="en-US"/>
                        <a:t>地址指向元素前增加一个元素</a:t>
                      </a:r>
                      <a:r>
                        <a:rPr lang="en-US" altLang="zh-CN"/>
                        <a:t>x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386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v[i]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访问</a:t>
                      </a:r>
                      <a:r>
                        <a:rPr lang="en-US" altLang="zh-CN"/>
                        <a:t>i</a:t>
                      </a:r>
                      <a:r>
                        <a:rPr lang="zh-CN" altLang="en-US"/>
                        <a:t>位置</a:t>
                      </a:r>
                      <a:r>
                        <a:rPr lang="zh-CN" altLang="en-US"/>
                        <a:t>元素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873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v.pop_back()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删除向量中最后的</a:t>
                      </a:r>
                      <a:r>
                        <a:rPr lang="zh-CN" altLang="en-US"/>
                        <a:t>一个元素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867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v.clear()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清空向量中所有的</a:t>
                      </a:r>
                      <a:r>
                        <a:rPr lang="zh-CN" altLang="en-US"/>
                        <a:t>元素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867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v.empty()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判断向量中是否为</a:t>
                      </a:r>
                      <a:r>
                        <a:rPr lang="zh-CN" altLang="en-US"/>
                        <a:t>空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867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v.size()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返回向量中元素的</a:t>
                      </a:r>
                      <a:r>
                        <a:rPr lang="zh-CN" altLang="en-US"/>
                        <a:t>个数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873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v.begin()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返回向量中的头指针（迭代器），指向第一个</a:t>
                      </a:r>
                      <a:r>
                        <a:rPr lang="zh-CN" altLang="en-US"/>
                        <a:t>元素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v.end()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返回向量中的尾指针（迭代器），指向最后一个元素</a:t>
                      </a:r>
                      <a:r>
                        <a:rPr lang="en-US" altLang="zh-CN" sz="1800">
                          <a:sym typeface="+mn-ea"/>
                        </a:rPr>
                        <a:t>+1</a:t>
                      </a:r>
                      <a:r>
                        <a:rPr lang="zh-CN" altLang="en-US" sz="1800">
                          <a:sym typeface="+mn-ea"/>
                        </a:rPr>
                        <a:t>的</a:t>
                      </a:r>
                      <a:r>
                        <a:rPr lang="zh-CN" altLang="en-US" sz="1800">
                          <a:sym typeface="+mn-ea"/>
                        </a:rPr>
                        <a:t>位置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 anchor="ctr" anchorCtr="0"/>
                </a:tc>
              </a:tr>
              <a:tr h="3867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v.erase(v.begin()+i)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删除第</a:t>
                      </a:r>
                      <a:r>
                        <a:rPr lang="en-US" altLang="zh-CN"/>
                        <a:t>i</a:t>
                      </a:r>
                      <a:r>
                        <a:rPr lang="zh-CN" altLang="en-US"/>
                        <a:t>位位置的</a:t>
                      </a:r>
                      <a:r>
                        <a:rPr lang="zh-CN" altLang="en-US"/>
                        <a:t>元素</a:t>
                      </a:r>
                      <a:endParaRPr lang="zh-CN" altLang="en-US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928" y="0"/>
            <a:ext cx="9339072" cy="6858000"/>
          </a:xfrm>
          <a:prstGeom prst="rect">
            <a:avLst/>
          </a:prstGeom>
        </p:spPr>
      </p:pic>
      <p:sp>
        <p:nvSpPr>
          <p:cNvPr id="14" name="任意多边形 13"/>
          <p:cNvSpPr/>
          <p:nvPr/>
        </p:nvSpPr>
        <p:spPr>
          <a:xfrm>
            <a:off x="2888168" y="0"/>
            <a:ext cx="7658962" cy="6858000"/>
          </a:xfrm>
          <a:custGeom>
            <a:avLst/>
            <a:gdLst>
              <a:gd name="connsiteX0" fmla="*/ 0 w 7658962"/>
              <a:gd name="connsiteY0" fmla="*/ 0 h 6858000"/>
              <a:gd name="connsiteX1" fmla="*/ 831578 w 7658962"/>
              <a:gd name="connsiteY1" fmla="*/ 0 h 6858000"/>
              <a:gd name="connsiteX2" fmla="*/ 7658962 w 7658962"/>
              <a:gd name="connsiteY2" fmla="*/ 6858000 h 6858000"/>
              <a:gd name="connsiteX3" fmla="*/ 6844042 w 76589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58962" h="6858000">
                <a:moveTo>
                  <a:pt x="0" y="0"/>
                </a:moveTo>
                <a:lnTo>
                  <a:pt x="831578" y="0"/>
                </a:lnTo>
                <a:lnTo>
                  <a:pt x="7658962" y="6858000"/>
                </a:lnTo>
                <a:lnTo>
                  <a:pt x="6844042" y="6858000"/>
                </a:lnTo>
                <a:close/>
              </a:path>
            </a:pathLst>
          </a:custGeom>
          <a:solidFill>
            <a:srgbClr val="E8671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>
            <a:off x="2818516" y="0"/>
            <a:ext cx="7143810" cy="6858000"/>
          </a:xfrm>
          <a:custGeom>
            <a:avLst/>
            <a:gdLst>
              <a:gd name="connsiteX0" fmla="*/ 0 w 7143810"/>
              <a:gd name="connsiteY0" fmla="*/ 0 h 6858000"/>
              <a:gd name="connsiteX1" fmla="*/ 299769 w 7143810"/>
              <a:gd name="connsiteY1" fmla="*/ 0 h 6858000"/>
              <a:gd name="connsiteX2" fmla="*/ 7143810 w 7143810"/>
              <a:gd name="connsiteY2" fmla="*/ 6858000 h 6858000"/>
              <a:gd name="connsiteX3" fmla="*/ 6844041 w 71438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3810" h="6858000">
                <a:moveTo>
                  <a:pt x="0" y="0"/>
                </a:moveTo>
                <a:lnTo>
                  <a:pt x="299769" y="0"/>
                </a:lnTo>
                <a:lnTo>
                  <a:pt x="7143810" y="6858000"/>
                </a:lnTo>
                <a:lnTo>
                  <a:pt x="6844041" y="6858000"/>
                </a:lnTo>
                <a:close/>
              </a:path>
            </a:pathLst>
          </a:custGeom>
          <a:solidFill>
            <a:srgbClr val="1163AF"/>
          </a:solidFill>
          <a:ln>
            <a:noFill/>
          </a:ln>
          <a:effectLst>
            <a:outerShdw blurRad="127000" dist="381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2233712" y="1838638"/>
            <a:ext cx="1432560" cy="1861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500" dirty="0">
                <a:solidFill>
                  <a:srgbClr val="1163AF"/>
                </a:solidFill>
                <a:latin typeface="Agency FB" panose="020B0503020202020204" pitchFamily="34" charset="0"/>
                <a:cs typeface="+mn-ea"/>
                <a:sym typeface="+mn-lt"/>
              </a:rPr>
              <a:t>03</a:t>
            </a:r>
            <a:endParaRPr lang="zh-CN" altLang="en-US" sz="11500" dirty="0">
              <a:solidFill>
                <a:srgbClr val="1163AF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23362" y="2576343"/>
            <a:ext cx="145424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+mn-ea"/>
                <a:sym typeface="+mn-lt"/>
              </a:rPr>
              <a:t>Part</a:t>
            </a:r>
            <a:endParaRPr lang="zh-CN" altLang="en-US" sz="5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23362" y="3977455"/>
            <a:ext cx="396184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项目构建</a:t>
            </a:r>
            <a:endParaRPr lang="zh-CN" altLang="en-US" sz="36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813167" y="4638817"/>
            <a:ext cx="5940000" cy="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38" name="等腰三角形 37"/>
          <p:cNvSpPr/>
          <p:nvPr/>
        </p:nvSpPr>
        <p:spPr>
          <a:xfrm>
            <a:off x="5703858" y="4510413"/>
            <a:ext cx="498226" cy="126581"/>
          </a:xfrm>
          <a:prstGeom prst="triangle">
            <a:avLst/>
          </a:prstGeom>
          <a:solidFill>
            <a:srgbClr val="1163A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39" name="等腰三角形 38"/>
          <p:cNvSpPr/>
          <p:nvPr/>
        </p:nvSpPr>
        <p:spPr>
          <a:xfrm>
            <a:off x="5904129" y="4420994"/>
            <a:ext cx="498226" cy="216000"/>
          </a:xfrm>
          <a:prstGeom prst="triangle">
            <a:avLst/>
          </a:prstGeom>
          <a:solidFill>
            <a:srgbClr val="E8671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40" name="等腰三角形 39"/>
          <p:cNvSpPr/>
          <p:nvPr/>
        </p:nvSpPr>
        <p:spPr>
          <a:xfrm>
            <a:off x="6264272" y="4575287"/>
            <a:ext cx="498226" cy="61706"/>
          </a:xfrm>
          <a:prstGeom prst="triangle">
            <a:avLst/>
          </a:prstGeom>
          <a:solidFill>
            <a:srgbClr val="268D3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41" name="等腰三角形 40"/>
          <p:cNvSpPr/>
          <p:nvPr/>
        </p:nvSpPr>
        <p:spPr>
          <a:xfrm>
            <a:off x="6053307" y="4531697"/>
            <a:ext cx="498226" cy="105297"/>
          </a:xfrm>
          <a:prstGeom prst="triangle">
            <a:avLst/>
          </a:prstGeom>
          <a:solidFill>
            <a:srgbClr val="F1C51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318243"/>
            <a:ext cx="1749779" cy="387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363855" y="918845"/>
            <a:ext cx="11282680" cy="55352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[</a:t>
            </a:r>
            <a:r>
              <a:rPr 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题目描述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]</a:t>
            </a:r>
            <a:r>
              <a:rPr 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：</a:t>
            </a:r>
            <a:endParaRPr lang="zh-CN" sz="2400" dirty="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zh-CN" altLang="en-US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把一个数组的第</a:t>
            </a:r>
            <a:r>
              <a:rPr lang="en-US" altLang="zh-CN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x</a:t>
            </a:r>
            <a:r>
              <a:rPr lang="zh-CN" altLang="en-US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个位置的元素删除掉</a:t>
            </a:r>
            <a:endParaRPr lang="en-US" altLang="zh-CN" sz="2400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en-US" alt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[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输入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]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：</a:t>
            </a:r>
            <a:endParaRPr lang="zh-CN" altLang="en-US" sz="2400" dirty="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zh-CN" altLang="en-US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有三行。</a:t>
            </a:r>
            <a:endParaRPr lang="en-US" altLang="zh-CN" sz="2400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zh-CN" altLang="en-US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第一行有一个整数</a:t>
            </a:r>
            <a:r>
              <a:rPr lang="en-US" altLang="zh-CN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n( n&lt;= 10)</a:t>
            </a:r>
            <a:r>
              <a:rPr lang="zh-CN" altLang="en-US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。第二行有</a:t>
            </a:r>
            <a:r>
              <a:rPr lang="en-US" altLang="zh-CN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n</a:t>
            </a:r>
            <a:r>
              <a:rPr lang="zh-CN" altLang="en-US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个整数。第三行有一个整数 </a:t>
            </a:r>
            <a:r>
              <a:rPr lang="en-US" altLang="zh-CN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x</a:t>
            </a:r>
            <a:r>
              <a:rPr lang="zh-CN" altLang="en-US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，为要删除的位置</a:t>
            </a:r>
            <a:endParaRPr lang="en-US" altLang="zh-CN" sz="2400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en-US" alt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[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输出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]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：</a:t>
            </a:r>
            <a:endParaRPr lang="zh-CN" altLang="en-US" sz="2400" dirty="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zh-CN" altLang="en-US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更新后的数组。</a:t>
            </a:r>
            <a:endParaRPr lang="en-US" altLang="zh-CN" sz="2400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en-US" alt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[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输入样例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]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：</a:t>
            </a:r>
            <a:endParaRPr lang="en-US" altLang="zh-CN" sz="2400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en-US" altLang="zh-CN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5</a:t>
            </a:r>
            <a:endParaRPr lang="en-US" altLang="zh-CN" sz="2400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en-US" altLang="zh-CN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1 2 3 4 5</a:t>
            </a:r>
            <a:endParaRPr lang="en-US" altLang="zh-CN" sz="2400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en-US" altLang="zh-CN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3</a:t>
            </a:r>
            <a:endParaRPr lang="en-US" altLang="zh-CN" sz="2400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en-US" alt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[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输出样例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]:</a:t>
            </a:r>
            <a:endParaRPr lang="en-US" altLang="zh-CN" sz="2400" dirty="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en-US" altLang="zh-CN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1 2 4 5</a:t>
            </a:r>
            <a:endParaRPr lang="en-US" altLang="zh-CN" sz="2400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2378710" y="2190750"/>
            <a:ext cx="798195" cy="2286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 sz="4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代码实现</a:t>
            </a:r>
            <a:endParaRPr lang="zh-CN" altLang="en-US" sz="4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3779520" y="928370"/>
            <a:ext cx="4394835" cy="53949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406015" y="2090420"/>
            <a:ext cx="787400" cy="222186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5745" y="1005840"/>
            <a:ext cx="3889375" cy="52203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910590" y="949960"/>
            <a:ext cx="9643110" cy="5222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[</a:t>
            </a:r>
            <a:r>
              <a:rPr 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题目描述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]</a:t>
            </a:r>
            <a:r>
              <a:rPr 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：</a:t>
            </a:r>
            <a:endParaRPr lang="zh-CN" sz="2400" dirty="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zh-CN" altLang="en-US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在一个数组的第</a:t>
            </a:r>
            <a:r>
              <a:rPr lang="en-US" altLang="zh-CN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x</a:t>
            </a:r>
            <a:r>
              <a:rPr lang="zh-CN" altLang="en-US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个位置插入一个新的数 </a:t>
            </a:r>
            <a:r>
              <a:rPr lang="en-US" altLang="zh-CN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y</a:t>
            </a:r>
            <a:r>
              <a:rPr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。</a:t>
            </a:r>
            <a:endParaRPr sz="2400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en-US" alt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[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输入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]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：</a:t>
            </a:r>
            <a:endParaRPr lang="zh-CN" altLang="en-US" sz="2400" dirty="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zh-CN" altLang="en-US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有四行</a:t>
            </a:r>
            <a:r>
              <a:rPr lang="zh-CN" altLang="en-US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第一行有一个整数</a:t>
            </a:r>
            <a:r>
              <a:rPr lang="en-US" altLang="zh-CN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n(5&lt;=n&lt;=10)</a:t>
            </a:r>
            <a:r>
              <a:rPr lang="zh-CN" altLang="en-US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。第二行有</a:t>
            </a:r>
            <a:r>
              <a:rPr lang="en-US" altLang="zh-CN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n</a:t>
            </a:r>
            <a:r>
              <a:rPr lang="zh-CN" altLang="en-US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个整数。第三行有一个整数</a:t>
            </a:r>
            <a:r>
              <a:rPr lang="en-US" altLang="zh-CN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x</a:t>
            </a:r>
            <a:r>
              <a:rPr lang="zh-CN" altLang="en-US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，为要插入的位置第四行有一个整数</a:t>
            </a:r>
            <a:r>
              <a:rPr lang="en-US" altLang="zh-CN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y</a:t>
            </a:r>
            <a:r>
              <a:rPr lang="zh-CN" altLang="en-US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，为入的整数。</a:t>
            </a:r>
            <a:endParaRPr lang="en-US" altLang="zh-CN" sz="2400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en-US" alt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[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输出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]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：</a:t>
            </a:r>
            <a:endParaRPr lang="zh-CN" altLang="en-US" sz="2400" dirty="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zh-CN" altLang="en-US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更新后的数组。。</a:t>
            </a:r>
            <a:endParaRPr lang="zh-CN" altLang="en-US" sz="2400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en-US" alt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[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输入样例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]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：</a:t>
            </a:r>
            <a:endParaRPr lang="zh-CN" altLang="en-US" sz="2400" dirty="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en-US" altLang="zh-CN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5</a:t>
            </a:r>
            <a:endParaRPr lang="en-US" altLang="zh-CN" sz="2400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en-US" altLang="zh-CN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7 2 3 4 5 </a:t>
            </a:r>
            <a:endParaRPr lang="en-US" altLang="zh-CN" sz="2400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en-US" altLang="zh-CN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2</a:t>
            </a:r>
            <a:endParaRPr lang="en-US" altLang="zh-CN" sz="2400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en-US" altLang="zh-CN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9</a:t>
            </a:r>
            <a:endParaRPr lang="en-US" altLang="zh-CN" sz="2400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en-US" altLang="zh-CN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[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输出样例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]:</a:t>
            </a:r>
            <a:endParaRPr lang="en-US" altLang="zh-CN" sz="2400" dirty="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en-US" altLang="zh-CN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7 9 2 3 4 5</a:t>
            </a:r>
            <a:endParaRPr lang="en-US" altLang="zh-CN" sz="2400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2378710" y="2190750"/>
            <a:ext cx="798195" cy="2286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 sz="4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代码实现</a:t>
            </a:r>
            <a:endParaRPr lang="zh-CN" altLang="en-US" sz="4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3779520" y="928370"/>
            <a:ext cx="4394835" cy="53949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406015" y="2090420"/>
            <a:ext cx="787400" cy="222186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3830" y="1046480"/>
            <a:ext cx="4025265" cy="51587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446405" y="1118870"/>
            <a:ext cx="10389235" cy="5222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[</a:t>
            </a:r>
            <a:r>
              <a:rPr 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题目描述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]</a:t>
            </a:r>
            <a:r>
              <a:rPr 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：</a:t>
            </a:r>
            <a:endParaRPr lang="zh-CN" sz="2400" dirty="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zh-CN" altLang="en-US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将</a:t>
            </a:r>
            <a:r>
              <a:rPr lang="en-US" altLang="zh-CN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a</a:t>
            </a:r>
            <a:r>
              <a:rPr lang="zh-CN" altLang="en-US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数组中第一个元素移到数组末尾</a:t>
            </a:r>
            <a:r>
              <a:rPr lang="en-US" altLang="zh-CN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,</a:t>
            </a:r>
            <a:r>
              <a:rPr lang="zh-CN" altLang="en-US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其余数据依次往前平移一个位置</a:t>
            </a:r>
            <a:endParaRPr lang="en-US" altLang="zh-CN" sz="2400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en-US" alt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[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输入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]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：</a:t>
            </a:r>
            <a:endParaRPr lang="zh-CN" altLang="en-US" sz="2400" dirty="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zh-CN" altLang="en-US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第一行为数组</a:t>
            </a:r>
            <a:r>
              <a:rPr lang="en-US" altLang="zh-CN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a</a:t>
            </a:r>
            <a:r>
              <a:rPr lang="zh-CN" altLang="en-US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的元素个数</a:t>
            </a:r>
            <a:r>
              <a:rPr lang="en-US" altLang="zh-CN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;</a:t>
            </a:r>
            <a:r>
              <a:rPr lang="zh-CN" altLang="en-US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第二行为</a:t>
            </a:r>
            <a:r>
              <a:rPr lang="en-US" altLang="zh-CN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n</a:t>
            </a:r>
            <a:r>
              <a:rPr lang="zh-CN" altLang="en-US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个小于</a:t>
            </a:r>
            <a:r>
              <a:rPr lang="en-US" altLang="zh-CN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1800</a:t>
            </a:r>
            <a:r>
              <a:rPr lang="zh-CN" altLang="en-US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的正整数。</a:t>
            </a:r>
            <a:endParaRPr lang="en-US" altLang="zh-CN" sz="2400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en-US" alt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[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输出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]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：</a:t>
            </a:r>
            <a:endParaRPr lang="zh-CN" altLang="en-US" sz="2400" dirty="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zh-CN" altLang="en-US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平移后的数组元素，每个数用一个空格隔开。</a:t>
            </a:r>
            <a:endParaRPr lang="zh-CN" altLang="en-US" sz="2400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en-US" alt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[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输入样例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]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：</a:t>
            </a:r>
            <a:endParaRPr lang="zh-CN" altLang="en-US" sz="2400" dirty="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en-US" altLang="zh-CN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10</a:t>
            </a:r>
            <a:endParaRPr lang="en-US" altLang="zh-CN" sz="2400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en-US" altLang="zh-CN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1 2 3 4 5 6 7 8 9 10</a:t>
            </a:r>
            <a:endParaRPr lang="en-US" altLang="zh-CN" sz="2400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en-US" altLang="zh-CN" sz="2400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[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输出样例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]:</a:t>
            </a:r>
            <a:endParaRPr lang="en-US" altLang="zh-CN" sz="2400" dirty="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  <a:p>
            <a:r>
              <a:rPr lang="en-US" altLang="zh-CN" sz="240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6" charset="0"/>
                <a:sym typeface="+mn-ea"/>
              </a:rPr>
              <a:t>2 3 4 5 6 7 8 9 10 1 </a:t>
            </a:r>
            <a:endParaRPr lang="en-US" altLang="zh-CN" sz="2400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6" charset="0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2378710" y="2190750"/>
            <a:ext cx="798195" cy="2286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 sz="4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代码实现</a:t>
            </a:r>
            <a:endParaRPr lang="zh-CN" altLang="en-US" sz="4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3779520" y="928370"/>
            <a:ext cx="4394835" cy="53949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406015" y="2090420"/>
            <a:ext cx="787400" cy="222186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0360" y="1055370"/>
            <a:ext cx="3653790" cy="51854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65" y="2863684"/>
            <a:ext cx="11506807" cy="21281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393" y="621101"/>
            <a:ext cx="5719156" cy="118373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547" y="0"/>
            <a:ext cx="9339072" cy="6858000"/>
          </a:xfrm>
          <a:prstGeom prst="rect">
            <a:avLst/>
          </a:prstGeom>
        </p:spPr>
      </p:pic>
      <p:sp>
        <p:nvSpPr>
          <p:cNvPr id="25" name="任意多边形 24"/>
          <p:cNvSpPr/>
          <p:nvPr/>
        </p:nvSpPr>
        <p:spPr>
          <a:xfrm>
            <a:off x="495302" y="0"/>
            <a:ext cx="10745217" cy="6913756"/>
          </a:xfrm>
          <a:custGeom>
            <a:avLst/>
            <a:gdLst>
              <a:gd name="connsiteX0" fmla="*/ 0 w 10745217"/>
              <a:gd name="connsiteY0" fmla="*/ 0 h 6913756"/>
              <a:gd name="connsiteX1" fmla="*/ 3779986 w 10745217"/>
              <a:gd name="connsiteY1" fmla="*/ 0 h 6913756"/>
              <a:gd name="connsiteX2" fmla="*/ 10745217 w 10745217"/>
              <a:gd name="connsiteY2" fmla="*/ 6913756 h 6913756"/>
              <a:gd name="connsiteX3" fmla="*/ 2912848 w 10745217"/>
              <a:gd name="connsiteY3" fmla="*/ 6913756 h 6913756"/>
              <a:gd name="connsiteX4" fmla="*/ 0 w 10745217"/>
              <a:gd name="connsiteY4" fmla="*/ 4022434 h 6913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45217" h="6913756">
                <a:moveTo>
                  <a:pt x="0" y="0"/>
                </a:moveTo>
                <a:lnTo>
                  <a:pt x="3779986" y="0"/>
                </a:lnTo>
                <a:lnTo>
                  <a:pt x="10745217" y="6913756"/>
                </a:lnTo>
                <a:lnTo>
                  <a:pt x="2912848" y="6913756"/>
                </a:lnTo>
                <a:lnTo>
                  <a:pt x="0" y="4022434"/>
                </a:lnTo>
                <a:close/>
              </a:path>
            </a:pathLst>
          </a:custGeom>
          <a:solidFill>
            <a:srgbClr val="F1C51E"/>
          </a:solidFill>
          <a:ln>
            <a:noFill/>
          </a:ln>
          <a:effectLst>
            <a:outerShdw blurRad="1270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/>
        </p:nvSpPr>
        <p:spPr>
          <a:xfrm>
            <a:off x="2" y="0"/>
            <a:ext cx="10745217" cy="6913756"/>
          </a:xfrm>
          <a:custGeom>
            <a:avLst/>
            <a:gdLst>
              <a:gd name="connsiteX0" fmla="*/ 0 w 10745217"/>
              <a:gd name="connsiteY0" fmla="*/ 0 h 6913756"/>
              <a:gd name="connsiteX1" fmla="*/ 3779986 w 10745217"/>
              <a:gd name="connsiteY1" fmla="*/ 0 h 6913756"/>
              <a:gd name="connsiteX2" fmla="*/ 10745217 w 10745217"/>
              <a:gd name="connsiteY2" fmla="*/ 6913756 h 6913756"/>
              <a:gd name="connsiteX3" fmla="*/ 2484587 w 10745217"/>
              <a:gd name="connsiteY3" fmla="*/ 6913756 h 6913756"/>
              <a:gd name="connsiteX4" fmla="*/ 0 w 10745217"/>
              <a:gd name="connsiteY4" fmla="*/ 4447531 h 6913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45217" h="6913756">
                <a:moveTo>
                  <a:pt x="0" y="0"/>
                </a:moveTo>
                <a:lnTo>
                  <a:pt x="3779986" y="0"/>
                </a:lnTo>
                <a:lnTo>
                  <a:pt x="10745217" y="6913756"/>
                </a:lnTo>
                <a:lnTo>
                  <a:pt x="2484587" y="6913756"/>
                </a:lnTo>
                <a:lnTo>
                  <a:pt x="0" y="4447531"/>
                </a:lnTo>
                <a:close/>
              </a:path>
            </a:pathLst>
          </a:custGeom>
          <a:solidFill>
            <a:srgbClr val="B92022"/>
          </a:solidFill>
          <a:ln>
            <a:noFill/>
          </a:ln>
          <a:effectLst>
            <a:outerShdw blurRad="1270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>
            <a:off x="2" y="0"/>
            <a:ext cx="10976713" cy="6913756"/>
          </a:xfrm>
          <a:custGeom>
            <a:avLst/>
            <a:gdLst>
              <a:gd name="connsiteX0" fmla="*/ 0 w 10976713"/>
              <a:gd name="connsiteY0" fmla="*/ 0 h 6913756"/>
              <a:gd name="connsiteX1" fmla="*/ 4011482 w 10976713"/>
              <a:gd name="connsiteY1" fmla="*/ 0 h 6913756"/>
              <a:gd name="connsiteX2" fmla="*/ 10976713 w 10976713"/>
              <a:gd name="connsiteY2" fmla="*/ 6913756 h 6913756"/>
              <a:gd name="connsiteX3" fmla="*/ 2912848 w 10976713"/>
              <a:gd name="connsiteY3" fmla="*/ 6913756 h 6913756"/>
              <a:gd name="connsiteX4" fmla="*/ 0 w 10976713"/>
              <a:gd name="connsiteY4" fmla="*/ 4022434 h 6913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6713" h="6913756">
                <a:moveTo>
                  <a:pt x="0" y="0"/>
                </a:moveTo>
                <a:lnTo>
                  <a:pt x="4011482" y="0"/>
                </a:lnTo>
                <a:lnTo>
                  <a:pt x="10976713" y="6913756"/>
                </a:lnTo>
                <a:lnTo>
                  <a:pt x="2912848" y="6913756"/>
                </a:lnTo>
                <a:lnTo>
                  <a:pt x="0" y="4022434"/>
                </a:lnTo>
                <a:close/>
              </a:path>
            </a:pathLst>
          </a:custGeom>
          <a:solidFill>
            <a:srgbClr val="E86713"/>
          </a:solidFill>
          <a:ln>
            <a:noFill/>
          </a:ln>
          <a:effectLst>
            <a:outerShdw blurRad="1270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>
            <a:off x="2" y="-16626"/>
            <a:ext cx="10745217" cy="6913756"/>
          </a:xfrm>
          <a:custGeom>
            <a:avLst/>
            <a:gdLst>
              <a:gd name="connsiteX0" fmla="*/ 0 w 10745217"/>
              <a:gd name="connsiteY0" fmla="*/ 0 h 6913756"/>
              <a:gd name="connsiteX1" fmla="*/ 3779986 w 10745217"/>
              <a:gd name="connsiteY1" fmla="*/ 0 h 6913756"/>
              <a:gd name="connsiteX2" fmla="*/ 10745217 w 10745217"/>
              <a:gd name="connsiteY2" fmla="*/ 6913756 h 6913756"/>
              <a:gd name="connsiteX3" fmla="*/ 2912848 w 10745217"/>
              <a:gd name="connsiteY3" fmla="*/ 6913756 h 6913756"/>
              <a:gd name="connsiteX4" fmla="*/ 0 w 10745217"/>
              <a:gd name="connsiteY4" fmla="*/ 4022434 h 6913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45217" h="6913756">
                <a:moveTo>
                  <a:pt x="0" y="0"/>
                </a:moveTo>
                <a:lnTo>
                  <a:pt x="3779986" y="0"/>
                </a:lnTo>
                <a:lnTo>
                  <a:pt x="10745217" y="6913756"/>
                </a:lnTo>
                <a:lnTo>
                  <a:pt x="2912848" y="6913756"/>
                </a:lnTo>
                <a:lnTo>
                  <a:pt x="0" y="40224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836759" y="2361669"/>
            <a:ext cx="489589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b="1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  <a:cs typeface="+mn-ea"/>
                <a:sym typeface="+mn-lt"/>
              </a:rPr>
              <a:t>THANK </a:t>
            </a:r>
            <a:r>
              <a:rPr lang="en-US" altLang="zh-CN" sz="9600" b="1">
                <a:solidFill>
                  <a:srgbClr val="1163AF"/>
                </a:solidFill>
                <a:latin typeface="Agency FB" panose="020B0503020202020204" pitchFamily="34" charset="0"/>
                <a:cs typeface="+mn-ea"/>
                <a:sym typeface="+mn-lt"/>
              </a:rPr>
              <a:t>YOU</a:t>
            </a:r>
            <a:endParaRPr lang="zh-CN" altLang="en-US" sz="9600" b="1">
              <a:solidFill>
                <a:srgbClr val="1163AF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778488" y="3936013"/>
            <a:ext cx="2621915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课程：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C++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   教师：程老师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318243"/>
            <a:ext cx="2393245" cy="5298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178.5452755905512,&quot;left&quot;:283.4548818897638,&quot;top&quot;:192.73992125984253,&quot;width&quot;:356.72685039370083}"/>
</p:tagLst>
</file>

<file path=ppt/tags/tag2.xml><?xml version="1.0" encoding="utf-8"?>
<p:tagLst xmlns:p="http://schemas.openxmlformats.org/presentationml/2006/main">
  <p:tag name="KSO_WM_DIAGRAM_VIRTUALLY_FRAME" val="{&quot;height&quot;:178.5452755905512,&quot;left&quot;:283.4548818897638,&quot;top&quot;:192.73992125984253,&quot;width&quot;:356.72685039370083}"/>
</p:tagLst>
</file>

<file path=ppt/tags/tag3.xml><?xml version="1.0" encoding="utf-8"?>
<p:tagLst xmlns:p="http://schemas.openxmlformats.org/presentationml/2006/main">
  <p:tag name="KSO_WM_DIAGRAM_VIRTUALLY_FRAME" val="{&quot;height&quot;:178.5452755905512,&quot;left&quot;:283.4548818897638,&quot;top&quot;:192.73992125984253,&quot;width&quot;:356.72685039370083}"/>
</p:tagLst>
</file>

<file path=ppt/tags/tag4.xml><?xml version="1.0" encoding="utf-8"?>
<p:tagLst xmlns:p="http://schemas.openxmlformats.org/presentationml/2006/main">
  <p:tag name="KSO_WM_DIAGRAM_VIRTUALLY_FRAME" val="{&quot;height&quot;:178.5452755905512,&quot;left&quot;:283.4548818897638,&quot;top&quot;:192.73992125984253,&quot;width&quot;:356.72685039370083}"/>
</p:tagLst>
</file>

<file path=ppt/tags/tag5.xml><?xml version="1.0" encoding="utf-8"?>
<p:tagLst xmlns:p="http://schemas.openxmlformats.org/presentationml/2006/main">
  <p:tag name="KSO_WM_DIAGRAM_VIRTUALLY_FRAME" val="{&quot;height&quot;:178.5452755905512,&quot;left&quot;:283.4548818897638,&quot;top&quot;:192.73992125984253,&quot;width&quot;:356.72685039370083}"/>
</p:tagLst>
</file>

<file path=ppt/tags/tag6.xml><?xml version="1.0" encoding="utf-8"?>
<p:tagLst xmlns:p="http://schemas.openxmlformats.org/presentationml/2006/main">
  <p:tag name="KSO_WM_DIAGRAM_VIRTUALLY_FRAME" val="{&quot;height&quot;:178.5452755905512,&quot;left&quot;:283.4548818897638,&quot;top&quot;:192.73992125984253,&quot;width&quot;:356.72685039370083}"/>
</p:tagLst>
</file>

<file path=ppt/tags/tag7.xml><?xml version="1.0" encoding="utf-8"?>
<p:tagLst xmlns:p="http://schemas.openxmlformats.org/presentationml/2006/main">
  <p:tag name="TABLE_ENDDRAG_ORIGIN_RECT" val="750*381"/>
  <p:tag name="TABLE_ENDDRAG_RECT" val="154*130*750*381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PP_MARK_KEY" val="21e91ba9-f2b3-4783-be8d-b49cccea8aa1"/>
  <p:tag name="COMMONDATA" val="eyJoZGlkIjoiOGY5NTk4YzhkZmQ3YTgxMTc3Nzc3ZjNhYzlhMTc2MzEifQ=="/>
  <p:tag name="resource_record_key" val="{&quot;29&quot;:[20405934]}"/>
  <p:tag name="commondata" val="eyJoZGlkIjoiZDEyNDEwMTY1OGFmODFiODdlZDM1NmY0MmZiN2E3NDAifQ==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rjklhbba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1165</Words>
  <Application>WPS 演示</Application>
  <PresentationFormat>宽屏</PresentationFormat>
  <Paragraphs>176</Paragraphs>
  <Slides>18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Century Gothic</vt:lpstr>
      <vt:lpstr>微软雅黑 Light</vt:lpstr>
      <vt:lpstr>Agency FB</vt:lpstr>
      <vt:lpstr>华文细黑</vt:lpstr>
      <vt:lpstr>Times New Roman</vt:lpstr>
      <vt:lpstr>Arial Unicode MS</vt:lpstr>
      <vt:lpstr>Calibri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 R 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 鹏君</dc:creator>
  <cp:lastModifiedBy>Ms蒗</cp:lastModifiedBy>
  <cp:revision>247</cp:revision>
  <dcterms:created xsi:type="dcterms:W3CDTF">2020-10-06T11:46:00Z</dcterms:created>
  <dcterms:modified xsi:type="dcterms:W3CDTF">2024-06-01T09:37:57Z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8933E47C21A34C568EEAF8F745A46E22_12</vt:lpwstr>
  </property>
  <property fmtid="{D5CDD505-2E9C-101B-9397-08002B2CF9AE}" pid="3" name="KSOProductBuildVer">
    <vt:lpwstr>2052-12.1.0.16929</vt:lpwstr>
  </property>
</Properties>
</file>